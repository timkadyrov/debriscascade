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67" r:id="rId14"/>
    <p:sldId id="268" r:id="rId15"/>
    <p:sldId id="269" r:id="rId16"/>
    <p:sldId id="270" r:id="rId17"/>
    <p:sldId id="271" r:id="rId18"/>
    <p:sldId id="279" r:id="rId19"/>
    <p:sldId id="272" r:id="rId20"/>
    <p:sldId id="273" r:id="rId21"/>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28,676</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9,911</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(+1,552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510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Source–sink ODE (box model)</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Aggregate engine: debris counts per shell evolve by dN/dt = launch − drag + ½·collisions. Fast; treats each shell as well-mixed.</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Conjunction / cube method</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High-fidelity engine: every object is individual; a collision only happens where two orbits actually cross the same small cube.</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of rising fidelity, plus real launch traffic and an “operators retreat” feedback — so the environment behaves like the real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does a shell run away?</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cross-shell fragment spread.</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eccentric cross-shell impacts.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INSIDE THE ENGINES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What each model actually does</a:t>
            </a:r>
            <a:endParaRPr lang="en-US" sz="2800" dirty="0"/>
          </a:p>
        </p:txBody>
      </p:sp>
      <p:sp>
        <p:nvSpPr>
          <p:cNvPr id="4" name="Text 2"/>
          <p:cNvSpPr/>
          <p:nvPr/>
        </p:nvSpPr>
        <p:spPr>
          <a:xfrm>
            <a:off x="812800"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4DA6FF"/>
                </a:solidFill>
                <a:latin typeface="IBM Plex Sans" pitchFamily="34" charset="0"/>
                <a:ea typeface="IBM Plex Sans" pitchFamily="34" charset="-122"/>
                <a:cs typeface="IBM Plex Sans" pitchFamily="34" charset="-120"/>
              </a:rPr>
              <a:t>Box · ODE</a:t>
            </a:r>
            <a:endParaRPr lang="en-US" sz="1450" dirty="0"/>
          </a:p>
        </p:txBody>
      </p:sp>
      <p:sp>
        <p:nvSpPr>
          <p:cNvPr id="5" name="Shape 3"/>
          <p:cNvSpPr/>
          <p:nvPr/>
        </p:nvSpPr>
        <p:spPr>
          <a:xfrm>
            <a:off x="815975"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6" name="Text 4"/>
          <p:cNvSpPr/>
          <p:nvPr/>
        </p:nvSpPr>
        <p:spPr>
          <a:xfrm>
            <a:off x="956733"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Group all debris into </a:t>
            </a:r>
            <a:r>
              <a:rPr lang="en-US" sz="1200" b="1" dirty="0">
                <a:solidFill>
                  <a:srgbClr val="E7EEF8"/>
                </a:solidFill>
                <a:latin typeface="IBM Plex Sans" pitchFamily="34" charset="0"/>
                <a:ea typeface="IBM Plex Sans" pitchFamily="34" charset="-122"/>
                <a:cs typeface="IBM Plex Sans" pitchFamily="34" charset="-120"/>
              </a:rPr>
              <a:t>shells × size bins</a:t>
            </a:r>
            <a:r>
              <a:rPr lang="en-US" sz="1200" dirty="0">
                <a:solidFill>
                  <a:srgbClr val="E7EEF8"/>
                </a:solidFill>
                <a:latin typeface="IBM Plex Sans" pitchFamily="34" charset="0"/>
                <a:ea typeface="IBM Plex Sans" pitchFamily="34" charset="-122"/>
                <a:cs typeface="IBM Plex Sans" pitchFamily="34" charset="-120"/>
              </a:rPr>
              <a:t> — just counts N.</a:t>
            </a:r>
            <a:endParaRPr lang="en-US" sz="1200" dirty="0"/>
          </a:p>
        </p:txBody>
      </p:sp>
      <p:pic>
        <p:nvPicPr>
          <p:cNvPr id="7" name="Image 0" descr="arrow-down"/>
          <p:cNvPicPr>
            <a:picLocks noChangeAspect="1"/>
          </p:cNvPicPr>
          <p:nvPr/>
        </p:nvPicPr>
        <p:blipFill>
          <a:blip r:embed="rId3"/>
          <a:srcRect/>
          <a:stretch/>
        </p:blipFill>
        <p:spPr>
          <a:xfrm>
            <a:off x="2427817" y="2458907"/>
            <a:ext cx="165100" cy="215900"/>
          </a:xfrm>
          <a:prstGeom prst="rect">
            <a:avLst/>
          </a:prstGeom>
        </p:spPr>
      </p:pic>
      <p:sp>
        <p:nvSpPr>
          <p:cNvPr id="8" name="Shape 5"/>
          <p:cNvSpPr/>
          <p:nvPr/>
        </p:nvSpPr>
        <p:spPr>
          <a:xfrm>
            <a:off x="815975" y="2754182"/>
            <a:ext cx="3388783" cy="633280"/>
          </a:xfrm>
          <a:prstGeom prst="roundRect">
            <a:avLst>
              <a:gd name="adj" fmla="val 11531"/>
            </a:avLst>
          </a:prstGeom>
          <a:solidFill>
            <a:srgbClr val="06080E"/>
          </a:solidFill>
          <a:ln w="6350">
            <a:solidFill>
              <a:srgbClr val="2A3A52"/>
            </a:solidFill>
            <a:prstDash val="solid"/>
          </a:ln>
        </p:spPr>
        <p:txBody>
          <a:bodyPr/>
          <a:lstStyle/>
          <a:p>
            <a:endParaRPr lang="en-CH"/>
          </a:p>
        </p:txBody>
      </p:sp>
      <p:sp>
        <p:nvSpPr>
          <p:cNvPr id="9" name="Text 6"/>
          <p:cNvSpPr/>
          <p:nvPr/>
        </p:nvSpPr>
        <p:spPr>
          <a:xfrm>
            <a:off x="956733" y="2882240"/>
            <a:ext cx="3200485" cy="402564"/>
          </a:xfrm>
          <a:prstGeom prst="rect">
            <a:avLst/>
          </a:prstGeom>
          <a:noFill/>
          <a:ln/>
        </p:spPr>
        <p:txBody>
          <a:bodyPr wrap="square" lIns="0" tIns="0" rIns="0" bIns="0" rtlCol="0" anchor="t">
            <a:normAutofit/>
          </a:bodyPr>
          <a:lstStyle/>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dN/dt = launch − drag</a:t>
            </a:r>
            <a:endParaRPr lang="en-US" sz="1100" dirty="0"/>
          </a:p>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    + ½ · collisions</a:t>
            </a:r>
            <a:endParaRPr lang="en-US" sz="1100" dirty="0"/>
          </a:p>
        </p:txBody>
      </p:sp>
      <p:pic>
        <p:nvPicPr>
          <p:cNvPr id="10" name="Image 1" descr="arrow-down"/>
          <p:cNvPicPr>
            <a:picLocks noChangeAspect="1"/>
          </p:cNvPicPr>
          <p:nvPr/>
        </p:nvPicPr>
        <p:blipFill>
          <a:blip r:embed="rId3"/>
          <a:srcRect/>
          <a:stretch/>
        </p:blipFill>
        <p:spPr>
          <a:xfrm>
            <a:off x="2427817" y="3466836"/>
            <a:ext cx="165100" cy="215900"/>
          </a:xfrm>
          <a:prstGeom prst="rect">
            <a:avLst/>
          </a:prstGeom>
        </p:spPr>
      </p:pic>
      <p:sp>
        <p:nvSpPr>
          <p:cNvPr id="11" name="Shape 7"/>
          <p:cNvSpPr/>
          <p:nvPr/>
        </p:nvSpPr>
        <p:spPr>
          <a:xfrm>
            <a:off x="815975" y="3762111"/>
            <a:ext cx="3388783" cy="652330"/>
          </a:xfrm>
          <a:prstGeom prst="roundRect">
            <a:avLst>
              <a:gd name="adj" fmla="val 11194"/>
            </a:avLst>
          </a:prstGeom>
          <a:solidFill>
            <a:srgbClr val="0A1626"/>
          </a:solidFill>
          <a:ln w="6350">
            <a:solidFill>
              <a:srgbClr val="2A4A6B"/>
            </a:solidFill>
            <a:prstDash val="solid"/>
          </a:ln>
        </p:spPr>
        <p:txBody>
          <a:bodyPr/>
          <a:lstStyle/>
          <a:p>
            <a:endParaRPr lang="en-CH"/>
          </a:p>
        </p:txBody>
      </p:sp>
      <p:sp>
        <p:nvSpPr>
          <p:cNvPr id="12" name="Text 8"/>
          <p:cNvSpPr/>
          <p:nvPr/>
        </p:nvSpPr>
        <p:spPr>
          <a:xfrm>
            <a:off x="956733" y="3890169"/>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Collisions (&amp;prop; N²) pour fragments </a:t>
            </a:r>
            <a:r>
              <a:rPr lang="en-US" sz="1200" b="1" dirty="0">
                <a:solidFill>
                  <a:srgbClr val="E7EEF8"/>
                </a:solidFill>
                <a:latin typeface="IBM Plex Sans" pitchFamily="34" charset="0"/>
                <a:ea typeface="IBM Plex Sans" pitchFamily="34" charset="-122"/>
                <a:cs typeface="IBM Plex Sans" pitchFamily="34" charset="-120"/>
              </a:rPr>
              <a:t>back into the bins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sp>
        <p:nvSpPr>
          <p:cNvPr id="13" name="Text 9"/>
          <p:cNvSpPr/>
          <p:nvPr/>
        </p:nvSpPr>
        <p:spPr>
          <a:xfrm>
            <a:off x="4398433"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FFCF5C"/>
                </a:solidFill>
                <a:latin typeface="IBM Plex Sans" pitchFamily="34" charset="0"/>
                <a:ea typeface="IBM Plex Sans" pitchFamily="34" charset="-122"/>
                <a:cs typeface="IBM Plex Sans" pitchFamily="34" charset="-120"/>
              </a:rPr>
              <a:t>Discrete · MC</a:t>
            </a:r>
            <a:endParaRPr lang="en-US" sz="1450" dirty="0"/>
          </a:p>
        </p:txBody>
      </p:sp>
      <p:sp>
        <p:nvSpPr>
          <p:cNvPr id="14" name="Shape 10"/>
          <p:cNvSpPr/>
          <p:nvPr/>
        </p:nvSpPr>
        <p:spPr>
          <a:xfrm>
            <a:off x="4401608"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15" name="Text 11"/>
          <p:cNvSpPr/>
          <p:nvPr/>
        </p:nvSpPr>
        <p:spPr>
          <a:xfrm>
            <a:off x="4542367"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Each object is an </a:t>
            </a:r>
            <a:r>
              <a:rPr lang="en-US" sz="1200" b="1" dirty="0">
                <a:solidFill>
                  <a:srgbClr val="E7EEF8"/>
                </a:solidFill>
                <a:latin typeface="IBM Plex Sans" pitchFamily="34" charset="0"/>
                <a:ea typeface="IBM Plex Sans" pitchFamily="34" charset="-122"/>
                <a:cs typeface="IBM Plex Sans" pitchFamily="34" charset="-120"/>
              </a:rPr>
              <a:t>individual</a:t>
            </a:r>
            <a:r>
              <a:rPr lang="en-US" sz="1200" dirty="0">
                <a:solidFill>
                  <a:srgbClr val="E7EEF8"/>
                </a:solidFill>
                <a:latin typeface="IBM Plex Sans" pitchFamily="34" charset="0"/>
                <a:ea typeface="IBM Plex Sans" pitchFamily="34" charset="-122"/>
                <a:cs typeface="IBM Plex Sans" pitchFamily="34" charset="-120"/>
              </a:rPr>
              <a:t> with its own orbit.</a:t>
            </a:r>
            <a:endParaRPr lang="en-US" sz="1200" dirty="0"/>
          </a:p>
        </p:txBody>
      </p:sp>
      <p:pic>
        <p:nvPicPr>
          <p:cNvPr id="16" name="Image 2" descr="arrow-down"/>
          <p:cNvPicPr>
            <a:picLocks noChangeAspect="1"/>
          </p:cNvPicPr>
          <p:nvPr/>
        </p:nvPicPr>
        <p:blipFill>
          <a:blip r:embed="rId4"/>
          <a:srcRect/>
          <a:stretch/>
        </p:blipFill>
        <p:spPr>
          <a:xfrm>
            <a:off x="6013450" y="2458907"/>
            <a:ext cx="165100" cy="215900"/>
          </a:xfrm>
          <a:prstGeom prst="rect">
            <a:avLst/>
          </a:prstGeom>
        </p:spPr>
      </p:pic>
      <p:sp>
        <p:nvSpPr>
          <p:cNvPr id="17" name="Shape 12"/>
          <p:cNvSpPr/>
          <p:nvPr/>
        </p:nvSpPr>
        <p:spPr>
          <a:xfrm>
            <a:off x="4401608"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18" name="Text 13"/>
          <p:cNvSpPr/>
          <p:nvPr/>
        </p:nvSpPr>
        <p:spPr>
          <a:xfrm>
            <a:off x="4542367"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Draw a collision statistically within a shell.</a:t>
            </a:r>
            <a:endParaRPr lang="en-US" sz="1200" dirty="0"/>
          </a:p>
        </p:txBody>
      </p:sp>
      <p:pic>
        <p:nvPicPr>
          <p:cNvPr id="19" name="Image 3" descr="arrow-down"/>
          <p:cNvPicPr>
            <a:picLocks noChangeAspect="1"/>
          </p:cNvPicPr>
          <p:nvPr/>
        </p:nvPicPr>
        <p:blipFill>
          <a:blip r:embed="rId4"/>
          <a:srcRect/>
          <a:stretch/>
        </p:blipFill>
        <p:spPr>
          <a:xfrm>
            <a:off x="6013450" y="3287781"/>
            <a:ext cx="165100" cy="215900"/>
          </a:xfrm>
          <a:prstGeom prst="rect">
            <a:avLst/>
          </a:prstGeom>
        </p:spPr>
      </p:pic>
      <p:sp>
        <p:nvSpPr>
          <p:cNvPr id="20" name="Shape 14"/>
          <p:cNvSpPr/>
          <p:nvPr/>
        </p:nvSpPr>
        <p:spPr>
          <a:xfrm>
            <a:off x="4401608" y="3583056"/>
            <a:ext cx="3388783" cy="652330"/>
          </a:xfrm>
          <a:prstGeom prst="roundRect">
            <a:avLst>
              <a:gd name="adj" fmla="val 11194"/>
            </a:avLst>
          </a:prstGeom>
          <a:solidFill>
            <a:srgbClr val="211A08"/>
          </a:solidFill>
          <a:ln w="6350">
            <a:solidFill>
              <a:srgbClr val="5A4A20"/>
            </a:solidFill>
            <a:prstDash val="solid"/>
          </a:ln>
        </p:spPr>
        <p:txBody>
          <a:bodyPr/>
          <a:lstStyle/>
          <a:p>
            <a:endParaRPr lang="en-CH"/>
          </a:p>
        </p:txBody>
      </p:sp>
      <p:sp>
        <p:nvSpPr>
          <p:cNvPr id="21" name="Text 15"/>
          <p:cNvSpPr/>
          <p:nvPr/>
        </p:nvSpPr>
        <p:spPr>
          <a:xfrm>
            <a:off x="4542367"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Breakup + Δv → fragments get </a:t>
            </a:r>
            <a:r>
              <a:rPr lang="en-US" sz="1200" b="1" dirty="0">
                <a:solidFill>
                  <a:srgbClr val="E7EEF8"/>
                </a:solidFill>
                <a:latin typeface="IBM Plex Sans" pitchFamily="34" charset="0"/>
                <a:ea typeface="IBM Plex Sans" pitchFamily="34" charset="-122"/>
                <a:cs typeface="IBM Plex Sans" pitchFamily="34" charset="-120"/>
              </a:rPr>
              <a:t>real new orbits</a:t>
            </a:r>
            <a:r>
              <a:rPr lang="en-US" sz="1200" dirty="0">
                <a:solidFill>
                  <a:srgbClr val="E7EEF8"/>
                </a:solidFill>
                <a:latin typeface="IBM Plex Sans" pitchFamily="34" charset="0"/>
                <a:ea typeface="IBM Plex Sans" pitchFamily="34" charset="-122"/>
                <a:cs typeface="IBM Plex Sans" pitchFamily="34" charset="-120"/>
              </a:rPr>
              <a:t> across shells.</a:t>
            </a:r>
            <a:endParaRPr lang="en-US" sz="1200" dirty="0"/>
          </a:p>
        </p:txBody>
      </p:sp>
      <p:sp>
        <p:nvSpPr>
          <p:cNvPr id="22" name="Text 16"/>
          <p:cNvSpPr/>
          <p:nvPr/>
        </p:nvSpPr>
        <p:spPr>
          <a:xfrm>
            <a:off x="7984067"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39D98A"/>
                </a:solidFill>
                <a:latin typeface="IBM Plex Sans" pitchFamily="34" charset="0"/>
                <a:ea typeface="IBM Plex Sans" pitchFamily="34" charset="-122"/>
                <a:cs typeface="IBM Plex Sans" pitchFamily="34" charset="-120"/>
              </a:rPr>
              <a:t>Conjunction · cube</a:t>
            </a:r>
            <a:endParaRPr lang="en-US" sz="1450" dirty="0"/>
          </a:p>
        </p:txBody>
      </p:sp>
      <p:sp>
        <p:nvSpPr>
          <p:cNvPr id="23" name="Shape 17"/>
          <p:cNvSpPr/>
          <p:nvPr/>
        </p:nvSpPr>
        <p:spPr>
          <a:xfrm>
            <a:off x="7987242"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24" name="Text 18"/>
          <p:cNvSpPr/>
          <p:nvPr/>
        </p:nvSpPr>
        <p:spPr>
          <a:xfrm>
            <a:off x="8128000"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Propagate </a:t>
            </a:r>
            <a:r>
              <a:rPr lang="en-US" sz="1200" b="1" dirty="0">
                <a:solidFill>
                  <a:srgbClr val="E7EEF8"/>
                </a:solidFill>
                <a:latin typeface="IBM Plex Sans" pitchFamily="34" charset="0"/>
                <a:ea typeface="IBM Plex Sans" pitchFamily="34" charset="-122"/>
                <a:cs typeface="IBM Plex Sans" pitchFamily="34" charset="-120"/>
              </a:rPr>
              <a:t>every object</a:t>
            </a:r>
            <a:r>
              <a:rPr lang="en-US" sz="1200" dirty="0">
                <a:solidFill>
                  <a:srgbClr val="E7EEF8"/>
                </a:solidFill>
                <a:latin typeface="IBM Plex Sans" pitchFamily="34" charset="0"/>
                <a:ea typeface="IBM Plex Sans" pitchFamily="34" charset="-122"/>
                <a:cs typeface="IBM Plex Sans" pitchFamily="34" charset="-120"/>
              </a:rPr>
              <a:t> to its real position (GPU).</a:t>
            </a:r>
            <a:endParaRPr lang="en-US" sz="1200" dirty="0"/>
          </a:p>
        </p:txBody>
      </p:sp>
      <p:pic>
        <p:nvPicPr>
          <p:cNvPr id="25" name="Image 4" descr="arrow-down"/>
          <p:cNvPicPr>
            <a:picLocks noChangeAspect="1"/>
          </p:cNvPicPr>
          <p:nvPr/>
        </p:nvPicPr>
        <p:blipFill>
          <a:blip r:embed="rId5"/>
          <a:srcRect/>
          <a:stretch/>
        </p:blipFill>
        <p:spPr>
          <a:xfrm>
            <a:off x="9599084" y="2458907"/>
            <a:ext cx="165100" cy="215900"/>
          </a:xfrm>
          <a:prstGeom prst="rect">
            <a:avLst/>
          </a:prstGeom>
        </p:spPr>
      </p:pic>
      <p:sp>
        <p:nvSpPr>
          <p:cNvPr id="26" name="Shape 19"/>
          <p:cNvSpPr/>
          <p:nvPr/>
        </p:nvSpPr>
        <p:spPr>
          <a:xfrm>
            <a:off x="7987242"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27" name="Text 20"/>
          <p:cNvSpPr/>
          <p:nvPr/>
        </p:nvSpPr>
        <p:spPr>
          <a:xfrm>
            <a:off x="8128000"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Bin positions into </a:t>
            </a:r>
            <a:r>
              <a:rPr lang="en-US" sz="1200" b="1" dirty="0">
                <a:solidFill>
                  <a:srgbClr val="E7EEF8"/>
                </a:solidFill>
                <a:latin typeface="IBM Plex Sans" pitchFamily="34" charset="0"/>
                <a:ea typeface="IBM Plex Sans" pitchFamily="34" charset="-122"/>
                <a:cs typeface="IBM Plex Sans" pitchFamily="34" charset="-120"/>
              </a:rPr>
              <a:t>20 km cubes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pic>
        <p:nvPicPr>
          <p:cNvPr id="28" name="Image 5" descr="arrow-down"/>
          <p:cNvPicPr>
            <a:picLocks noChangeAspect="1"/>
          </p:cNvPicPr>
          <p:nvPr/>
        </p:nvPicPr>
        <p:blipFill>
          <a:blip r:embed="rId5"/>
          <a:srcRect/>
          <a:stretch/>
        </p:blipFill>
        <p:spPr>
          <a:xfrm>
            <a:off x="9599084" y="3287781"/>
            <a:ext cx="165100" cy="215900"/>
          </a:xfrm>
          <a:prstGeom prst="rect">
            <a:avLst/>
          </a:prstGeom>
        </p:spPr>
      </p:pic>
      <p:sp>
        <p:nvSpPr>
          <p:cNvPr id="29" name="Shape 21"/>
          <p:cNvSpPr/>
          <p:nvPr/>
        </p:nvSpPr>
        <p:spPr>
          <a:xfrm>
            <a:off x="7987242" y="3583056"/>
            <a:ext cx="3388783" cy="652330"/>
          </a:xfrm>
          <a:prstGeom prst="roundRect">
            <a:avLst>
              <a:gd name="adj" fmla="val 11194"/>
            </a:avLst>
          </a:prstGeom>
          <a:solidFill>
            <a:srgbClr val="0A1C14"/>
          </a:solidFill>
          <a:ln w="6350">
            <a:solidFill>
              <a:srgbClr val="235A3F"/>
            </a:solidFill>
            <a:prstDash val="solid"/>
          </a:ln>
        </p:spPr>
        <p:txBody>
          <a:bodyPr/>
          <a:lstStyle/>
          <a:p>
            <a:endParaRPr lang="en-CH"/>
          </a:p>
        </p:txBody>
      </p:sp>
      <p:sp>
        <p:nvSpPr>
          <p:cNvPr id="30" name="Text 22"/>
          <p:cNvSpPr/>
          <p:nvPr/>
        </p:nvSpPr>
        <p:spPr>
          <a:xfrm>
            <a:off x="8128000"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Two objects in the </a:t>
            </a:r>
            <a:r>
              <a:rPr lang="en-US" sz="1200" b="1" dirty="0">
                <a:solidFill>
                  <a:srgbClr val="E7EEF8"/>
                </a:solidFill>
                <a:latin typeface="IBM Plex Sans" pitchFamily="34" charset="0"/>
                <a:ea typeface="IBM Plex Sans" pitchFamily="34" charset="-122"/>
                <a:cs typeface="IBM Plex Sans" pitchFamily="34" charset="-120"/>
              </a:rPr>
              <a:t>same cube</a:t>
            </a:r>
            <a:r>
              <a:rPr lang="en-US" sz="1200" dirty="0">
                <a:solidFill>
                  <a:srgbClr val="E7EEF8"/>
                </a:solidFill>
                <a:latin typeface="IBM Plex Sans" pitchFamily="34" charset="0"/>
                <a:ea typeface="IBM Plex Sans" pitchFamily="34" charset="-122"/>
                <a:cs typeface="IBM Plex Sans" pitchFamily="34" charset="-120"/>
              </a:rPr>
              <a:t> collide — at the true crossing.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More large-on-large collisions → </a:t>
            </a:r>
            <a:r>
              <a:rPr lang="en-US" sz="1450" b="1" dirty="0">
                <a:solidFill>
                  <a:srgbClr val="E7EEF8"/>
                </a:solidFill>
                <a:latin typeface="IBM Plex Sans" pitchFamily="34" charset="0"/>
                <a:ea typeface="IBM Plex Sans" pitchFamily="34" charset="-122"/>
                <a:cs typeface="IBM Plex Sans" pitchFamily="34" charset="-120"/>
              </a:rPr>
              <a:t>~10⁴ fragments each</a:t>
            </a:r>
            <a:r>
              <a:rPr lang="en-US" sz="1450" dirty="0">
                <a:solidFill>
                  <a:srgbClr val="E7EEF8"/>
                </a:solidFill>
                <a:latin typeface="IBM Plex Sans" pitchFamily="34" charset="0"/>
                <a:ea typeface="IBM Plex Sans" pitchFamily="34" charset="-122"/>
                <a:cs typeface="IBM Plex Sans" pitchFamily="34" charset="-120"/>
              </a:rPr>
              <a:t> → the runaway feeds itself.</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~34%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The nail cloud spreads, then rains out</a:t>
            </a:r>
          </a:p>
        </p:txBody>
      </p:sp>
      <p:pic>
        <p:nvPicPr>
          <p:cNvPr id="4" name="Picture 3" descr="frame1.png"/>
          <p:cNvPicPr>
            <a:picLocks noChangeAspect="1"/>
          </p:cNvPicPr>
          <p:nvPr/>
        </p:nvPicPr>
        <p:blipFill>
          <a:blip r:embed="rId2"/>
          <a:stretch>
            <a:fillRect/>
          </a:stretch>
        </p:blipFill>
        <p:spPr>
          <a:xfrm>
            <a:off x="457200" y="1691640"/>
            <a:ext cx="3587496" cy="3587496"/>
          </a:xfrm>
          <a:prstGeom prst="rect">
            <a:avLst/>
          </a:prstGeom>
        </p:spPr>
      </p:pic>
      <p:pic>
        <p:nvPicPr>
          <p:cNvPr id="5" name="Picture 4" descr="frame2.png"/>
          <p:cNvPicPr>
            <a:picLocks noChangeAspect="1"/>
          </p:cNvPicPr>
          <p:nvPr/>
        </p:nvPicPr>
        <p:blipFill>
          <a:blip r:embed="rId3"/>
          <a:stretch>
            <a:fillRect/>
          </a:stretch>
        </p:blipFill>
        <p:spPr>
          <a:xfrm>
            <a:off x="4300728" y="1691640"/>
            <a:ext cx="3587496" cy="3587496"/>
          </a:xfrm>
          <a:prstGeom prst="rect">
            <a:avLst/>
          </a:prstGeom>
        </p:spPr>
      </p:pic>
      <p:pic>
        <p:nvPicPr>
          <p:cNvPr id="6" name="Picture 5" descr="frame3.png"/>
          <p:cNvPicPr>
            <a:picLocks noChangeAspect="1"/>
          </p:cNvPicPr>
          <p:nvPr/>
        </p:nvPicPr>
        <p:blipFill>
          <a:blip r:embed="rId4"/>
          <a:stretch>
            <a:fillRect/>
          </a:stretch>
        </p:blipFill>
        <p:spPr>
          <a:xfrm>
            <a:off x="8144256" y="1691640"/>
            <a:ext cx="3587496" cy="3587496"/>
          </a:xfrm>
          <a:prstGeom prst="rect">
            <a:avLst/>
          </a:prstGeom>
        </p:spPr>
      </p:pic>
      <p:sp>
        <p:nvSpPr>
          <p:cNvPr id="7" name="TextBox 6"/>
          <p:cNvSpPr txBox="1"/>
          <p:nvPr/>
        </p:nvSpPr>
        <p:spPr>
          <a:xfrm>
            <a:off x="502920" y="5806440"/>
            <a:ext cx="11155680" cy="822960"/>
          </a:xfrm>
          <a:prstGeom prst="rect">
            <a:avLst/>
          </a:prstGeom>
          <a:noFill/>
        </p:spPr>
        <p:txBody>
          <a:bodyPr wrap="square" lIns="0" rIns="0">
            <a:spAutoFit/>
          </a:bodyPr>
          <a:lstStyle/>
          <a:p>
            <a:pPr algn="l"/>
            <a:r>
              <a:rPr sz="1400" b="0">
                <a:solidFill>
                  <a:srgbClr val="9FB2CC"/>
                </a:solidFill>
                <a:latin typeface="Calibri"/>
              </a:rPr>
              <a:t>Left → right: a tight ring at release, spread into a shell by differential precession, then decaying under atmospheric drag — ~46% remain after ~1.5 years at 550 km. Model output, 200,000 nails, J2 + drag.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Calibri"/>
              </a:rPr>
              <a:t>Most hazardous — but not unusable.</a:t>
            </a:r>
          </a:p>
          <a:p>
            <a:pPr>
              <a:spcBef>
                <a:spcPts val="400"/>
              </a:spcBef>
            </a:pPr>
            <a:r>
              <a:rPr sz="1200">
                <a:solidFill>
                  <a:srgbClr val="B9C6D8"/>
                </a:solidFill>
                <a:latin typeface="Calibri"/>
              </a:rPr>
              <a:t>Model output for today's catalog: a satellite in the 700–1,100 km belt runs a ~0.5% a year chance of a lethal hit — well below the ~2%/yr at which operators abandon a band, and satellites fly there now. Orange is the deeper problem: above ~1,000 km fragments stay for centuries and intact objects effectively forever, so whatever breaks there doesn't clear. And one barrel dumped at 550 km briefly makes its shell the most dangerous in LEO (~1.1%/yr, 5× normal).</a:t>
            </a:r>
          </a:p>
        </p:txBody>
      </p:sp>
      <p:pic>
        <p:nvPicPr>
          <p:cNvPr id="6" name="Picture 5" descr="image.png"/>
          <p:cNvPicPr>
            <a:picLocks noChangeAspect="1"/>
          </p:cNvPicPr>
          <p:nvPr/>
        </p:nvPicPr>
        <p:blipFill>
          <a:blip r:embed="rId6"/>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Launch traffic into the 900 km belt is the real driver</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FF5A52"/>
                </a:solidFill>
                <a:latin typeface="Calibri"/>
              </a:rPr>
              <a:t>Runaway = </a:t>
            </a:r>
            <a:r>
              <a:rPr sz="1400" b="1">
                <a:solidFill>
                  <a:srgbClr val="E7EEF8"/>
                </a:solidFill>
                <a:latin typeface="Calibri"/>
              </a:rPr>
              <a:t>the debris population grows without ever settling.</a:t>
            </a:r>
          </a:p>
          <a:p>
            <a:pPr>
              <a:spcBef>
                <a:spcPts val="400"/>
              </a:spcBef>
            </a:pPr>
            <a:r>
              <a:rPr sz="1150">
                <a:solidFill>
                  <a:srgbClr val="B9C6D8"/>
                </a:solidFill>
                <a:latin typeface="Calibri"/>
              </a:rPr>
              <a:t>Collisions and explosions breed fragments faster than drag can remove them, so more debris drives more collisions — a self-feeding cascade (Kessler syndrome). The 700–1,100 km belt is already there: with no launches at all its ≥10 cm population grows ~34% in 50 years. Every launch into it steepens that: 50/yr multiplies it ×2.8, 200/yr ×16. These figures put every launch into the single 900 km belt — a deliberate stress test, not a realistic traffic split. A barrel of nails is nowhere on this axis.</a:t>
            </a:r>
          </a:p>
        </p:txBody>
      </p:sp>
      <p:pic>
        <p:nvPicPr>
          <p:cNvPr id="17" name="Picture 16" descr="deck_tipping.png"/>
          <p:cNvPicPr>
            <a:picLocks noChangeAspect="1"/>
          </p:cNvPicPr>
          <p:nvPr/>
        </p:nvPicPr>
        <p:blipFill>
          <a:blip r:embed="rId5"/>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At 500 launches a year into the belt,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6"/>
          <a:stretch>
            <a:fillRect/>
          </a:stretch>
        </p:blipFill>
        <p:spPr>
          <a:xfrm>
            <a:off x="1069848" y="1691640"/>
            <a:ext cx="10058400" cy="3429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none</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doubles the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105–240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strike</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Nails flood the lethal-but-untrackable 1–10 cm field but can't feed the ≥10 cm cascade (even 1,000 barrels add only +16%); the 105–240 range brackets how much debris small impacts throw off (breakup model as written vs NASA's LEGEND convention). Ordinary launch traffic tips the belt for free: 50 launches a year multiply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~1,500–1,600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×89</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714k)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~500 large objects a year into the belt for 50 years — mega-constellation scale, all in the wrong band.</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intact objects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endParaRPr lang="en-US" sz="1400" dirty="0"/>
          </a:p>
        </p:txBody>
      </p:sp>
      <p:pic>
        <p:nvPicPr>
          <p:cNvPr id="20" name="Picture 19" descr="deck_extreme.png"/>
          <p:cNvPicPr>
            <a:picLocks noChangeAspect="1"/>
          </p:cNvPicPr>
          <p:nvPr/>
        </p:nvPicPr>
        <p:blipFill>
          <a:blip r:embed="rId6"/>
          <a:stretch>
            <a:fillRect/>
          </a:stretch>
        </p:blipFill>
        <p:spPr>
          <a:xfrm>
            <a:off x="1033271" y="1984248"/>
            <a:ext cx="5285232" cy="2286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A launch-driven runaway fills the belt</a:t>
            </a:r>
          </a:p>
        </p:txBody>
      </p:sp>
      <p:sp>
        <p:nvSpPr>
          <p:cNvPr id="6" name="TextBox 5"/>
          <p:cNvSpPr txBox="1"/>
          <p:nvPr/>
        </p:nvSpPr>
        <p:spPr>
          <a:xfrm>
            <a:off x="502920" y="5989320"/>
            <a:ext cx="11155680" cy="822960"/>
          </a:xfrm>
          <a:prstGeom prst="rect">
            <a:avLst/>
          </a:prstGeom>
          <a:noFill/>
        </p:spPr>
        <p:txBody>
          <a:bodyPr wrap="square" lIns="0" rIns="0">
            <a:spAutoFit/>
          </a:bodyPr>
          <a:lstStyle/>
          <a:p>
            <a:pPr algn="l"/>
            <a:r>
              <a:rPr sz="1400" b="0">
                <a:solidFill>
                  <a:srgbClr val="9FB2CC"/>
                </a:solidFill>
                <a:latin typeface="Calibri"/>
              </a:rPr>
              <a:t>Sustained launch of 500 objects a year into the 700–1,100 km belt multiplies its ≥10 cm population ~89× in 50 years — the shell goes from sparse (left) to a near-opaque hazard band (right). Illustrative; densities not to scale.</a:t>
            </a:r>
          </a:p>
        </p:txBody>
      </p:sp>
      <p:pic>
        <p:nvPicPr>
          <p:cNvPr id="9" name="Picture 8" descr="image.png"/>
          <p:cNvPicPr>
            <a:picLocks noChangeAspect="1"/>
          </p:cNvPicPr>
          <p:nvPr/>
        </p:nvPicPr>
        <p:blipFill>
          <a:blip r:embed="rId6"/>
          <a:stretch>
            <a:fillRect/>
          </a:stretch>
        </p:blipFill>
        <p:spPr>
          <a:xfrm>
            <a:off x="1568195" y="1572768"/>
            <a:ext cx="4297680" cy="4297680"/>
          </a:xfrm>
          <a:prstGeom prst="rect">
            <a:avLst/>
          </a:prstGeom>
        </p:spPr>
      </p:pic>
      <p:pic>
        <p:nvPicPr>
          <p:cNvPr id="10" name="Picture 9" descr="extreme2.png"/>
          <p:cNvPicPr>
            <a:picLocks noChangeAspect="1"/>
          </p:cNvPicPr>
          <p:nvPr/>
        </p:nvPicPr>
        <p:blipFill>
          <a:blip r:embed="rId8"/>
          <a:stretch>
            <a:fillRect/>
          </a:stretch>
        </p:blipFill>
        <p:spPr>
          <a:xfrm>
            <a:off x="6323076" y="1572768"/>
            <a:ext cx="4297680" cy="4297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+22%</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image.png"/>
          <p:cNvPicPr>
            <a:picLocks noChangeAspect="1"/>
          </p:cNvPicPr>
          <p:nvPr/>
        </p:nvPicPr>
        <p:blipFill>
          <a:blip r:embed="rId5"/>
          <a:stretch>
            <a:fillRect/>
          </a:stretch>
        </p:blipFill>
        <p:spPr>
          <a:xfrm>
            <a:off x="1024128" y="1938528"/>
            <a:ext cx="5294376" cy="215798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~10,000+ active satellites. Collision-avoidance </a:t>
            </a:r>
            <a:r>
              <a:rPr lang="en-US" sz="1250" b="1" dirty="0">
                <a:solidFill>
                  <a:srgbClr val="9FB2CC"/>
                </a:solidFill>
                <a:latin typeface="IBM Plex Sans" pitchFamily="34" charset="0"/>
                <a:ea typeface="IBM Plex Sans" pitchFamily="34" charset="-122"/>
                <a:cs typeface="IBM Plex Sans" pitchFamily="34" charset="-120"/>
              </a:rPr>
              <a:t>maneuvers are climbing steeply</a:t>
            </a:r>
            <a:r>
              <a:rPr lang="en-US" sz="1250" dirty="0">
                <a:solidFill>
                  <a:srgbClr val="9FB2CC"/>
                </a:solidFill>
                <a:latin typeface="IBM Plex Sans" pitchFamily="34" charset="0"/>
                <a:ea typeface="IBM Plex Sans" pitchFamily="34" charset="-122"/>
                <a:cs typeface="IBM Plex Sans" pitchFamily="34" charset="-120"/>
              </a:rPr>
              <a:t> — tens of thousands per 6 months — with no traffic-management authority !</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satellites planned (Starlink, CHN…). The Kessler risk = </a:t>
            </a:r>
            <a:r>
              <a:rPr lang="en-US" sz="1250" b="1" dirty="0">
                <a:solidFill>
                  <a:srgbClr val="9FB2CC"/>
                </a:solidFill>
                <a:latin typeface="IBM Plex Sans" pitchFamily="34" charset="0"/>
                <a:ea typeface="IBM Plex Sans" pitchFamily="34" charset="-122"/>
                <a:cs typeface="IBM Plex Sans" pitchFamily="34" charset="-120"/>
              </a:rPr>
              <a:t>scale × altitude × disposal compliance</a:t>
            </a:r>
            <a:r>
              <a:rPr lang="en-US" sz="1250" dirty="0">
                <a:solidFill>
                  <a:srgbClr val="9FB2CC"/>
                </a:solidFill>
                <a:latin typeface="IBM Plex Sans" pitchFamily="34" charset="0"/>
                <a:ea typeface="IBM Plex Sans" pitchFamily="34" charset="-122"/>
                <a:cs typeface="IBM Plex Sans" pitchFamily="34" charset="-120"/>
              </a:rPr>
              <a:t> — a few percent failing to deorbit is hundreds of dead objects.</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one direction</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 launches the belt's ≥10 cm population grows in all three: box ×1.34, discrete ×1.02, cube ×1.21 (8-seed means; single runs ×0.7–×1.8).</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×1.13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(paint, insulation), station-keeping and avoidance, the solar cycle. Explosions are an assumed ~4 a year of average size. 28,676 real LEO objects;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