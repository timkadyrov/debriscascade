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60" r:id="rId6"/>
    <p:sldId id="259" r:id="rId5"/>
    <p:sldId id="257" r:id="rId3"/>
    <p:sldId id="258" r:id="rId4"/>
    <p:sldId id="261" r:id="rId7"/>
    <p:sldId id="262" r:id="rId8"/>
    <p:sldId id="264" r:id="rId10"/>
    <p:sldId id="265" r:id="rId11"/>
    <p:sldId id="278" r:id="rId13"/>
    <p:sldId id="270" r:id="rId17"/>
    <p:sldId id="266" r:id="rId12"/>
    <p:sldId id="267" r:id="rId14"/>
    <p:sldId id="281" r:id="rId31"/>
    <p:sldId id="268" r:id="rId15"/>
    <p:sldId id="269" r:id="rId16"/>
    <p:sldId id="271" r:id="rId18"/>
    <p:sldId id="279" r:id="rId19"/>
    <p:sldId id="272" r:id="rId20"/>
    <p:sldId id="273" r:id="rId21"/>
    <p:sldId id="280" r:id="rId30"/>
    <p:sldId id="275" r:id="rId22"/>
    <p:sldId id="276" r:id="rId23"/>
    <p:sldId id="277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42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5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2.xml"/><Relationship Id="rId13" Type="http://schemas.openxmlformats.org/officeDocument/2006/relationships/slide" Target="slides/slide10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1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Relationship Id="rId3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8940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46.png"/><Relationship Id="rId8" Type="http://schemas.openxmlformats.org/officeDocument/2006/relationships/image" Target="../media/image5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1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33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61.png"/><Relationship Id="rId9" Type="http://schemas.openxmlformats.org/officeDocument/2006/relationships/image" Target="../media/image12.png"/><Relationship Id="rId10" Type="http://schemas.openxmlformats.org/officeDocument/2006/relationships/image" Target="../media/image6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44.png"/><Relationship Id="rId7" Type="http://schemas.openxmlformats.org/officeDocument/2006/relationships/image" Target="../media/image50.png"/><Relationship Id="rId8" Type="http://schemas.openxmlformats.org/officeDocument/2006/relationships/image" Target="../media/image62.png"/><Relationship Id="rId9" Type="http://schemas.openxmlformats.org/officeDocument/2006/relationships/image" Target="../media/image13.png"/><Relationship Id="rId10" Type="http://schemas.openxmlformats.org/officeDocument/2006/relationships/image" Target="../media/image6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5.png"/><Relationship Id="rId9" Type="http://schemas.openxmlformats.org/officeDocument/2006/relationships/image" Target="../media/image51.png"/><Relationship Id="rId10" Type="http://schemas.openxmlformats.org/officeDocument/2006/relationships/image" Target="../media/image56.png"/><Relationship Id="rId11" Type="http://schemas.openxmlformats.org/officeDocument/2006/relationships/image" Target="../media/image57.png"/><Relationship Id="rId12" Type="http://schemas.openxmlformats.org/officeDocument/2006/relationships/image" Target="../media/image64.png"/><Relationship Id="rId13" Type="http://schemas.openxmlformats.org/officeDocument/2006/relationships/image" Target="../media/image69.png"/><Relationship Id="rId14" Type="http://schemas.openxmlformats.org/officeDocument/2006/relationships/image" Target="../media/image72.png"/><Relationship Id="rId15" Type="http://schemas.openxmlformats.org/officeDocument/2006/relationships/image" Target="../media/image7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Relationship Id="rId4" Type="http://schemas.openxmlformats.org/officeDocument/2006/relationships/image" Target="../media/image37.png"/><Relationship Id="rId5" Type="http://schemas.openxmlformats.org/officeDocument/2006/relationships/image" Target="../media/image39.png"/><Relationship Id="rId6" Type="http://schemas.openxmlformats.org/officeDocument/2006/relationships/image" Target="../media/image52.png"/><Relationship Id="rId7" Type="http://schemas.openxmlformats.org/officeDocument/2006/relationships/image" Target="../media/image6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60.png"/><Relationship Id="rId7" Type="http://schemas.openxmlformats.org/officeDocument/2006/relationships/image" Target="../media/image65.png"/><Relationship Id="rId8" Type="http://schemas.openxmlformats.org/officeDocument/2006/relationships/image" Target="../media/image7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www.space-track.org" TargetMode="External"/><Relationship Id="rId4" Type="http://schemas.openxmlformats.org/officeDocument/2006/relationships/hyperlink" Target="https://celestrak.org" TargetMode="External"/><Relationship Id="rId5" Type="http://schemas.openxmlformats.org/officeDocument/2006/relationships/hyperlink" Target="https://doi.org/10.1016/S0273-1177(01)00423-9" TargetMode="External"/><Relationship Id="rId6" Type="http://schemas.openxmlformats.org/officeDocument/2006/relationships/hyperlink" Target="https://www.lpi.usra.edu/meetings/lpsc2003/pdf/1828.pdf" TargetMode="External"/><Relationship Id="rId7" Type="http://schemas.openxmlformats.org/officeDocument/2006/relationships/hyperlink" Target="https://doi.org/10.1029/JA083iA06p02637" TargetMode="External"/><Relationship Id="rId8" Type="http://schemas.openxmlformats.org/officeDocument/2006/relationships/hyperlink" Target="https://doi.org/10.1126/science.1121337" TargetMode="External"/><Relationship Id="rId9" Type="http://schemas.openxmlformats.org/officeDocument/2006/relationships/hyperlink" Target="https://www.sciencedirect.com/science/article/abs/pii/S0094576509003981" TargetMode="External"/><Relationship Id="rId10" Type="http://schemas.openxmlformats.org/officeDocument/2006/relationships/hyperlink" Target="https://doi.org/10.1016/j.asr.2011.02.003" TargetMode="External"/><Relationship Id="rId11" Type="http://schemas.openxmlformats.org/officeDocument/2006/relationships/hyperlink" Target="https://conference.sdo.esoc.esa.int/proceedings/sdc6/paper/199/sdc6-paper199.pdf" TargetMode="External"/><Relationship Id="rId12" Type="http://schemas.openxmlformats.org/officeDocument/2006/relationships/hyperlink" Target="https://www.unoosa.org/unoosa/en/ourwork/spacelaw/treaties/introouterspacetreaty.html" TargetMode="External"/><Relationship Id="rId13" Type="http://schemas.openxmlformats.org/officeDocument/2006/relationships/hyperlink" Target="https://planet4589.org/space/stats/active.html" TargetMode="External"/><Relationship Id="rId14" Type="http://schemas.openxmlformats.org/officeDocument/2006/relationships/hyperlink" Target="https://www.zetik.com/news/article/story_id-p008-163673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0203A"/>
              </a:gs>
              <a:gs pos="60000">
                <a:srgbClr val="06080E"/>
              </a:gs>
            </a:gsLst>
            <a:path path="circle">
              <a:fillToRect l="78000" t="82000" r="22000" b="18000"/>
            </a:path>
          </a:gradFill>
          <a:ln/>
        </p:spPr>
        <p:txBody>
          <a:bodyPr/>
          <a:lstStyle/>
          <a:p>
            <a:endParaRPr lang="en-CH"/>
          </a:p>
        </p:txBody>
      </p:sp>
      <p:pic>
        <p:nvPicPr>
          <p:cNvPr id="3" name="Image 0" descr="Earth with orbiting debris"/>
          <p:cNvPicPr>
            <a:picLocks noChangeAspect="1"/>
          </p:cNvPicPr>
          <p:nvPr/>
        </p:nvPicPr>
        <p:blipFill>
          <a:blip r:embed="rId3">
            <a:alphaModFix amt="9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ORBITAL DEBRIS STUDY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12800" y="2070431"/>
            <a:ext cx="8502650" cy="1553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</a:t>
            </a:r>
            <a:endParaRPr lang="en-US" sz="5900" dirty="0"/>
          </a:p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Low-Earth Orbit</a:t>
            </a:r>
            <a:endParaRPr lang="en-US" sz="5900" dirty="0"/>
          </a:p>
        </p:txBody>
      </p:sp>
      <p:sp>
        <p:nvSpPr>
          <p:cNvPr id="6" name="Text 3"/>
          <p:cNvSpPr/>
          <p:nvPr/>
        </p:nvSpPr>
        <p:spPr>
          <a:xfrm>
            <a:off x="812800" y="3776729"/>
            <a:ext cx="7717790" cy="1054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cheapest, lowest-tech debris weapon imaginable: no guidance, no interceptor — just mass and a dispenser. Could it trigger Kessler syndrome and render LEO unusable? We answer with numbers, and weigh it against what really fills orbit.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12800" y="58318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catalog  ·  CUDA propagation  ·  NASA breakup model  ·  three cascade engines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79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5"/>
              </a:lnSpc>
              <a:buNone/>
            </a:pPr>
            <a:r>
              <a:rPr lang="en-US" sz="1196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DEBATE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14295"/>
            <a:ext cx="10883392" cy="5303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loud claims — both wrong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159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121833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A — FALSE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833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will do no harm”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121833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nail is a lethal, satellite-killing projectile, and a barrel adds a persistent debris population. Harmless it is not.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61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532034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B — FALSE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2034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renders LEO unusable”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32034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never triggers a runaway. Low down, drag clears it in a couple of years; at 900 km, no number of barrels doubles the ≥10 cm belt.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5753100"/>
            <a:ext cx="10883392" cy="316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truth is quantitative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it depends almost entirely on </a:t>
            </a:r>
            <a:r>
              <a:rPr lang="en-US" sz="1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and it only means something when compared with ordinary traffic.</a:t>
            </a:r>
            <a:endParaRPr lang="en-US" sz="1700" dirty="0"/>
          </a:p>
        </p:txBody>
      </p:sp>
      <p:sp>
        <p:nvSpPr>
          <p:cNvPr id="13" name="Text 5"/>
          <p:cNvSpPr/>
          <p:nvPr/>
        </p:nvSpPr>
        <p:spPr>
          <a:xfrm>
            <a:off x="812800" y="1850000"/>
            <a:ext cx="108833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 b="1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ask: 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is the cheapest way to put a debris weapon in orbit — no guidance, no interceptor, just mass and a dispenser. It deserves a number, not an opinion.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SCENARIO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of nails, defined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A nai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58333" y="1752932"/>
            <a:ext cx="1270000" cy="279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42633" y="1770724"/>
            <a:ext cx="1343157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projectile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8333" y="2146632"/>
          <a:ext cx="4677834" cy="1863330"/>
        </p:xfrm>
        <a:graphic>
          <a:graphicData uri="http://schemas.openxmlformats.org/drawingml/2006/table">
            <a:tbl>
              <a:tblPr/>
              <a:tblGrid>
                <a:gridCol w="23389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9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Steel nail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75 × 3 mm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Mass each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4.16 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Tumbling cross-section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1.8 cm²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 in a barrel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200,000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Total launched mass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832 kg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2134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5"/>
          <p:cNvSpPr/>
          <p:nvPr/>
        </p:nvSpPr>
        <p:spPr>
          <a:xfrm>
            <a:off x="6455833" y="1752932"/>
            <a:ext cx="4818168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deployment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55833" y="2111045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Released as a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dump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each nail gets a small random Δv, no targeting. The least-hostile way to spread a barrel.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55833" y="2945276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Placed at a chosen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and inclination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(default 550 km / 53°), then set loose in the real catalog + a modelled 1–10 cm debris field.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15975" y="4474567"/>
            <a:ext cx="10560050" cy="563761"/>
          </a:xfrm>
          <a:prstGeom prst="roundRect">
            <a:avLst>
              <a:gd name="adj" fmla="val 15206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9"/>
          <p:cNvSpPr/>
          <p:nvPr/>
        </p:nvSpPr>
        <p:spPr>
          <a:xfrm>
            <a:off x="1032933" y="4640726"/>
            <a:ext cx="10429918" cy="256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Measured:</a:t>
            </a:r>
            <a:r>
              <a:rPr lang="en-US" sz="13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single-nail lethality · drag lifetime · collision flux · a 50-year cascade in three engines · usability by altitude.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604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GROUNDED IN REAL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372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catalog we simulate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07533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29,779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07533" y="210853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tracked objects in LEO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2072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3433630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9,956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33630" y="2108531"/>
            <a:ext cx="1966919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catalogued debris pieces (+1,573 rocket bodies)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5975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07533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511 kg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007533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mass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2072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3433630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4.4 m²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33630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cross-section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95169" y="1535973"/>
            <a:ext cx="5580856" cy="2454672"/>
          </a:xfrm>
          <a:prstGeom prst="roundRect">
            <a:avLst>
              <a:gd name="adj" fmla="val 4010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5986727" y="1727531"/>
            <a:ext cx="5353672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OBJECTS · RADAR CROSS-SECTION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6727" y="1961158"/>
          <a:ext cx="5197739" cy="1863330"/>
        </p:xfrm>
        <a:graphic>
          <a:graphicData uri="http://schemas.openxmlformats.org/drawingml/2006/table">
            <a:tbl>
              <a:tblPr/>
              <a:tblGrid>
                <a:gridCol w="2287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9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Object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RCS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Altitude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ISS (Zarya)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399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416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Hubble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28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470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Envisat · 8 t, dead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761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SL-16 rocket body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11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~850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815975" y="4200195"/>
            <a:ext cx="10560050" cy="873257"/>
          </a:xfrm>
          <a:prstGeom prst="roundRect">
            <a:avLst>
              <a:gd name="adj" fmla="val 981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7"/>
          <p:cNvSpPr/>
          <p:nvPr/>
        </p:nvSpPr>
        <p:spPr>
          <a:xfrm>
            <a:off x="1045633" y="4379053"/>
            <a:ext cx="10403756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environment: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every catalogued object carries its own mass and area, from its radar cross-section where known (97%), alongside a modelled field of ~1,000,000 lethal 1–10 cm fragments too small for radar to track.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TERMS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88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56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vocabulary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A1626"/>
          </a:solidFill>
          <a:ln w="635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969433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Kessler syndrome / runaway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69433" y="1786731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chain reaction: each collision makes debris that triggers more collisions, so the debris count keeps climbing on its own — even if every launch stopped today.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38108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491567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Supercritical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91567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tipping condition behind runaway: in a shell, collisions make fragments faster than drag removes them, so the population grows unaided.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860242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013700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3700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carrying ≥ 40 joules per gram of the target's mass — enough to shatter it, not just crater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5975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969433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9433" y="3019955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standard empirical formula (Johnson et al., 2001) for how many fragments of each size a collision or explosion makes, from the objects' mass. Fit to real on-orbit events.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38108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4491567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belt (700–1,100 km)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91567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drag is weak and today's debris belt lives. The results track how its population changes over 50 years.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60242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8"/>
          <p:cNvSpPr/>
          <p:nvPr/>
        </p:nvSpPr>
        <p:spPr>
          <a:xfrm>
            <a:off x="8013700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≥10 cm objects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13700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Big enough to track by radar and to shatter a small satellite — the standard metric of debris-evolution studies.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5975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/>
          <p:nvPr/>
        </p:nvSpPr>
        <p:spPr>
          <a:xfrm>
            <a:off x="969433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RCS (radar cross-section)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9433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big an object looks to tracking radar (m²) — used as its collision cross-section and to estimate mass.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38108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6" name="Text 24"/>
          <p:cNvSpPr/>
          <p:nvPr/>
        </p:nvSpPr>
        <p:spPr>
          <a:xfrm>
            <a:off x="4491567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A/m &amp; drag lifetime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91567" y="4253178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Area-to-mass ratio sets how fast drag lowers an orbit: low orbits self-clean in years, high orbits persist for centuries.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860242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9" name="Text 27"/>
          <p:cNvSpPr/>
          <p:nvPr/>
        </p:nvSpPr>
        <p:spPr>
          <a:xfrm>
            <a:off x="8013700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Mission-kill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013700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that disables a satellite without shattering it — leaving a dead hulk plus a little cratering debris.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TOOL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15020"/>
            <a:ext cx="108833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question, a full modelling chain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Databa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979409"/>
            <a:ext cx="330200" cy="330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catalog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32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CelesTrak + Space-Track, per-object mass &amp; RCS</a:t>
            </a:r>
            <a:endParaRPr lang="en-US" sz="1200" dirty="0"/>
          </a:p>
        </p:txBody>
      </p:sp>
      <p:pic>
        <p:nvPicPr>
          <p:cNvPr id="8" name="Image 1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4200" y="3458170"/>
            <a:ext cx="355600" cy="190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609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0" name="Image 2" descr="Lightni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826933" y="2979409"/>
            <a:ext cx="330200" cy="3302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826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CUDA propagation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3826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J2 orbits on an RTX 5090, 177 M states/s</a:t>
            </a:r>
            <a:endParaRPr lang="en-US" sz="1200" dirty="0"/>
          </a:p>
        </p:txBody>
      </p:sp>
      <p:pic>
        <p:nvPicPr>
          <p:cNvPr id="13" name="Image 3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18200" y="3458170"/>
            <a:ext cx="355600" cy="1905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03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5" name="Image 4" descr="Warni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620934" y="2979409"/>
            <a:ext cx="330200" cy="3302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20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Breakup model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6620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Model, 40 J/g threshold</a:t>
            </a:r>
            <a:endParaRPr lang="en-US" sz="1200" dirty="0"/>
          </a:p>
        </p:txBody>
      </p:sp>
      <p:pic>
        <p:nvPicPr>
          <p:cNvPr id="18" name="Image 5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2200" y="3458170"/>
            <a:ext cx="355600" cy="19050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197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20" name="Image 6" descr="Chart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414934" y="2979409"/>
            <a:ext cx="330200" cy="33020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9414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Cascade engines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9414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ODE · discrete MC · conjunction geometry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independent engines, plus launch traffic, explosions, debris removal and an “operators retreat” feedback. The box model draws every chart; the other two check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ENGINES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ways to model a cascade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Stacked altitude shells with debris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1740232"/>
            <a:ext cx="2032000" cy="952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· source–sink ODE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032933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fast · aggregate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032933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Debris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per altitude shell and size class, evolved by one equation. Well-mixed, no individuals.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32933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draws every chart.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01608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1" name="Image 1" descr="Individual objects scattered, two collidi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8567" y="1740232"/>
            <a:ext cx="2032000" cy="9525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8567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Discrete · super-particle MC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18567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mid · per-object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4618567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is an individual; collisions are drawn statistically, and fragments get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orbits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spread across shells.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618567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 (8-seed ensembles).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87242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7" name="Image 2" descr="Two orbits crossing at a collision point over a gri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04200" y="1740232"/>
            <a:ext cx="2032000" cy="9525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04200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Conjunction · cube method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204200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 · real geometry (GPU)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04200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propagated on the GPU; a collision happens only where two orbits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actually cross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same small cube.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04200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cross-check; matches box within 5%.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PHYSICS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20"/>
            <a:ext cx="10883392" cy="452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nail: lethal, but no satellite-destroyer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698869"/>
              </p:ext>
            </p:extLst>
          </p:nvPr>
        </p:nvGraphicFramePr>
        <p:xfrm>
          <a:off x="812800" y="2286664"/>
          <a:ext cx="6236023" cy="2450572"/>
        </p:xfrm>
        <a:graphic>
          <a:graphicData uri="http://schemas.openxmlformats.org/drawingml/2006/table">
            <a:tbl>
              <a:tblPr/>
              <a:tblGrid>
                <a:gridCol w="2120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9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Impact @ 10 km/s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Energy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Catastrophic?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Result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39D98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· 0.8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Mission-kill + ~130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3 kg cubesat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 · 69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Shattered · ~600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260 kg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13 GJ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5A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Yes, deeply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~29,000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221472" y="2289839"/>
            <a:ext cx="4154554" cy="2461154"/>
          </a:xfrm>
          <a:prstGeom prst="roundRect">
            <a:avLst>
              <a:gd name="adj" fmla="val 4515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3"/>
          <p:cNvSpPr/>
          <p:nvPr/>
        </p:nvSpPr>
        <p:spPr>
          <a:xfrm>
            <a:off x="7501930" y="2747702"/>
            <a:ext cx="3701446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40 </a:t>
            </a:r>
            <a:r>
              <a:rPr lang="en-US" sz="6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J/g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7501930" y="3573202"/>
            <a:ext cx="3701446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catastrophic-fragmentation line. A nail against a Starlink lands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 J/g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50× too low.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nail mission-kills whatever it hits, but to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shatter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260 kg satellite you'd need a ~200 g bolt, not a nail. The huge fragment clouds come from </a:t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large-on-large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collisions.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99481"/>
            <a:ext cx="51800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CASCADE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77902"/>
            <a:ext cx="5180076" cy="1087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Accelerant,</a:t>
            </a:r>
            <a:endParaRPr lang="en-US" sz="4100" dirty="0"/>
          </a:p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igniter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812800" y="3805175"/>
            <a:ext cx="518007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can't start Kessler by itself — nails are too light to shatter big objects. What it does is </a:t>
            </a:r>
            <a:r>
              <a:rPr lang="en-US" sz="16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slightly raise the odds</a:t>
            </a: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of the large-on-large collisions that already drive the belt.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53175" y="1565275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/>
          <p:nvPr/>
        </p:nvSpPr>
        <p:spPr>
          <a:xfrm>
            <a:off x="6432468" y="1782235"/>
            <a:ext cx="39550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929570" y="1782235"/>
            <a:ext cx="435638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Nails mission-kill satellites, leaving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dead hulks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cratering debris behind.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3175" y="2856446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432468" y="3073400"/>
            <a:ext cx="461318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95385" y="3073400"/>
            <a:ext cx="428859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extra mass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raises the standing density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shell.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53175" y="4147610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6460178" y="4364571"/>
            <a:ext cx="351654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13431" y="4364571"/>
            <a:ext cx="4373006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But the push is weak: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number of barrels adds more than ~16%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to the ≥10 cm belt in 50 years.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spc="250">
                <a:solidFill>
                  <a:srgbClr val="4DA6FF"/>
                </a:solidFill>
                <a:latin typeface="IBM Plex Mono"/>
              </a:rPr>
              <a:t>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The nail cloud spreads, then rains 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525780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Left → right: a tight ring at release, spread into a shell by differential precession, then decaying under atmospheric drag — ~46% remain after ~1.5 years at 550 km. Model output, 200,000 nails, J2 + drag.</a:t>
            </a:r>
          </a:p>
        </p:txBody>
      </p:sp>
      <p:pic>
        <p:nvPicPr>
          <p:cNvPr id="8" name="Picture 7" descr="fram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1600200"/>
            <a:ext cx="3355848" cy="3355848"/>
          </a:xfrm>
          <a:prstGeom prst="rect">
            <a:avLst/>
          </a:prstGeom>
        </p:spPr>
      </p:pic>
      <p:pic>
        <p:nvPicPr>
          <p:cNvPr id="9" name="Picture 8" descr="fram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1124" y="1600200"/>
            <a:ext cx="3355848" cy="3355848"/>
          </a:xfrm>
          <a:prstGeom prst="rect">
            <a:avLst/>
          </a:prstGeom>
        </p:spPr>
      </p:pic>
      <p:pic>
        <p:nvPicPr>
          <p:cNvPr id="10" name="Picture 9" descr="fram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8431" y="1600200"/>
            <a:ext cx="3355848" cy="33558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SCALE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30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93"/>
              </a:lnSpc>
              <a:buNone/>
            </a:pPr>
            <a:r>
              <a:rPr lang="en-US" sz="3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barrels to tip a band?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15975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96433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 +16%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96433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number of barrels, ≥10 cm belt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4308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694767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100–240</a:t>
            </a:r>
            <a:r>
              <a:rPr lang="en-US" sz="48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694767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double the 1–10 cm field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12642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293100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≈ 23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293100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≈ one ASAT, ≥10 cm belt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50368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dumped at 900 km, over 50 years, compared with the same run without them. Nails flood the lethal-but-untrackable 1–10 cm field but barely feed the ≥10 cm cascade: the belt tops out +16% above the no-barrel run by ~300 barrels, and more don't raise it. The 100–240 range brackets how much debris small impacts throw off (breakup model as written vs NASA's LEGEND convention).</a:t>
            </a:r>
            <a:r>
              <a:rPr lang="en-US" sz="15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FINDING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57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99"/>
              </a:lnSpc>
              <a:buNone/>
            </a:pPr>
            <a:r>
              <a:rPr lang="en-US" sz="3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is the whole story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15975" y="1626065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71033" y="1940458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1,200–1,500 km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66533" y="1843025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Secondary persistent zone — even small fragments stay for centuries to millennia, and it is exactly where several proposed mega-constellations intend to operate.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15975" y="2690484"/>
            <a:ext cx="10560050" cy="1238978"/>
          </a:xfrm>
          <a:prstGeom prst="roundRect">
            <a:avLst>
              <a:gd name="adj" fmla="val 7944"/>
            </a:avLst>
          </a:prstGeom>
          <a:solidFill>
            <a:srgbClr val="0D1420"/>
          </a:solidFill>
          <a:ln w="6350">
            <a:solidFill>
              <a:srgbClr val="3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1071033" y="3141067"/>
            <a:ext cx="1962150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700–1,100 km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166533" y="2932844"/>
            <a:ext cx="8193067" cy="77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8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“bad neighborhood.” Fragments last decades to a century, intact objects centuries — and the real debris belt lives here, home to dead giants like Envisat (8 t, 761 km). With no launches at all, its ≥10 cm population still grows ~36% in 50 years.</a:t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975" y="4062809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23A2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71033" y="4377203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200–600 km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166533" y="4279770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Self-cleaning. Drag clears fragments in months to a few years and dead satellites in about a decade; a barrel at 550 km loses half its nails in 1.5 years.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12800" y="5212953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LEO is not one place: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orbit self-heals, high orbit is nearly permanent.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Risk scales dramatically with altitude.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USABILITY BY ALTITUDE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the risk is — and how long it stays</a:t>
            </a:r>
            <a:endParaRPr lang="en-US" sz="2900" dirty="0"/>
          </a:p>
        </p:txBody>
      </p:sp>
      <p:sp>
        <p:nvSpPr>
          <p:cNvPr id="5" name="TextBox 4"/>
          <p:cNvSpPr txBox="1"/>
          <p:nvPr/>
        </p:nvSpPr>
        <p:spPr>
          <a:xfrm>
            <a:off x="812800" y="5120640"/>
            <a:ext cx="105664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E7EEF8"/>
                </a:solidFill>
                <a:latin typeface="IBM Plex Sans"/>
              </a:rPr>
              <a:t>Most hazardous — but not unusable.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A satellite in the 700–1,100 km belt runs a ~0.5% a year chance of a lethal hit today — the worst in LEO, but well below the ~2%/yr at which operators abandon a band. Orange is the deeper problem: above ~1,000 km even small fragments stay for centuries, so whatever breaks there doesn't clear. One barrel at 550 km briefly makes its shell the most dangerous in LEO (~1.1%/yr, 5× normal).</a:t>
            </a:r>
          </a:p>
        </p:txBody>
      </p:sp>
      <p:pic>
        <p:nvPicPr>
          <p:cNvPr id="6" name="Picture 5" descr="deck_altitu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not the barrel, what would?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Same measure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extra objects in the belt, for every source.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Extra ≥10 cm objects in the 700–1,100 km belt after 50 years, compared with adding nothing. One barrel adds ~17, an ASAT strike ~380, and no number of barrels more than ~1,800. Injecting 50 satellites and rocket bodies a year that are never deorbited adds ~12,000 — 6× the barrels' ceiling. Traffic, not the barrel, is what moves the belt — the next slides show how far.</a:t>
            </a:r>
          </a:p>
        </p:txBody>
      </p:sp>
      <p:pic>
        <p:nvPicPr>
          <p:cNvPr id="17" name="Picture 16" descr="deck_yards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TIPPING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Injected satellites and rocket bodies drive the belt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Runaway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the debris population grows without ever settling.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Collisions and explosions breed fragments faster than drag can remove them, so more debris drives more collisions — a self-feeding cascade (Kessler syndrome). The belt is already there: with nothing added, its ≥10 cm population grows ~36% in 50 years. Each satellite or rocket body injected or added to it steepens that: 50 a year ×2.8, 200 a year ×16. None is ever manoeuvred or deorbited, and all sit at 900 km — a stress test, not a traffic forecast. Cross-check at 50/yr: discrete ×2.0, cube ×2.2 (8 seeds each) — same story, somewhat milder.</a:t>
            </a:r>
          </a:p>
        </p:txBody>
      </p:sp>
      <p:pic>
        <p:nvPicPr>
          <p:cNvPr id="17" name="Picture 16" descr="deck_tipp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RATIONAL OPERATORS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Operators quit — the cascade doesn't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812800" y="54940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500 satellites and rocket bodies a year injected into the belt (none ever deorbited), operators throttle back as the risk rises and stop entirely by year ~28 — yet the belt's ≥10 cm population still grows ×2.0 afterwards. Abandoning a band doesn't save it once the cascade runs.</a:t>
            </a:r>
            <a:r>
              <a:rPr lang="en-US" sz="1550" i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  <p:pic>
        <p:nvPicPr>
          <p:cNvPr id="13" name="Picture 12" descr="deck_responsi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9848" y="1691640"/>
            <a:ext cx="10058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EXTREME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it would actually take to break LEO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727965" cy="2976430"/>
          </a:xfrm>
          <a:prstGeom prst="roundRect">
            <a:avLst>
              <a:gd name="adj" fmla="val 3307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676400"/>
            <a:ext cx="545287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Objects ≥10 cm in the 700–1,100 km belt, 50 years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778890" y="1642802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9"/>
          <p:cNvSpPr/>
          <p:nvPr/>
        </p:nvSpPr>
        <p:spPr>
          <a:xfrm>
            <a:off x="6970448" y="1808956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~1,500–1,700 / yr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6970448" y="2139156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collisions by year 50, incl. 1–10 cm impactors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78890" y="2626593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70448" y="2792747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×87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970448" y="3122947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growth in objects ≥10 cm (8k → 718k)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78890" y="3610372"/>
            <a:ext cx="4597136" cy="692944"/>
          </a:xfrm>
          <a:prstGeom prst="roundRect">
            <a:avLst>
              <a:gd name="adj" fmla="val 12371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70448" y="3751138"/>
            <a:ext cx="4340439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 ~425 satellites + 75 rocket bodies injected a year for 50 years, never deorbited. No ASAT.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2800" y="4654947"/>
            <a:ext cx="10883392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takes mass and catastrophic energy — large objects, not nails. One ASAT strike on a 1 t satellite makes ~50,000 fragments ≥1 cm; the extreme is 500 satellites and rocket bodies a year piling into a band that already grows on its own. A nail has neither the mass nor the energy.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Adding a barrel on top changes the belt by under 0.1%. The collision count includes 1–10 cm fragments shattering small objects, which NASA's LEGEND model leaves out: it counts ≥10 cm objects only.</a:t>
            </a:r>
            <a:endParaRPr lang="en-US" sz="1400" dirty="0"/>
          </a:p>
        </p:txBody>
      </p:sp>
      <p:pic>
        <p:nvPicPr>
          <p:cNvPr id="20" name="Picture 19" descr="deck_extre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3271" y="1984248"/>
            <a:ext cx="528523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spc="250">
                <a:solidFill>
                  <a:srgbClr val="4DA6FF"/>
                </a:solidFill>
                <a:latin typeface="IBM Plex Mono"/>
              </a:rPr>
              <a:t>FOR COMPARISON · 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500 satellites and rocket bodies a year fill the belt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598932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Injecting 500 satellites and rocket bodies a year into the 700–1,100 km belt, none ever deorbited, multiplies its ≥10 cm population ~87× in 50 years — from sparse (left) to a near-opaque hazard band (right). Illustrative; densities not to scale.</a:t>
            </a:r>
          </a:p>
        </p:txBody>
      </p:sp>
      <p:pic>
        <p:nvPicPr>
          <p:cNvPr id="13" name="Picture 12" descr="extreme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68195" y="1572768"/>
            <a:ext cx="4297680" cy="4297680"/>
          </a:xfrm>
          <a:prstGeom prst="rect">
            <a:avLst/>
          </a:prstGeom>
        </p:spPr>
      </p:pic>
      <p:pic>
        <p:nvPicPr>
          <p:cNvPr id="14" name="Picture 13" descr="extreme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3076" y="1572768"/>
            <a:ext cx="42976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8C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RECOVERABLE EXTREME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391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84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down, even a big breakup clears fast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59049"/>
            <a:ext cx="5716125" cy="2815167"/>
          </a:xfrm>
          <a:prstGeom prst="roundRect">
            <a:avLst>
              <a:gd name="adj" fmla="val 3496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20233" y="1637903"/>
            <a:ext cx="54668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Extra collision risk at 475 km after a 2.2 t breakup (like Cosmos-1408)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767050" y="1549078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58608" y="1715232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+21%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958608" y="2032732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collision risk at the peak — not a no-go zone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7050" y="2520156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0A1614"/>
          </a:solidFill>
          <a:ln w="6350">
            <a:solidFill>
              <a:srgbClr val="235A3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58608" y="2686323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 yr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6958608" y="3003823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drag to sweep it clean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767050" y="3491247"/>
            <a:ext cx="4608976" cy="692944"/>
          </a:xfrm>
          <a:prstGeom prst="roundRect">
            <a:avLst>
              <a:gd name="adj" fmla="val 123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Text 18"/>
          <p:cNvSpPr/>
          <p:nvPr/>
        </p:nvSpPr>
        <p:spPr>
          <a:xfrm>
            <a:off x="6958608" y="3632002"/>
            <a:ext cx="4352635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large low-altitude fragmentation — an ASAT strike or a big collision.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2800" y="4455195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debris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900 km would linger for centuries.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Low LEO forgives — the high belt does not.</a:t>
            </a:r>
            <a:endParaRPr lang="en-US" sz="1400" dirty="0"/>
          </a:p>
        </p:txBody>
      </p:sp>
      <p:pic>
        <p:nvPicPr>
          <p:cNvPr id="23" name="Picture 22" descr="deck_loweve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" y="1938528"/>
            <a:ext cx="5294376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CONGESTION &amp; MEGA-CONSTELLATIONS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present burden, a future hazard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Now — operational</a:t>
            </a:r>
            <a:endParaRPr lang="en-US" sz="1600" dirty="0"/>
          </a:p>
        </p:txBody>
      </p:sp>
      <p:pic>
        <p:nvPicPr>
          <p:cNvPr id="6" name="Image 0" descr="Rising collision-avoidance maneuver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047218"/>
            <a:ext cx="1905000" cy="825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32933" y="2974318"/>
            <a:ext cx="4870492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~16,800 active satellites (11,100 of them Starlink). Starlink alone made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~207,000 collision-avoidance manoeuvres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six months (Dec 2025 – May 2026) — and there is still no international traffic-management authority.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34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6"/>
          <p:cNvSpPr/>
          <p:nvPr/>
        </p:nvSpPr>
        <p:spPr>
          <a:xfrm>
            <a:off x="64304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Ahead — systemic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30433" y="2047218"/>
            <a:ext cx="487049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1,000,000+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30433" y="2479018"/>
            <a:ext cx="4870492" cy="682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satellites filed with regulators — SpaceX up to 1M, China ~200k, mostly on paper. The Kessler risk =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scale × altitude × disposal compliance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15975" y="4264422"/>
            <a:ext cx="10560050" cy="830130"/>
          </a:xfrm>
          <a:prstGeom prst="roundRect">
            <a:avLst>
              <a:gd name="adj" fmla="val 1032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10"/>
          <p:cNvSpPr/>
          <p:nvPr/>
        </p:nvSpPr>
        <p:spPr>
          <a:xfrm>
            <a:off x="1032933" y="4430588"/>
            <a:ext cx="10429918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split as everything else: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550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giant fleets self-clean — a burden.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1,000–1,200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mass persists for centuries — the real systemic hazard.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REMEDY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 ~10 large dead objects a year and the belt holds flat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9D98A"/>
                </a:solidFill>
                <a:latin typeface="IBM Plex Sans"/>
              </a:rPr>
              <a:t>Remedy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remove the riskiest large dead objects, and make old stages safe.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Taking out the riskiest large objects each year — the heaviest, in the densest shells (NASA LEGEND's criterion) — bends the belt: ~10 a year holds its ≥10 cm population flat with nothing added, ~6 if old stages are also made safe so they can't explode (LEGEND: ~5). With 50 satellites and rocket bodies a year injected (never deorbited) it takes ~49. Cross-check at 10/yr: discrete ×1.07, cube ×1.02. The belt isn't doomed; it's a maintenance problem.</a:t>
            </a:r>
          </a:p>
        </p:txBody>
      </p:sp>
      <p:pic>
        <p:nvPicPr>
          <p:cNvPr id="17" name="Picture 16" descr="deck_remov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2A4A"/>
              </a:gs>
              <a:gs pos="60000">
                <a:srgbClr val="08182B"/>
              </a:gs>
              <a:gs pos="100000">
                <a:srgbClr val="06080E"/>
              </a:gs>
            </a:gsLst>
            <a:lin ang="2700000" scaled="0"/>
          </a:gra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12800" y="1606686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2117204"/>
            <a:ext cx="10464800" cy="2204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90"/>
              </a:lnSpc>
              <a:buNone/>
            </a:pPr>
            <a:r>
              <a:rPr lang="en-US" sz="3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 is a mission-kill weapon and a decades-long high-altitude nuisance — but it </a:t>
            </a:r>
            <a:r>
              <a:rPr lang="en-US" sz="39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neither triggers Kessler nor ends LEO.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812800" y="4300000"/>
            <a:ext cx="10464800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barrel: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kills satellites, but even without limit it adds at most ~1,800 objects ≥10 cm to the belt (+16%).</a:t>
            </a:r>
            <a:endParaRPr lang="en-US" sz="1900" dirty="0"/>
          </a:p>
          <a:p>
            <a:pPr marL="0" indent="0" algn="l">
              <a:lnSpc>
                <a:spcPts val="2660"/>
              </a:lnSpc>
              <a:spcBef>
                <a:spcPts val="1200"/>
              </a:spcBef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mass left in the 700–1,100 km belt without disposal — 50 satellites and rocket bodies a year that are never deorbited add ~12,000. Removal and disposal policy decide the belt's fate.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HONEST ABOUT ITSELF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the model can and can't say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1033" y="1854535"/>
            <a:ext cx="292100" cy="292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1033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engines agree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1033" y="2578435"/>
            <a:ext cx="2956306" cy="1180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nothing added, the belt's ≥10 cm population grows in all three: box ×1.36, discrete ×1.21, cube ×1.18. On real orbit geometry, box and cube agree on collision rates within ~5%.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05842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0900" y="1854535"/>
            <a:ext cx="292100" cy="2921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0900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Main uncertainties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60900" y="2578435"/>
            <a:ext cx="2956306" cy="949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Explosions set the no-launch baseline: belt ×1.15 without them, ×2.1 if all were big stage blasts. Small impacts' cratering changes 1–10 cm results 2–3×, not the ≥10 cm belt.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5709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3" name="Image 2" descr="Verifie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50767" y="1854535"/>
            <a:ext cx="292100" cy="2921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0767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modelled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250767" y="2578435"/>
            <a:ext cx="2956306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Degradation debris, the solar cycle, and any manoeuvring or deorbiting of the injected satellites and rocket bodies. Explosions: ~4 a year assumed. Order-of-magnitude, not forecasts.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330000"/>
            <a:ext cx="696958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 err="1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CelesTrak</a:t>
            </a:r>
            <a:r>
              <a:rPr lang="en-US" sz="12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+ Space-Track · NASA breakup model · RTX 5090 / CUDA</a:t>
            </a:r>
            <a:endParaRPr lang="en-US" sz="1200" dirty="0"/>
          </a:p>
        </p:txBody>
      </p:sp>
      <p:sp>
        <p:nvSpPr>
          <p:cNvPr id="17" name="Shape 2"/>
          <p:cNvSpPr/>
          <p:nvPr/>
        </p:nvSpPr>
        <p:spPr>
          <a:xfrm>
            <a:off x="815975" y="4217665"/>
            <a:ext cx="10560051" cy="1830000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3"/>
          <p:cNvSpPr/>
          <p:nvPr/>
        </p:nvSpPr>
        <p:spPr>
          <a:xfrm>
            <a:off x="1071033" y="4408165"/>
            <a:ext cx="1004993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Checked against NASA</a:t>
            </a:r>
            <a:endParaRPr lang="en-US" sz="1500" dirty="0"/>
          </a:p>
        </p:txBody>
      </p:sp>
      <p:sp>
        <p:nvSpPr>
          <p:cNvPr id="19" name="Text 4"/>
          <p:cNvSpPr/>
          <p:nvPr/>
        </p:nvSpPr>
        <p:spPr>
          <a:xfrm>
            <a:off x="1071033" y="4738365"/>
            <a:ext cx="10049935" cy="8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direction as NASA's LEGEND model: with no new launches LEO keeps growing (LEGEND: flat for 50 years, then up; here the belt grows from the start, ×1.15 even without explosions), and removing ~5 large objects a year stabilises it (LEGEND assumes 90% end-of-life disposal, over 200 years; here ~6–10). Counting ≥10 cm objects only, our catastrophic collisions run ~2–5× the one every 5–9 years in the six-agency IADC study (2013): a larger population today, and no collision avoidance in the model.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SOURCES &amp; 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75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54"/>
              </a:lnSpc>
              <a:buNone/>
            </a:pPr>
            <a:r>
              <a:rPr lang="en-US" sz="2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Data, models, and literature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128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 data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12800" y="1657747"/>
            <a:ext cx="544169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Space-Track.org — full on-orbit GP catalog &amp; SATCAT (RCS)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CelesTrak — GP / TLE catalog &amp; SATCAT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60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Models &amp; methods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6000" y="1657747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 Standard Breakup Model — Johnson et al. (2001), </a:t>
            </a:r>
            <a:r>
              <a:rPr lang="en-US" sz="12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Adv. Space Res.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Cube method / LEGEND — Liou (2003)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WGS-72 / J2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24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Foundational literature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12800" y="2766925"/>
            <a:ext cx="510000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Kessler &amp; Cour-Palais (1978), J. Geophys. Res. — the debris belt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 &amp; Johnson (2006), Science — growth without launches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Liou, Johnson &amp; Hill (2010), Acta Astronautica — active removal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 (2011), Adv. Space Res. — removing ~5 objects a year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IADC comparison study (2013) — stability of future LEO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0" y="24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Events &amp; policy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096000" y="2766925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Fengyun-1C (2007), Cosmos–Iridium (2009), Cosmos-1408 (2021)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Outer Space Treaty (1967)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PAROS / PPWT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McDowell, Jonathan's Space Report (active satellites, Sep 2026)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SpaceX FCC report (manoeuvres, Jun 2026)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6068095"/>
            <a:ext cx="10959605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Charts are SpaceWars model outputs on the live Space-Track catalog; orbit visualizations are illustrative. Values are order-of-magnitude estimates from a stylised model — not operational predictions.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2213</Words>
  <Application>Microsoft Office PowerPoint</Application>
  <PresentationFormat>Widescreen</PresentationFormat>
  <Paragraphs>291</Paragraphs>
  <Slides>23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Consolas</vt:lpstr>
      <vt:lpstr>IBM Plex Mono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Barrel of Nails — Kessler Study</dc:title>
  <dc:subject>PptxGenJS Presentation</dc:subject>
  <dc:creator>TK</dc:creator>
  <cp:lastModifiedBy>- -</cp:lastModifiedBy>
  <cp:revision>4</cp:revision>
  <dcterms:created xsi:type="dcterms:W3CDTF">2026-09-24T11:52:29Z</dcterms:created>
  <dcterms:modified xsi:type="dcterms:W3CDTF">2026-09-24T12:28:06Z</dcterms:modified>
</cp:coreProperties>
</file>