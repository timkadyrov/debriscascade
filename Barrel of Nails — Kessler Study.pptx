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8" r:id="rId13"/>
    <p:sldId id="267" r:id="rId14"/>
    <p:sldId id="268" r:id="rId15"/>
    <p:sldId id="269" r:id="rId16"/>
    <p:sldId id="270" r:id="rId17"/>
    <p:sldId id="271" r:id="rId18"/>
    <p:sldId id="279" r:id="rId19"/>
    <p:sldId id="272" r:id="rId20"/>
    <p:sldId id="273" r:id="rId21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Could it trigger Kessler syndrome and render LEO unusable? A data-grounded simulation that answers with numbers, not intuition.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15,222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70,676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SATCAT records · 100% RCS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519 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mass (RCS-derived)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4.5 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m²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scenario: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200,000-nail barrel (75×3 mm steel, 4.16 g each — 832 kg total) released into this environment, alongside a modelled field of ~1,000,000 lethal 1–10 cm fragments.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Source–sink ODE (box model)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Aggregate engine: debris counts per shell evolve by dN/dt = launch − drag + ½·collisions. Fast; treats each shell as well-mixed.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/ cube method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High-fidelity engine: every object is individual; a collision only happens where two orbits actually cross the same small cube.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0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 cascade. Drag cleans it up, and the numbers fall orders of magnitude short.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and, as it turns out,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 of rising fidelity, plus real launch traffic and an “operators retreat” feedback — so the environment behaves like the real one.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 for: does a shell run away?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 for: cross-shell fragment spread.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 for: eccentric cross-shell impacts.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INSIDE 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each model actually does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401499"/>
            <a:ext cx="3496987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ODE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15975" y="1727200"/>
            <a:ext cx="3388783" cy="652330"/>
          </a:xfrm>
          <a:prstGeom prst="roundRect">
            <a:avLst>
              <a:gd name="adj" fmla="val 11194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956733" y="1855260"/>
            <a:ext cx="3200485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Group all debris into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shells × size bins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just counts N.</a:t>
            </a:r>
            <a:endParaRPr lang="en-US" sz="1200" dirty="0"/>
          </a:p>
        </p:txBody>
      </p:sp>
      <p:pic>
        <p:nvPicPr>
          <p:cNvPr id="7" name="Image 0" descr="arrow-down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27817" y="2458907"/>
            <a:ext cx="165100" cy="2159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5975" y="2754182"/>
            <a:ext cx="3388783" cy="633280"/>
          </a:xfrm>
          <a:prstGeom prst="roundRect">
            <a:avLst>
              <a:gd name="adj" fmla="val 11531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956733" y="2882240"/>
            <a:ext cx="3200485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1100" dirty="0">
                <a:solidFill>
                  <a:srgbClr val="9FB2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dN/dt = launch − drag</a:t>
            </a:r>
            <a:endParaRPr lang="en-US" sz="1100" dirty="0"/>
          </a:p>
          <a:p>
            <a:pPr marL="0" indent="0" algn="l">
              <a:lnSpc>
                <a:spcPts val="1485"/>
              </a:lnSpc>
              <a:buNone/>
            </a:pPr>
            <a:r>
              <a:rPr lang="en-US" sz="1100" dirty="0">
                <a:solidFill>
                  <a:srgbClr val="9FB2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    + ½ · collisions</a:t>
            </a:r>
            <a:endParaRPr lang="en-US" sz="1100" dirty="0"/>
          </a:p>
        </p:txBody>
      </p:sp>
      <p:pic>
        <p:nvPicPr>
          <p:cNvPr id="10" name="Image 1" descr="arrow-down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27817" y="3466836"/>
            <a:ext cx="165100" cy="2159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5975" y="3762111"/>
            <a:ext cx="3388783" cy="652330"/>
          </a:xfrm>
          <a:prstGeom prst="roundRect">
            <a:avLst>
              <a:gd name="adj" fmla="val 11194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8"/>
          <p:cNvSpPr/>
          <p:nvPr/>
        </p:nvSpPr>
        <p:spPr>
          <a:xfrm>
            <a:off x="956733" y="3890169"/>
            <a:ext cx="3200485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Collisions (&amp;prop; N²) pour fragments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 into the bins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398433" y="1401499"/>
            <a:ext cx="3496987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MC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401608" y="1727200"/>
            <a:ext cx="3388783" cy="652330"/>
          </a:xfrm>
          <a:prstGeom prst="roundRect">
            <a:avLst>
              <a:gd name="adj" fmla="val 11194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1"/>
          <p:cNvSpPr/>
          <p:nvPr/>
        </p:nvSpPr>
        <p:spPr>
          <a:xfrm>
            <a:off x="4542367" y="1855260"/>
            <a:ext cx="3200485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object is an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individual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with its own orbit.</a:t>
            </a:r>
            <a:endParaRPr lang="en-US" sz="1200" dirty="0"/>
          </a:p>
        </p:txBody>
      </p:sp>
      <p:pic>
        <p:nvPicPr>
          <p:cNvPr id="16" name="Image 2" descr="arrow-down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13450" y="2458907"/>
            <a:ext cx="165100" cy="2159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401608" y="2754182"/>
            <a:ext cx="3388783" cy="454223"/>
          </a:xfrm>
          <a:prstGeom prst="roundRect">
            <a:avLst>
              <a:gd name="adj" fmla="val 16077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3"/>
          <p:cNvSpPr/>
          <p:nvPr/>
        </p:nvSpPr>
        <p:spPr>
          <a:xfrm>
            <a:off x="4542367" y="2882240"/>
            <a:ext cx="3200485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collision statistically within a shell.</a:t>
            </a:r>
            <a:endParaRPr lang="en-US" sz="1200" dirty="0"/>
          </a:p>
        </p:txBody>
      </p:sp>
      <p:pic>
        <p:nvPicPr>
          <p:cNvPr id="19" name="Image 3" descr="arrow-down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13450" y="3287781"/>
            <a:ext cx="165100" cy="2159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401608" y="3583056"/>
            <a:ext cx="3388783" cy="652330"/>
          </a:xfrm>
          <a:prstGeom prst="roundRect">
            <a:avLst>
              <a:gd name="adj" fmla="val 11194"/>
            </a:avLst>
          </a:prstGeom>
          <a:solidFill>
            <a:srgbClr val="211A08"/>
          </a:solidFill>
          <a:ln w="6350">
            <a:solidFill>
              <a:srgbClr val="5A4A2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5"/>
          <p:cNvSpPr/>
          <p:nvPr/>
        </p:nvSpPr>
        <p:spPr>
          <a:xfrm>
            <a:off x="4542367" y="3711113"/>
            <a:ext cx="3200485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+ Δv → fragments get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new orbits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across shells.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984067" y="1401499"/>
            <a:ext cx="3496987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7987242" y="1727200"/>
            <a:ext cx="3388783" cy="652330"/>
          </a:xfrm>
          <a:prstGeom prst="roundRect">
            <a:avLst>
              <a:gd name="adj" fmla="val 11194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 18"/>
          <p:cNvSpPr/>
          <p:nvPr/>
        </p:nvSpPr>
        <p:spPr>
          <a:xfrm>
            <a:off x="8128000" y="1855260"/>
            <a:ext cx="3200485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Propagate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its real position (GPU).</a:t>
            </a:r>
            <a:endParaRPr lang="en-US" sz="1200" dirty="0"/>
          </a:p>
        </p:txBody>
      </p:sp>
      <p:pic>
        <p:nvPicPr>
          <p:cNvPr id="25" name="Image 4" descr="arrow-down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599084" y="2458907"/>
            <a:ext cx="165100" cy="2159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87242" y="2754182"/>
            <a:ext cx="3388783" cy="454223"/>
          </a:xfrm>
          <a:prstGeom prst="roundRect">
            <a:avLst>
              <a:gd name="adj" fmla="val 16077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20"/>
          <p:cNvSpPr/>
          <p:nvPr/>
        </p:nvSpPr>
        <p:spPr>
          <a:xfrm>
            <a:off x="8128000" y="2882240"/>
            <a:ext cx="3200485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Bin positions into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km cubes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00" dirty="0"/>
          </a:p>
        </p:txBody>
      </p:sp>
      <p:pic>
        <p:nvPicPr>
          <p:cNvPr id="28" name="Image 5" descr="arrow-down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599084" y="3287781"/>
            <a:ext cx="165100" cy="2159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7987242" y="3583056"/>
            <a:ext cx="3388783" cy="652330"/>
          </a:xfrm>
          <a:prstGeom prst="roundRect">
            <a:avLst>
              <a:gd name="adj" fmla="val 11194"/>
            </a:avLst>
          </a:prstGeom>
          <a:solidFill>
            <a:srgbClr val="0A1C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0" name="Text 22"/>
          <p:cNvSpPr/>
          <p:nvPr/>
        </p:nvSpPr>
        <p:spPr>
          <a:xfrm>
            <a:off x="8128000" y="3711113"/>
            <a:ext cx="3200485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objects in the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cube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collide — at the true crossing.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~17,000 frags &gt; 1 cm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More large-on-large collisions →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~10⁴ fragments each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the runaway feeds itself.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1200–1500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lifetimes of decades to centuries, and exactly where several proposed mega-constellations intend to operate.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800–1000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Drag is small and the real debris belt lives here — home to dead giants like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Envisat (8 t, at 761 km)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It sits </a:t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near-critical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a barrel lingers for decades (~7× its low-altitude footprint).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Atmospheric drag clears debris in ~1–2 years. A barrel dumped low is a </a:t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transient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leaves almost no trace.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altitude!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4DA6FF"/>
                </a:solidFill>
                <a:latin typeface="Consolas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000" b="1">
                <a:solidFill>
                  <a:srgbClr val="E7EEF8"/>
                </a:solidFill>
                <a:latin typeface="Calibri"/>
              </a:rPr>
              <a:t>The nail cloud spreads, then rains out</a:t>
            </a:r>
          </a:p>
        </p:txBody>
      </p:sp>
      <p:pic>
        <p:nvPicPr>
          <p:cNvPr id="4" name="Picture 3" descr="fra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3587496" cy="3587496"/>
          </a:xfrm>
          <a:prstGeom prst="rect">
            <a:avLst/>
          </a:prstGeom>
        </p:spPr>
      </p:pic>
      <p:pic>
        <p:nvPicPr>
          <p:cNvPr id="5" name="Picture 4" descr="fram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728" y="1691640"/>
            <a:ext cx="3587496" cy="3587496"/>
          </a:xfrm>
          <a:prstGeom prst="rect">
            <a:avLst/>
          </a:prstGeom>
        </p:spPr>
      </p:pic>
      <p:pic>
        <p:nvPicPr>
          <p:cNvPr id="6" name="Picture 5" descr="fram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4256" y="1691640"/>
            <a:ext cx="3587496" cy="3587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1115568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Calibri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an orbit becomes unusable</a:t>
            </a:r>
            <a:endParaRPr lang="en-US" sz="2900" dirty="0"/>
          </a:p>
        </p:txBody>
      </p:sp>
      <p:pic>
        <p:nvPicPr>
          <p:cNvPr id="4" name="Picture 3" descr="altitude_persist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Calibri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9C6D8"/>
                </a:solidFill>
                <a:latin typeface="Calibri"/>
              </a:rPr>
              <a:t>The 800–1000 km belt is where collisions are most likely and the population is near-critical — it creeps upward on its own over decades. But satellites operate there today: the per-satellite hit rate is far below the ~2%/yr level at which operators abandon a band, and that walk-away line is crossed only under launch-driven runaway (next slide). Orange is the deeper problem: the hazard curve falls off higher up only because that shell is under-populated today, while persistence keeps rising — above ~1000 km drag is negligible, so debris there is effectively permanent, exactly where OneWeb (~1200 km) and proposed mega-constellations are heading.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Launch traffic into the 900 km belt is the real driver</a:t>
            </a:r>
            <a:endParaRPr lang="en-US" sz="2900" dirty="0"/>
          </a:p>
        </p:txBody>
      </p:sp>
      <p:pic>
        <p:nvPicPr>
          <p:cNvPr id="4" name="Image 0" descr="50-year debris growth versus launch rate; below about 190 per year the belt self-cleans, above it runs away, reaching over 400 times by 2000 per year"/>
          <p:cNvPicPr>
            <a:picLocks noChangeAspect="1"/>
          </p:cNvPicPr>
          <p:nvPr/>
        </p:nvPicPr>
        <p:blipFill>
          <a:blip r:embed="rId3"/>
          <a:srcRect t="-17" b="-17"/>
          <a:stretch/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1545171"/>
            <a:ext cx="2092960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50-yr growth ×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717800" y="1926171"/>
            <a:ext cx="340106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9A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RUNAWAY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765300" y="3507321"/>
            <a:ext cx="1701800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9FB2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×1 — no growth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082800" y="2269071"/>
            <a:ext cx="1447800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~190 / yr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critical rate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448800" y="2116671"/>
            <a:ext cx="1447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×421 at 2000/yr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651000" y="4593171"/>
            <a:ext cx="134673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797300" y="4593171"/>
            <a:ext cx="302286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70600" y="4593171"/>
            <a:ext cx="386093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356600" y="4593171"/>
            <a:ext cx="386093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1500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0642600" y="4593171"/>
            <a:ext cx="386093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76800" y="4834471"/>
            <a:ext cx="3068857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launches / yr into the 900 km band</a:t>
            </a:r>
            <a:endParaRPr lang="en-US" sz="115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5A52"/>
                </a:solidFill>
                <a:latin typeface="Calibri"/>
              </a:rPr>
              <a:t>Runaway = </a:t>
            </a:r>
            <a:r>
              <a:rPr sz="1400" b="1">
                <a:solidFill>
                  <a:srgbClr val="E7EEF8"/>
                </a:solidFill>
                <a:latin typeface="Calibri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B9C6D8"/>
                </a:solidFill>
                <a:latin typeface="Calibri"/>
              </a:rPr>
              <a:t>Collisions breed fragments faster than atmospheric drag can remove them, so more debris drives more collisions — a self-feeding cascade (Kessler syndrome). Below the critical rate (~190/yr) the belt self-cleans and 50-year growth holds at ×1; above it, growth runs away. The ×421 figure assumes all 2,000 launches/yr go into the single 900 km belt — a deliberate worst-case, not a realistic global traffic split. The driver is sustained launch traffic over decades, not any one object — a barrel of nails is nowhere on this axis.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runaway is self-limiting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223430"/>
            <a:ext cx="5149850" cy="2414984"/>
          </a:xfrm>
          <a:prstGeom prst="roundRect">
            <a:avLst>
              <a:gd name="adj" fmla="val 407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2478484"/>
            <a:ext cx="477892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Constant launch</a:t>
            </a:r>
            <a:endParaRPr lang="en-US" sz="1600" dirty="0"/>
          </a:p>
        </p:txBody>
      </p:sp>
      <p:pic>
        <p:nvPicPr>
          <p:cNvPr id="6" name="Image 0" descr="Rising exponential curv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2836602"/>
            <a:ext cx="2794000" cy="952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1033" y="3903402"/>
            <a:ext cx="4778925" cy="5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8.8M objects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by year 50 — an unphysical, unbounded pile-up.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26175" y="2223430"/>
            <a:ext cx="5149850" cy="2414984"/>
          </a:xfrm>
          <a:prstGeom prst="roundRect">
            <a:avLst>
              <a:gd name="adj" fmla="val 407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81233" y="2478484"/>
            <a:ext cx="477892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Responsive launch</a:t>
            </a:r>
            <a:endParaRPr lang="en-US" sz="1600" dirty="0"/>
          </a:p>
        </p:txBody>
      </p:sp>
      <p:pic>
        <p:nvPicPr>
          <p:cNvPr id="10" name="Image 1" descr="Curve that rises then plateau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81233" y="2836602"/>
            <a:ext cx="2794000" cy="9525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81233" y="3903402"/>
            <a:ext cx="4778925" cy="5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above ~2%/yr attrition → capped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1.7M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The band is abandoned, not filled.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rational operators, a barrel isn't a debris-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adder</a:t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it's a </a:t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band-denial weapon</a:t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driving operators out of a valuable shell sooner.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2,000+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of nails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~2,000 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 steel, into one shell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100+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rocket launches, all nails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More than a year of humanity's 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entire</a:t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launch mass, dedicated to dumping nails. By contrast, ordinary launch traffic tips a band for </a:t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free</a:t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and one ASAT strike matches thousands of barrels from a single missile.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in the 800–1000 km belt, 50 years</a:t>
            </a:r>
            <a:endParaRPr lang="en-US" sz="1300" dirty="0"/>
          </a:p>
        </p:txBody>
      </p:sp>
      <p:pic>
        <p:nvPicPr>
          <p:cNvPr id="6" name="Image 0" descr="Exponential debris runaway from 1 million to 66.7 million objects over 50 years"/>
          <p:cNvPicPr>
            <a:picLocks noChangeAspect="1"/>
          </p:cNvPicPr>
          <p:nvPr/>
        </p:nvPicPr>
        <p:blipFill>
          <a:blip r:embed="rId3"/>
          <a:srcRect l="-2778" r="-2778"/>
          <a:stretch/>
        </p:blipFill>
        <p:spPr>
          <a:xfrm>
            <a:off x="1032933" y="1983718"/>
            <a:ext cx="4572000" cy="2286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6933" y="4168118"/>
            <a:ext cx="218480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9FB2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88933" y="2136118"/>
            <a:ext cx="5461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66.7M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540933" y="4307818"/>
            <a:ext cx="134673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46133" y="4307818"/>
            <a:ext cx="469900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 yr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~4,800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65×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growth — belt unusable for decades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~2,000 </a:t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objects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year into the belt — mega-constellation scale, or a sustained ASAT campaign.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and catastrophic energy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large objects, not nails. One ASAT strike shatters a satellite into ~10⁴ fragments; the extreme is </a:t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that, sustained for decades.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nail has neither the mass nor the energy.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4DA6FF"/>
                </a:solidFill>
                <a:latin typeface="Consolas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000" b="1">
                <a:solidFill>
                  <a:srgbClr val="E7EEF8"/>
                </a:solidFill>
                <a:latin typeface="Calibri"/>
              </a:rPr>
              <a:t>A launch-driven runaway fills the belt</a:t>
            </a:r>
          </a:p>
        </p:txBody>
      </p:sp>
      <p:pic>
        <p:nvPicPr>
          <p:cNvPr id="4" name="Picture 3" descr="extre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5" name="Picture 4" descr="extrem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89320"/>
            <a:ext cx="1115568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Calibri"/>
              </a:rPr>
              <a:t>Sustained launch into the 800–1000 km belt drives ~65× debris growth over 50 years — the shell goes from sparse (left) to a near-opaque hazard band (right). Illustrative; densities not to scale.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and violent — but self-clearing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Collision hazard in a 500 km shell after a huge debris event</a:t>
            </a:r>
            <a:endParaRPr lang="en-US" sz="1250" dirty="0"/>
          </a:p>
        </p:txBody>
      </p:sp>
      <p:pic>
        <p:nvPicPr>
          <p:cNvPr id="6" name="Image 0" descr="Hazard spikes then decays back to baseline within about two year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0233" y="1936353"/>
            <a:ext cx="4445000" cy="2159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2233" y="2291953"/>
            <a:ext cx="72932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FF9A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unusable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3687233" y="2291953"/>
            <a:ext cx="7856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7EE6B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recovered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9433" y="3028553"/>
            <a:ext cx="533400" cy="1854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260"/>
              </a:lnSpc>
              <a:buNone/>
            </a:pPr>
            <a:r>
              <a:rPr lang="en-US" sz="900" dirty="0">
                <a:solidFill>
                  <a:srgbClr val="9FB2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no-go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490133" y="3879453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04533" y="3879453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18933" y="3879453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30233" y="3879453"/>
            <a:ext cx="35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 yr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~98,000 / yr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mission-kills at peak — a total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~0.5–2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 at 500 km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~10,000+ active satellites. Collision-avoidance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maneuvers are climbing steeply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tens of thousands per 6 months — with no traffic-management authority !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planned (Starlink, CHN…). The Kessler risk =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 few percent failing to deorbit is hundreds of dead objects.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575708"/>
            <a:ext cx="9810750" cy="701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debris belt is already near-critical. Launch and removal policy decide its fate — and against that, a barrel of nails is a rounding error.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calibration tells 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model is conservative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</a:t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 collisions ~7× (it dilutes objects over the full sphere; real orbits concentrate in latitude bands). The true belt is, if anything, more collisional.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Conjunction: geometry over rate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orbit-crossing geometry is faithful (cross-shell impacts included); its 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absolute</a:t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rate is qualitative pending finer particle resolution.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Box, discrete, and conjunction all bracket the same 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near-critical margin</a:t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and all agree the barrel is negligible.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— GP / TLE catalog &amp; SATCAT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Space-Track.org — SATCAT with RCS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2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5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(1978 — the debris belt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2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5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Outer Space Treaty (1967); PAROS / PPWT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Figures are outputs of the SpaceWars model, run on the live catalog on an RTX 5090 / CUDA.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