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60" r:id="rId6"/>
    <p:sldId id="259" r:id="rId5"/>
    <p:sldId id="257" r:id="rId3"/>
    <p:sldId id="258" r:id="rId4"/>
    <p:sldId id="261" r:id="rId7"/>
    <p:sldId id="262" r:id="rId8"/>
    <p:sldId id="264" r:id="rId10"/>
    <p:sldId id="265" r:id="rId11"/>
    <p:sldId id="278" r:id="rId13"/>
    <p:sldId id="270" r:id="rId17"/>
    <p:sldId id="266" r:id="rId12"/>
    <p:sldId id="267" r:id="rId14"/>
    <p:sldId id="268" r:id="rId15"/>
    <p:sldId id="269" r:id="rId16"/>
    <p:sldId id="271" r:id="rId18"/>
    <p:sldId id="279" r:id="rId19"/>
    <p:sldId id="272" r:id="rId20"/>
    <p:sldId id="273" r:id="rId21"/>
    <p:sldId id="280" r:id="rId30"/>
    <p:sldId id="275" r:id="rId22"/>
    <p:sldId id="276" r:id="rId23"/>
    <p:sldId id="277" r:id="rId2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61" d="100"/>
          <a:sy n="161" d="100"/>
        </p:scale>
        <p:origin x="2420" y="1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4.xml"/><Relationship Id="rId4" Type="http://schemas.openxmlformats.org/officeDocument/2006/relationships/slide" Target="slides/slide5.xml"/><Relationship Id="rId5" Type="http://schemas.openxmlformats.org/officeDocument/2006/relationships/slide" Target="slides/slide3.xml"/><Relationship Id="rId6" Type="http://schemas.openxmlformats.org/officeDocument/2006/relationships/slide" Target="slides/slide2.xml"/><Relationship Id="rId7" Type="http://schemas.openxmlformats.org/officeDocument/2006/relationships/slide" Target="slides/slide6.xml"/><Relationship Id="rId8"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2.xml"/><Relationship Id="rId13" Type="http://schemas.openxmlformats.org/officeDocument/2006/relationships/slide" Target="slides/slide10.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1.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89406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image" Target="../media/image46.png"/><Relationship Id="rId8" Type="http://schemas.openxmlformats.org/officeDocument/2006/relationships/image" Target="../media/image5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8.png"/><Relationship Id="rId4" Type="http://schemas.openxmlformats.org/officeDocument/2006/relationships/image" Target="../media/image32.png"/><Relationship Id="rId5" Type="http://schemas.openxmlformats.org/officeDocument/2006/relationships/image" Target="../media/image42.png"/><Relationship Id="rId6" Type="http://schemas.openxmlformats.org/officeDocument/2006/relationships/image" Target="../media/image47.png"/><Relationship Id="rId7" Type="http://schemas.openxmlformats.org/officeDocument/2006/relationships/image" Target="../media/image59.png"/><Relationship Id="rId8"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33.png"/><Relationship Id="rId6" Type="http://schemas.openxmlformats.org/officeDocument/2006/relationships/image" Target="../media/image43.png"/><Relationship Id="rId7" Type="http://schemas.openxmlformats.org/officeDocument/2006/relationships/image" Target="../media/image49.png"/><Relationship Id="rId8" Type="http://schemas.openxmlformats.org/officeDocument/2006/relationships/image" Target="../media/image61.png"/><Relationship Id="rId9"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1.png"/><Relationship Id="rId4" Type="http://schemas.openxmlformats.org/officeDocument/2006/relationships/image" Target="../media/image34.png"/><Relationship Id="rId5" Type="http://schemas.openxmlformats.org/officeDocument/2006/relationships/image" Target="../media/image38.png"/><Relationship Id="rId6" Type="http://schemas.openxmlformats.org/officeDocument/2006/relationships/image" Target="../media/image44.png"/><Relationship Id="rId7" Type="http://schemas.openxmlformats.org/officeDocument/2006/relationships/image" Target="../media/image50.png"/><Relationship Id="rId8" Type="http://schemas.openxmlformats.org/officeDocument/2006/relationships/image" Target="../media/image62.png"/><Relationship Id="rId9"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40.png"/><Relationship Id="rId7" Type="http://schemas.openxmlformats.org/officeDocument/2006/relationships/image" Target="../media/image41.png"/><Relationship Id="rId8" Type="http://schemas.openxmlformats.org/officeDocument/2006/relationships/image" Target="../media/image45.png"/><Relationship Id="rId9" Type="http://schemas.openxmlformats.org/officeDocument/2006/relationships/image" Target="../media/image51.png"/><Relationship Id="rId10" Type="http://schemas.openxmlformats.org/officeDocument/2006/relationships/image" Target="../media/image56.png"/><Relationship Id="rId11" Type="http://schemas.openxmlformats.org/officeDocument/2006/relationships/image" Target="../media/image57.png"/><Relationship Id="rId12" Type="http://schemas.openxmlformats.org/officeDocument/2006/relationships/image" Target="../media/image6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4.png"/><Relationship Id="rId4" Type="http://schemas.openxmlformats.org/officeDocument/2006/relationships/image" Target="../media/image37.png"/><Relationship Id="rId5" Type="http://schemas.openxmlformats.org/officeDocument/2006/relationships/image" Target="../media/image39.png"/><Relationship Id="rId6" Type="http://schemas.openxmlformats.org/officeDocument/2006/relationships/image" Target="../media/image52.png"/><Relationship Id="rId7" Type="http://schemas.openxmlformats.org/officeDocument/2006/relationships/image" Target="../media/image6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8.png"/><Relationship Id="rId4" Type="http://schemas.openxmlformats.org/officeDocument/2006/relationships/image" Target="../media/image32.png"/><Relationship Id="rId5" Type="http://schemas.openxmlformats.org/officeDocument/2006/relationships/image" Target="../media/image42.png"/><Relationship Id="rId6" Type="http://schemas.openxmlformats.org/officeDocument/2006/relationships/image" Target="../media/image60.png"/><Relationship Id="rId7" Type="http://schemas.openxmlformats.org/officeDocument/2006/relationships/image" Target="../media/image6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03A"/>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10203A"/>
              </a:gs>
              <a:gs pos="60000">
                <a:srgbClr val="06080E"/>
              </a:gs>
            </a:gsLst>
            <a:path path="circle">
              <a:fillToRect l="78000" t="82000" r="22000" b="18000"/>
            </a:path>
          </a:gradFill>
          <a:ln/>
        </p:spPr>
        <p:txBody>
          <a:bodyPr/>
          <a:lstStyle/>
          <a:p>
            <a:endParaRPr lang="en-CH"/>
          </a:p>
        </p:txBody>
      </p:sp>
      <p:pic>
        <p:nvPicPr>
          <p:cNvPr id="3" name="Image 0" descr="Earth with orbiting debris"/>
          <p:cNvPicPr>
            <a:picLocks noChangeAspect="1"/>
          </p:cNvPicPr>
          <p:nvPr/>
        </p:nvPicPr>
        <p:blipFill>
          <a:blip r:embed="rId3">
            <a:alphaModFix amt="90000"/>
          </a:blip>
          <a:srcRect/>
          <a:stretch/>
        </p:blipFill>
        <p:spPr>
          <a:xfrm>
            <a:off x="0" y="0"/>
            <a:ext cx="12192000" cy="6858000"/>
          </a:xfrm>
          <a:prstGeom prst="rect">
            <a:avLst/>
          </a:prstGeom>
        </p:spPr>
      </p:pic>
      <p:sp>
        <p:nvSpPr>
          <p:cNvPr id="4" name="Text 1"/>
          <p:cNvSpPr/>
          <p:nvPr/>
        </p:nvSpPr>
        <p:spPr>
          <a:xfrm>
            <a:off x="812800" y="812800"/>
            <a:ext cx="10883392" cy="256514"/>
          </a:xfrm>
          <a:prstGeom prst="rect">
            <a:avLst/>
          </a:prstGeom>
          <a:noFill/>
          <a:ln/>
        </p:spPr>
        <p:txBody>
          <a:bodyPr wrap="square" lIns="0" tIns="0" rIns="0" bIns="0" rtlCol="0" anchor="t">
            <a:normAutofit/>
          </a:bodyPr>
          <a:lstStyle/>
          <a:p>
            <a:pPr marL="0" indent="0" algn="l">
              <a:lnSpc>
                <a:spcPts val="1820"/>
              </a:lnSpc>
              <a:buNone/>
            </a:pPr>
            <a:r>
              <a:rPr lang="en-US" sz="1300" kern="0" spc="300" dirty="0">
                <a:solidFill>
                  <a:srgbClr val="4DA6FF"/>
                </a:solidFill>
                <a:latin typeface="IBM Plex Mono" pitchFamily="34" charset="0"/>
                <a:ea typeface="IBM Plex Mono" pitchFamily="34" charset="-122"/>
                <a:cs typeface="IBM Plex Mono" pitchFamily="34" charset="-120"/>
              </a:rPr>
              <a:t>ORBITAL DEBRIS STUDY</a:t>
            </a:r>
            <a:endParaRPr lang="en-US" sz="1300" dirty="0"/>
          </a:p>
        </p:txBody>
      </p:sp>
      <p:sp>
        <p:nvSpPr>
          <p:cNvPr id="5" name="Text 2"/>
          <p:cNvSpPr/>
          <p:nvPr/>
        </p:nvSpPr>
        <p:spPr>
          <a:xfrm>
            <a:off x="812800" y="2070431"/>
            <a:ext cx="8502650" cy="1553898"/>
          </a:xfrm>
          <a:prstGeom prst="rect">
            <a:avLst/>
          </a:prstGeom>
          <a:noFill/>
          <a:ln/>
        </p:spPr>
        <p:txBody>
          <a:bodyPr wrap="square" lIns="0" tIns="0" rIns="0" bIns="0" rtlCol="0" anchor="t">
            <a:normAutofit/>
          </a:bodyPr>
          <a:lstStyle/>
          <a:p>
            <a:pPr marL="0" indent="0" algn="l">
              <a:lnSpc>
                <a:spcPts val="6018"/>
              </a:lnSpc>
              <a:buNone/>
            </a:pPr>
            <a:r>
              <a:rPr lang="en-US" sz="5900" b="1" dirty="0">
                <a:solidFill>
                  <a:srgbClr val="E7EEF8"/>
                </a:solidFill>
                <a:latin typeface="IBM Plex Sans" pitchFamily="34" charset="0"/>
                <a:ea typeface="IBM Plex Sans" pitchFamily="34" charset="-122"/>
                <a:cs typeface="IBM Plex Sans" pitchFamily="34" charset="-120"/>
              </a:rPr>
              <a:t>A Barrel of Nails</a:t>
            </a:r>
            <a:endParaRPr lang="en-US" sz="5900" dirty="0"/>
          </a:p>
          <a:p>
            <a:pPr marL="0" indent="0" algn="l">
              <a:lnSpc>
                <a:spcPts val="6018"/>
              </a:lnSpc>
              <a:buNone/>
            </a:pPr>
            <a:r>
              <a:rPr lang="en-US" sz="5900" b="1" dirty="0">
                <a:solidFill>
                  <a:srgbClr val="E7EEF8"/>
                </a:solidFill>
                <a:latin typeface="IBM Plex Sans" pitchFamily="34" charset="0"/>
                <a:ea typeface="IBM Plex Sans" pitchFamily="34" charset="-122"/>
                <a:cs typeface="IBM Plex Sans" pitchFamily="34" charset="-120"/>
              </a:rPr>
              <a:t>in Low-Earth Orbit</a:t>
            </a:r>
            <a:endParaRPr lang="en-US" sz="5900" dirty="0"/>
          </a:p>
        </p:txBody>
      </p:sp>
      <p:sp>
        <p:nvSpPr>
          <p:cNvPr id="6" name="Text 3"/>
          <p:cNvSpPr/>
          <p:nvPr/>
        </p:nvSpPr>
        <p:spPr>
          <a:xfrm>
            <a:off x="812800" y="3776729"/>
            <a:ext cx="7717790" cy="1054100"/>
          </a:xfrm>
          <a:prstGeom prst="rect">
            <a:avLst/>
          </a:prstGeom>
          <a:noFill/>
          <a:ln/>
        </p:spPr>
        <p:txBody>
          <a:bodyPr wrap="square" lIns="0" tIns="0" rIns="0" bIns="0" rtlCol="0" anchor="t">
            <a:normAutofit/>
          </a:bodyPr>
          <a:lstStyle/>
          <a:p>
            <a:pPr marL="0" indent="0" algn="l">
              <a:lnSpc>
                <a:spcPts val="2700"/>
              </a:lnSpc>
              <a:buNone/>
            </a:pPr>
            <a:r>
              <a:rPr lang="en-US" sz="2000" dirty="0">
                <a:solidFill>
                  <a:srgbClr val="9FB2CC"/>
                </a:solidFill>
                <a:latin typeface="IBM Plex Sans" pitchFamily="34" charset="0"/>
                <a:ea typeface="IBM Plex Sans" pitchFamily="34" charset="-122"/>
                <a:cs typeface="IBM Plex Sans" pitchFamily="34" charset="-120"/>
              </a:rPr>
              <a:t>Could it trigger Kessler syndrome and render LEO unusable? A data-grounded simulation that answers with numbers, not intuition.</a:t>
            </a:r>
            <a:endParaRPr lang="en-US" sz="2000" dirty="0"/>
          </a:p>
        </p:txBody>
      </p:sp>
      <p:sp>
        <p:nvSpPr>
          <p:cNvPr id="7" name="Text 4"/>
          <p:cNvSpPr/>
          <p:nvPr/>
        </p:nvSpPr>
        <p:spPr>
          <a:xfrm>
            <a:off x="812800" y="58318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647A99"/>
                </a:solidFill>
                <a:latin typeface="IBM Plex Mono" pitchFamily="34" charset="0"/>
                <a:ea typeface="IBM Plex Mono" pitchFamily="34" charset="-122"/>
                <a:cs typeface="IBM Plex Mono" pitchFamily="34" charset="-120"/>
              </a:rPr>
              <a:t>Real catalog  ·  CUDA propagation  ·  NASA breakup model  ·  three cascade engines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5">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7993"/>
          </a:xfrm>
          <a:prstGeom prst="rect">
            <a:avLst/>
          </a:prstGeom>
          <a:noFill/>
          <a:ln/>
        </p:spPr>
        <p:txBody>
          <a:bodyPr wrap="square" lIns="0" tIns="0" rIns="0" bIns="0" rtlCol="0" anchor="t">
            <a:normAutofit/>
          </a:bodyPr>
          <a:lstStyle/>
          <a:p>
            <a:pPr marL="0" indent="0" algn="l">
              <a:lnSpc>
                <a:spcPts val="1675"/>
              </a:lnSpc>
              <a:buNone/>
            </a:pPr>
            <a:r>
              <a:rPr lang="en-US" sz="1196" kern="0" spc="250" dirty="0">
                <a:solidFill>
                  <a:srgbClr val="4DA6FF"/>
                </a:solidFill>
                <a:latin typeface="IBM Plex Mono" pitchFamily="34" charset="0"/>
                <a:ea typeface="IBM Plex Mono" pitchFamily="34" charset="-122"/>
                <a:cs typeface="IBM Plex Mono" pitchFamily="34" charset="-120"/>
              </a:rPr>
              <a:t>THE DEBATE</a:t>
            </a:r>
            <a:endParaRPr lang="en-US" sz="1196" dirty="0"/>
          </a:p>
        </p:txBody>
      </p:sp>
      <p:sp>
        <p:nvSpPr>
          <p:cNvPr id="3" name="Text 1"/>
          <p:cNvSpPr/>
          <p:nvPr/>
        </p:nvSpPr>
        <p:spPr>
          <a:xfrm>
            <a:off x="812800" y="1114295"/>
            <a:ext cx="10883392" cy="530357"/>
          </a:xfrm>
          <a:prstGeom prst="rect">
            <a:avLst/>
          </a:prstGeom>
          <a:noFill/>
          <a:ln/>
        </p:spPr>
        <p:txBody>
          <a:bodyPr wrap="square" lIns="0" tIns="0" rIns="0" bIns="0" rtlCol="0" anchor="t">
            <a:normAutofit/>
          </a:bodyPr>
          <a:lstStyle/>
          <a:p>
            <a:pPr marL="0" indent="0" algn="l">
              <a:lnSpc>
                <a:spcPts val="3990"/>
              </a:lnSpc>
              <a:buNone/>
            </a:pPr>
            <a:r>
              <a:rPr lang="en-US" sz="3800" b="1" dirty="0">
                <a:solidFill>
                  <a:srgbClr val="E7EEF8"/>
                </a:solidFill>
                <a:latin typeface="IBM Plex Sans" pitchFamily="34" charset="0"/>
                <a:ea typeface="IBM Plex Sans" pitchFamily="34" charset="-122"/>
                <a:cs typeface="IBM Plex Sans" pitchFamily="34" charset="-120"/>
              </a:rPr>
              <a:t>Two loud claims — both wrong</a:t>
            </a:r>
            <a:endParaRPr lang="en-US" sz="3800" dirty="0"/>
          </a:p>
        </p:txBody>
      </p:sp>
      <p:sp>
        <p:nvSpPr>
          <p:cNvPr id="4" name="Shape 2"/>
          <p:cNvSpPr/>
          <p:nvPr/>
        </p:nvSpPr>
        <p:spPr>
          <a:xfrm>
            <a:off x="815975" y="2593975"/>
            <a:ext cx="5149850" cy="2184400"/>
          </a:xfrm>
          <a:prstGeom prst="roundRect">
            <a:avLst>
              <a:gd name="adj" fmla="val 5087"/>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121833" y="2899835"/>
            <a:ext cx="4674277" cy="220927"/>
          </a:xfrm>
          <a:prstGeom prst="rect">
            <a:avLst/>
          </a:prstGeom>
          <a:noFill/>
          <a:ln/>
        </p:spPr>
        <p:txBody>
          <a:bodyPr wrap="square" lIns="0" tIns="0" rIns="0" bIns="0" rtlCol="0" anchor="t">
            <a:normAutofit/>
          </a:bodyPr>
          <a:lstStyle/>
          <a:p>
            <a:pPr marL="0" indent="0" algn="l">
              <a:lnSpc>
                <a:spcPts val="1540"/>
              </a:lnSpc>
              <a:buNone/>
            </a:pPr>
            <a:r>
              <a:rPr lang="en-US" sz="1100" kern="0" spc="100" dirty="0">
                <a:solidFill>
                  <a:srgbClr val="FF5A52"/>
                </a:solidFill>
                <a:latin typeface="IBM Plex Mono" pitchFamily="34" charset="0"/>
                <a:ea typeface="IBM Plex Mono" pitchFamily="34" charset="-122"/>
                <a:cs typeface="IBM Plex Mono" pitchFamily="34" charset="-120"/>
              </a:rPr>
              <a:t>CLAIM A — FALSE</a:t>
            </a:r>
            <a:endParaRPr lang="en-US" sz="1100" dirty="0"/>
          </a:p>
        </p:txBody>
      </p:sp>
      <p:sp>
        <p:nvSpPr>
          <p:cNvPr id="6" name="Text 4"/>
          <p:cNvSpPr/>
          <p:nvPr/>
        </p:nvSpPr>
        <p:spPr>
          <a:xfrm>
            <a:off x="1121833" y="3222361"/>
            <a:ext cx="4674277" cy="346670"/>
          </a:xfrm>
          <a:prstGeom prst="rect">
            <a:avLst/>
          </a:prstGeom>
          <a:noFill/>
          <a:ln/>
        </p:spPr>
        <p:txBody>
          <a:bodyPr wrap="square" lIns="0" tIns="0" rIns="0" bIns="0" rtlCol="0" anchor="t">
            <a:normAutofit/>
          </a:bodyPr>
          <a:lstStyle/>
          <a:p>
            <a:pPr marL="0" indent="0" algn="l">
              <a:lnSpc>
                <a:spcPts val="2530"/>
              </a:lnSpc>
              <a:buNone/>
            </a:pPr>
            <a:r>
              <a:rPr lang="en-US" sz="2300" b="1" dirty="0">
                <a:solidFill>
                  <a:srgbClr val="E7EEF8"/>
                </a:solidFill>
                <a:latin typeface="IBM Plex Sans" pitchFamily="34" charset="0"/>
                <a:ea typeface="IBM Plex Sans" pitchFamily="34" charset="-122"/>
                <a:cs typeface="IBM Plex Sans" pitchFamily="34" charset="-120"/>
              </a:rPr>
              <a:t>“It will do no harm”</a:t>
            </a:r>
            <a:endParaRPr lang="en-US" sz="2300" dirty="0"/>
          </a:p>
        </p:txBody>
      </p:sp>
      <p:sp>
        <p:nvSpPr>
          <p:cNvPr id="7" name="Text 5"/>
          <p:cNvSpPr/>
          <p:nvPr/>
        </p:nvSpPr>
        <p:spPr>
          <a:xfrm>
            <a:off x="1121833" y="3670632"/>
            <a:ext cx="4674277" cy="8255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9FB2CC"/>
                </a:solidFill>
                <a:latin typeface="IBM Plex Sans" pitchFamily="34" charset="0"/>
                <a:ea typeface="IBM Plex Sans" pitchFamily="34" charset="-122"/>
                <a:cs typeface="IBM Plex Sans" pitchFamily="34" charset="-120"/>
              </a:rPr>
              <a:t>Every nail is a lethal, satellite-killing projectile, and a barrel adds a persistent debris population. Harmless it is not.</a:t>
            </a:r>
            <a:endParaRPr lang="en-US" sz="1500" dirty="0"/>
          </a:p>
        </p:txBody>
      </p:sp>
      <p:sp>
        <p:nvSpPr>
          <p:cNvPr id="8" name="Shape 6"/>
          <p:cNvSpPr/>
          <p:nvPr/>
        </p:nvSpPr>
        <p:spPr>
          <a:xfrm>
            <a:off x="6226175" y="2593975"/>
            <a:ext cx="5149850" cy="2184400"/>
          </a:xfrm>
          <a:prstGeom prst="roundRect">
            <a:avLst>
              <a:gd name="adj" fmla="val 5087"/>
            </a:avLst>
          </a:prstGeom>
          <a:solidFill>
            <a:srgbClr val="0D1420"/>
          </a:solidFill>
          <a:ln w="6350">
            <a:solidFill>
              <a:srgbClr val="2A3A52"/>
            </a:solidFill>
            <a:prstDash val="solid"/>
          </a:ln>
        </p:spPr>
        <p:txBody>
          <a:bodyPr/>
          <a:lstStyle/>
          <a:p>
            <a:endParaRPr lang="en-CH"/>
          </a:p>
        </p:txBody>
      </p:sp>
      <p:sp>
        <p:nvSpPr>
          <p:cNvPr id="9" name="Text 7"/>
          <p:cNvSpPr/>
          <p:nvPr/>
        </p:nvSpPr>
        <p:spPr>
          <a:xfrm>
            <a:off x="6532034" y="2899835"/>
            <a:ext cx="4674277" cy="220927"/>
          </a:xfrm>
          <a:prstGeom prst="rect">
            <a:avLst/>
          </a:prstGeom>
          <a:noFill/>
          <a:ln/>
        </p:spPr>
        <p:txBody>
          <a:bodyPr wrap="square" lIns="0" tIns="0" rIns="0" bIns="0" rtlCol="0" anchor="t">
            <a:normAutofit/>
          </a:bodyPr>
          <a:lstStyle/>
          <a:p>
            <a:pPr marL="0" indent="0" algn="l">
              <a:lnSpc>
                <a:spcPts val="1540"/>
              </a:lnSpc>
              <a:buNone/>
            </a:pPr>
            <a:r>
              <a:rPr lang="en-US" sz="1100" kern="0" spc="100" dirty="0">
                <a:solidFill>
                  <a:srgbClr val="FF5A52"/>
                </a:solidFill>
                <a:latin typeface="IBM Plex Mono" pitchFamily="34" charset="0"/>
                <a:ea typeface="IBM Plex Mono" pitchFamily="34" charset="-122"/>
                <a:cs typeface="IBM Plex Mono" pitchFamily="34" charset="-120"/>
              </a:rPr>
              <a:t>CLAIM B — FALSE</a:t>
            </a:r>
            <a:endParaRPr lang="en-US" sz="1100" dirty="0"/>
          </a:p>
        </p:txBody>
      </p:sp>
      <p:sp>
        <p:nvSpPr>
          <p:cNvPr id="10" name="Text 8"/>
          <p:cNvSpPr/>
          <p:nvPr/>
        </p:nvSpPr>
        <p:spPr>
          <a:xfrm>
            <a:off x="6532034" y="3222361"/>
            <a:ext cx="4674277" cy="346670"/>
          </a:xfrm>
          <a:prstGeom prst="rect">
            <a:avLst/>
          </a:prstGeom>
          <a:noFill/>
          <a:ln/>
        </p:spPr>
        <p:txBody>
          <a:bodyPr wrap="square" lIns="0" tIns="0" rIns="0" bIns="0" rtlCol="0" anchor="t">
            <a:normAutofit/>
          </a:bodyPr>
          <a:lstStyle/>
          <a:p>
            <a:pPr marL="0" indent="0" algn="l">
              <a:lnSpc>
                <a:spcPts val="2530"/>
              </a:lnSpc>
              <a:buNone/>
            </a:pPr>
            <a:r>
              <a:rPr lang="en-US" sz="2300" b="1" dirty="0">
                <a:solidFill>
                  <a:srgbClr val="E7EEF8"/>
                </a:solidFill>
                <a:latin typeface="IBM Plex Sans" pitchFamily="34" charset="0"/>
                <a:ea typeface="IBM Plex Sans" pitchFamily="34" charset="-122"/>
                <a:cs typeface="IBM Plex Sans" pitchFamily="34" charset="-120"/>
              </a:rPr>
              <a:t>“It renders LEO unusable”</a:t>
            </a:r>
            <a:endParaRPr lang="en-US" sz="2300" dirty="0"/>
          </a:p>
        </p:txBody>
      </p:sp>
      <p:sp>
        <p:nvSpPr>
          <p:cNvPr id="11" name="Text 9"/>
          <p:cNvSpPr/>
          <p:nvPr/>
        </p:nvSpPr>
        <p:spPr>
          <a:xfrm>
            <a:off x="6532034" y="3670632"/>
            <a:ext cx="4674277" cy="8255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9FB2CC"/>
                </a:solidFill>
                <a:latin typeface="IBM Plex Sans" pitchFamily="34" charset="0"/>
                <a:ea typeface="IBM Plex Sans" pitchFamily="34" charset="-122"/>
                <a:cs typeface="IBM Plex Sans" pitchFamily="34" charset="-120"/>
              </a:rPr>
              <a:t>One barrel never triggers a runaway. Low down, drag clears it in a couple of years; at 900 km, no number of barrels doubles the ≥10 cm belt.</a:t>
            </a:r>
            <a:endParaRPr lang="en-US" sz="1500" dirty="0"/>
          </a:p>
        </p:txBody>
      </p:sp>
      <p:sp>
        <p:nvSpPr>
          <p:cNvPr id="12" name="Text 10"/>
          <p:cNvSpPr/>
          <p:nvPr/>
        </p:nvSpPr>
        <p:spPr>
          <a:xfrm>
            <a:off x="812800" y="5753100"/>
            <a:ext cx="10883392" cy="316839"/>
          </a:xfrm>
          <a:prstGeom prst="rect">
            <a:avLst/>
          </a:prstGeom>
          <a:noFill/>
          <a:ln/>
        </p:spPr>
        <p:txBody>
          <a:bodyPr wrap="square" lIns="0" tIns="0" rIns="0" bIns="0" rtlCol="0" anchor="t">
            <a:normAutofit/>
          </a:bodyPr>
          <a:lstStyle/>
          <a:p>
            <a:pPr marL="0" indent="0" algn="l">
              <a:lnSpc>
                <a:spcPts val="2295"/>
              </a:lnSpc>
              <a:buNone/>
            </a:pPr>
            <a:r>
              <a:rPr lang="en-US" sz="1700" dirty="0">
                <a:solidFill>
                  <a:srgbClr val="FFCF5C"/>
                </a:solidFill>
                <a:latin typeface="IBM Plex Sans" pitchFamily="34" charset="0"/>
                <a:ea typeface="IBM Plex Sans" pitchFamily="34" charset="-122"/>
                <a:cs typeface="IBM Plex Sans" pitchFamily="34" charset="-120"/>
              </a:rPr>
              <a:t>The truth is quantitative</a:t>
            </a:r>
            <a:r>
              <a:rPr lang="en-US" sz="1700" dirty="0">
                <a:solidFill>
                  <a:srgbClr val="E7EEF8"/>
                </a:solidFill>
                <a:latin typeface="IBM Plex Sans" pitchFamily="34" charset="0"/>
                <a:ea typeface="IBM Plex Sans" pitchFamily="34" charset="-122"/>
                <a:cs typeface="IBM Plex Sans" pitchFamily="34" charset="-120"/>
              </a:rPr>
              <a:t> — and, as it turns out, it depends almost entirely on </a:t>
            </a:r>
            <a:r>
              <a:rPr lang="en-US" sz="1700" b="1" dirty="0">
                <a:solidFill>
                  <a:srgbClr val="E7EEF8"/>
                </a:solidFill>
                <a:latin typeface="IBM Plex Sans" pitchFamily="34" charset="0"/>
                <a:ea typeface="IBM Plex Sans" pitchFamily="34" charset="-122"/>
                <a:cs typeface="IBM Plex Sans" pitchFamily="34" charset="-120"/>
              </a:rPr>
              <a:t>altitude</a:t>
            </a:r>
            <a:r>
              <a:rPr lang="en-US" sz="1700" dirty="0">
                <a:solidFill>
                  <a:srgbClr val="E7EEF8"/>
                </a:solidFill>
                <a:latin typeface="IBM Plex Sans" pitchFamily="34" charset="0"/>
                <a:ea typeface="IBM Plex Sans" pitchFamily="34" charset="-122"/>
                <a:cs typeface="IBM Plex Sans" pitchFamily="34" charset="-120"/>
              </a:rPr>
              <a:t>.</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6350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SCENARIO</a:t>
            </a:r>
            <a:endParaRPr lang="en-US" sz="1200" dirty="0"/>
          </a:p>
        </p:txBody>
      </p:sp>
      <p:sp>
        <p:nvSpPr>
          <p:cNvPr id="3" name="Text 1"/>
          <p:cNvSpPr/>
          <p:nvPr/>
        </p:nvSpPr>
        <p:spPr>
          <a:xfrm>
            <a:off x="812800" y="911820"/>
            <a:ext cx="10883392" cy="417777"/>
          </a:xfrm>
          <a:prstGeom prst="rect">
            <a:avLst/>
          </a:prstGeom>
          <a:noFill/>
          <a:ln/>
        </p:spPr>
        <p:txBody>
          <a:bodyPr wrap="square" lIns="0" tIns="0" rIns="0" bIns="0" rtlCol="0" anchor="t">
            <a:normAutofit/>
          </a:bodyPr>
          <a:lstStyle/>
          <a:p>
            <a:pPr marL="0" indent="0" algn="l">
              <a:lnSpc>
                <a:spcPts val="3090"/>
              </a:lnSpc>
              <a:buNone/>
            </a:pPr>
            <a:r>
              <a:rPr lang="en-US" sz="3000" b="1" dirty="0">
                <a:solidFill>
                  <a:srgbClr val="E7EEF8"/>
                </a:solidFill>
                <a:latin typeface="IBM Plex Sans" pitchFamily="34" charset="0"/>
                <a:ea typeface="IBM Plex Sans" pitchFamily="34" charset="-122"/>
                <a:cs typeface="IBM Plex Sans" pitchFamily="34" charset="-120"/>
              </a:rPr>
              <a:t>One barrel of nails, defined</a:t>
            </a:r>
            <a:endParaRPr lang="en-US" sz="3000" dirty="0"/>
          </a:p>
        </p:txBody>
      </p:sp>
      <p:sp>
        <p:nvSpPr>
          <p:cNvPr id="4" name="Shape 2"/>
          <p:cNvSpPr/>
          <p:nvPr/>
        </p:nvSpPr>
        <p:spPr>
          <a:xfrm>
            <a:off x="815975" y="1510573"/>
            <a:ext cx="5162550" cy="2754445"/>
          </a:xfrm>
          <a:prstGeom prst="roundRect">
            <a:avLst>
              <a:gd name="adj" fmla="val 3573"/>
            </a:avLst>
          </a:prstGeom>
          <a:solidFill>
            <a:srgbClr val="06080E"/>
          </a:solidFill>
          <a:ln w="6350">
            <a:solidFill>
              <a:srgbClr val="2A3A52"/>
            </a:solidFill>
            <a:prstDash val="solid"/>
          </a:ln>
        </p:spPr>
        <p:txBody>
          <a:bodyPr/>
          <a:lstStyle/>
          <a:p>
            <a:endParaRPr lang="en-CH"/>
          </a:p>
        </p:txBody>
      </p:sp>
      <p:pic>
        <p:nvPicPr>
          <p:cNvPr id="5" name="Image 0" descr="A nail"/>
          <p:cNvPicPr>
            <a:picLocks noChangeAspect="1"/>
          </p:cNvPicPr>
          <p:nvPr/>
        </p:nvPicPr>
        <p:blipFill>
          <a:blip r:embed="rId3"/>
          <a:srcRect/>
          <a:stretch/>
        </p:blipFill>
        <p:spPr>
          <a:xfrm>
            <a:off x="1058333" y="1752932"/>
            <a:ext cx="1270000" cy="279400"/>
          </a:xfrm>
          <a:prstGeom prst="rect">
            <a:avLst/>
          </a:prstGeom>
        </p:spPr>
      </p:pic>
      <p:sp>
        <p:nvSpPr>
          <p:cNvPr id="6" name="Text 3"/>
          <p:cNvSpPr/>
          <p:nvPr/>
        </p:nvSpPr>
        <p:spPr>
          <a:xfrm>
            <a:off x="2442633" y="1770724"/>
            <a:ext cx="1343157"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E7EEF8"/>
                </a:solidFill>
                <a:latin typeface="IBM Plex Sans" pitchFamily="34" charset="0"/>
                <a:ea typeface="IBM Plex Sans" pitchFamily="34" charset="-122"/>
                <a:cs typeface="IBM Plex Sans" pitchFamily="34" charset="-120"/>
              </a:rPr>
              <a:t>The projectile</a:t>
            </a:r>
            <a:endParaRPr lang="en-US" sz="1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1058333" y="2146632"/>
          <a:ext cx="4677834" cy="1863330"/>
        </p:xfrm>
        <a:graphic>
          <a:graphicData uri="http://schemas.openxmlformats.org/drawingml/2006/table">
            <a:tbl>
              <a:tblPr/>
              <a:tblGrid>
                <a:gridCol w="2338917">
                  <a:extLst>
                    <a:ext uri="{9D8B030D-6E8A-4147-A177-3AD203B41FA5}">
                      <a16:colId xmlns:a16="http://schemas.microsoft.com/office/drawing/2014/main" val="20000"/>
                    </a:ext>
                  </a:extLst>
                </a:gridCol>
                <a:gridCol w="2338917">
                  <a:extLst>
                    <a:ext uri="{9D8B030D-6E8A-4147-A177-3AD203B41FA5}">
                      <a16:colId xmlns:a16="http://schemas.microsoft.com/office/drawing/2014/main" val="20001"/>
                    </a:ext>
                  </a:extLst>
                </a:gridCol>
              </a:tblGrid>
              <a:tr h="372666">
                <a:tc>
                  <a:txBody>
                    <a:bodyPr/>
                    <a:lstStyle/>
                    <a:p>
                      <a:pPr marL="0" indent="0">
                        <a:lnSpc>
                          <a:spcPts val="1890"/>
                        </a:lnSpc>
                        <a:buNone/>
                      </a:pPr>
                      <a:r>
                        <a:rPr lang="en-US" sz="1350" dirty="0">
                          <a:solidFill>
                            <a:srgbClr val="9FB2CC"/>
                          </a:solidFill>
                          <a:latin typeface="IBM Plex Sans" pitchFamily="34" charset="0"/>
                          <a:ea typeface="IBM Plex Sans" pitchFamily="34" charset="-122"/>
                          <a:cs typeface="IBM Plex Sans" pitchFamily="34" charset="-120"/>
                        </a:rPr>
                        <a:t>Steel nail</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75 × 3 mm</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extLst>
                  <a:ext uri="{0D108BD9-81ED-4DB2-BD59-A6C34878D82A}">
                    <a16:rowId xmlns:a16="http://schemas.microsoft.com/office/drawing/2014/main" val="10000"/>
                  </a:ext>
                </a:extLst>
              </a:tr>
              <a:tr h="372666">
                <a:tc>
                  <a:txBody>
                    <a:bodyPr/>
                    <a:lstStyle/>
                    <a:p>
                      <a:pPr marL="0" indent="0">
                        <a:lnSpc>
                          <a:spcPts val="1890"/>
                        </a:lnSpc>
                        <a:buNone/>
                      </a:pPr>
                      <a:r>
                        <a:rPr lang="en-US" sz="1350" dirty="0">
                          <a:solidFill>
                            <a:srgbClr val="9FB2CC"/>
                          </a:solidFill>
                          <a:latin typeface="IBM Plex Sans" pitchFamily="34" charset="0"/>
                          <a:ea typeface="IBM Plex Sans" pitchFamily="34" charset="-122"/>
                          <a:cs typeface="IBM Plex Sans" pitchFamily="34" charset="-120"/>
                        </a:rPr>
                        <a:t>Mass each</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4.16 g</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extLst>
                  <a:ext uri="{0D108BD9-81ED-4DB2-BD59-A6C34878D82A}">
                    <a16:rowId xmlns:a16="http://schemas.microsoft.com/office/drawing/2014/main" val="10001"/>
                  </a:ext>
                </a:extLst>
              </a:tr>
              <a:tr h="372666">
                <a:tc>
                  <a:txBody>
                    <a:bodyPr/>
                    <a:lstStyle/>
                    <a:p>
                      <a:pPr marL="0" indent="0">
                        <a:lnSpc>
                          <a:spcPts val="1890"/>
                        </a:lnSpc>
                        <a:buNone/>
                      </a:pPr>
                      <a:r>
                        <a:rPr lang="en-US" sz="1350" dirty="0">
                          <a:solidFill>
                            <a:srgbClr val="9FB2CC"/>
                          </a:solidFill>
                          <a:latin typeface="IBM Plex Sans" pitchFamily="34" charset="0"/>
                          <a:ea typeface="IBM Plex Sans" pitchFamily="34" charset="-122"/>
                          <a:cs typeface="IBM Plex Sans" pitchFamily="34" charset="-120"/>
                        </a:rPr>
                        <a:t>Tumbling cross-section</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1.8 cm²</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extLst>
                  <a:ext uri="{0D108BD9-81ED-4DB2-BD59-A6C34878D82A}">
                    <a16:rowId xmlns:a16="http://schemas.microsoft.com/office/drawing/2014/main" val="10002"/>
                  </a:ext>
                </a:extLst>
              </a:tr>
              <a:tr h="372666">
                <a:tc>
                  <a:txBody>
                    <a:bodyPr/>
                    <a:lstStyle/>
                    <a:p>
                      <a:pPr marL="0" indent="0">
                        <a:lnSpc>
                          <a:spcPts val="1890"/>
                        </a:lnSpc>
                        <a:buNone/>
                      </a:pPr>
                      <a:r>
                        <a:rPr lang="en-US" sz="1350" dirty="0">
                          <a:solidFill>
                            <a:srgbClr val="9FB2CC"/>
                          </a:solidFill>
                          <a:latin typeface="IBM Plex Sans" pitchFamily="34" charset="0"/>
                          <a:ea typeface="IBM Plex Sans" pitchFamily="34" charset="-122"/>
                          <a:cs typeface="IBM Plex Sans" pitchFamily="34" charset="-120"/>
                        </a:rPr>
                        <a:t>Count in a barrel</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tc>
                  <a:txBody>
                    <a:bodyPr/>
                    <a:lstStyle/>
                    <a:p>
                      <a:pPr marL="0" indent="0">
                        <a:lnSpc>
                          <a:spcPts val="1890"/>
                        </a:lnSpc>
                        <a:buNone/>
                      </a:pPr>
                      <a:r>
                        <a:rPr lang="en-US" sz="1350" dirty="0">
                          <a:solidFill>
                            <a:srgbClr val="FFCF5C"/>
                          </a:solidFill>
                          <a:latin typeface="IBM Plex Sans" pitchFamily="34" charset="0"/>
                          <a:ea typeface="IBM Plex Sans" pitchFamily="34" charset="-122"/>
                          <a:cs typeface="IBM Plex Sans" pitchFamily="34" charset="-120"/>
                        </a:rPr>
                        <a:t>200,000</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extLst>
                  <a:ext uri="{0D108BD9-81ED-4DB2-BD59-A6C34878D82A}">
                    <a16:rowId xmlns:a16="http://schemas.microsoft.com/office/drawing/2014/main" val="10003"/>
                  </a:ext>
                </a:extLst>
              </a:tr>
              <a:tr h="372666">
                <a:tc>
                  <a:txBody>
                    <a:bodyPr/>
                    <a:lstStyle/>
                    <a:p>
                      <a:pPr marL="0" indent="0">
                        <a:lnSpc>
                          <a:spcPts val="1890"/>
                        </a:lnSpc>
                        <a:buNone/>
                      </a:pPr>
                      <a:r>
                        <a:rPr lang="en-US" sz="1350" dirty="0">
                          <a:solidFill>
                            <a:srgbClr val="9FB2CC"/>
                          </a:solidFill>
                          <a:latin typeface="IBM Plex Sans" pitchFamily="34" charset="0"/>
                          <a:ea typeface="IBM Plex Sans" pitchFamily="34" charset="-122"/>
                          <a:cs typeface="IBM Plex Sans" pitchFamily="34" charset="-120"/>
                        </a:rPr>
                        <a:t>Total launched mass</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tc>
                  <a:txBody>
                    <a:bodyPr/>
                    <a:lstStyle/>
                    <a:p>
                      <a:pPr marL="0" indent="0">
                        <a:lnSpc>
                          <a:spcPts val="1890"/>
                        </a:lnSpc>
                        <a:buNone/>
                      </a:pPr>
                      <a:r>
                        <a:rPr lang="en-US" sz="1350" dirty="0">
                          <a:solidFill>
                            <a:srgbClr val="FFCF5C"/>
                          </a:solidFill>
                          <a:latin typeface="IBM Plex Sans" pitchFamily="34" charset="0"/>
                          <a:ea typeface="IBM Plex Sans" pitchFamily="34" charset="-122"/>
                          <a:cs typeface="IBM Plex Sans" pitchFamily="34" charset="-120"/>
                        </a:rPr>
                        <a:t>832 kg</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8" name="Shape 4"/>
          <p:cNvSpPr/>
          <p:nvPr/>
        </p:nvSpPr>
        <p:spPr>
          <a:xfrm>
            <a:off x="6213475" y="1510573"/>
            <a:ext cx="5162550" cy="2754445"/>
          </a:xfrm>
          <a:prstGeom prst="roundRect">
            <a:avLst>
              <a:gd name="adj" fmla="val 3573"/>
            </a:avLst>
          </a:prstGeom>
          <a:solidFill>
            <a:srgbClr val="06080E"/>
          </a:solidFill>
          <a:ln w="6350">
            <a:solidFill>
              <a:srgbClr val="2A3A52"/>
            </a:solidFill>
            <a:prstDash val="solid"/>
          </a:ln>
        </p:spPr>
        <p:txBody>
          <a:bodyPr/>
          <a:lstStyle/>
          <a:p>
            <a:endParaRPr lang="en-CH"/>
          </a:p>
        </p:txBody>
      </p:sp>
      <p:sp>
        <p:nvSpPr>
          <p:cNvPr id="9" name="Text 5"/>
          <p:cNvSpPr/>
          <p:nvPr/>
        </p:nvSpPr>
        <p:spPr>
          <a:xfrm>
            <a:off x="6455833" y="1752932"/>
            <a:ext cx="4818168"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E7EEF8"/>
                </a:solidFill>
                <a:latin typeface="IBM Plex Sans" pitchFamily="34" charset="0"/>
                <a:ea typeface="IBM Plex Sans" pitchFamily="34" charset="-122"/>
                <a:cs typeface="IBM Plex Sans" pitchFamily="34" charset="-120"/>
              </a:rPr>
              <a:t>The deployment</a:t>
            </a:r>
            <a:endParaRPr lang="en-US" sz="1600" dirty="0"/>
          </a:p>
        </p:txBody>
      </p:sp>
      <p:sp>
        <p:nvSpPr>
          <p:cNvPr id="10" name="Text 6"/>
          <p:cNvSpPr/>
          <p:nvPr/>
        </p:nvSpPr>
        <p:spPr>
          <a:xfrm>
            <a:off x="6455833" y="2111045"/>
            <a:ext cx="4818168" cy="745331"/>
          </a:xfrm>
          <a:prstGeom prst="rect">
            <a:avLst/>
          </a:prstGeom>
          <a:noFill/>
          <a:ln/>
        </p:spPr>
        <p:txBody>
          <a:bodyPr wrap="square" lIns="0" tIns="0" rIns="0" bIns="0" rtlCol="0" anchor="t">
            <a:normAutofit/>
          </a:bodyPr>
          <a:lstStyle/>
          <a:p>
            <a:pPr marL="0" indent="0" algn="l">
              <a:lnSpc>
                <a:spcPts val="1890"/>
              </a:lnSpc>
              <a:buNone/>
            </a:pPr>
            <a:r>
              <a:rPr lang="en-US" sz="1350" dirty="0">
                <a:solidFill>
                  <a:srgbClr val="9FB2CC"/>
                </a:solidFill>
                <a:latin typeface="IBM Plex Sans" pitchFamily="34" charset="0"/>
                <a:ea typeface="IBM Plex Sans" pitchFamily="34" charset="-122"/>
                <a:cs typeface="IBM Plex Sans" pitchFamily="34" charset="-120"/>
              </a:rPr>
              <a:t>Released as a </a:t>
            </a:r>
            <a:r>
              <a:rPr lang="en-US" sz="1350" b="1" dirty="0">
                <a:solidFill>
                  <a:srgbClr val="9FB2CC"/>
                </a:solidFill>
                <a:latin typeface="IBM Plex Sans" pitchFamily="34" charset="0"/>
                <a:ea typeface="IBM Plex Sans" pitchFamily="34" charset="-122"/>
                <a:cs typeface="IBM Plex Sans" pitchFamily="34" charset="-120"/>
              </a:rPr>
              <a:t>random dump</a:t>
            </a:r>
            <a:r>
              <a:rPr lang="en-US" sz="1350" dirty="0">
                <a:solidFill>
                  <a:srgbClr val="9FB2CC"/>
                </a:solidFill>
                <a:latin typeface="IBM Plex Sans" pitchFamily="34" charset="0"/>
                <a:ea typeface="IBM Plex Sans" pitchFamily="34" charset="-122"/>
                <a:cs typeface="IBM Plex Sans" pitchFamily="34" charset="-120"/>
              </a:rPr>
              <a:t> — each nail gets a small random Δv, no targeting. The least-hostile way to spread a barrel.</a:t>
            </a:r>
            <a:endParaRPr lang="en-US" sz="1350" dirty="0"/>
          </a:p>
        </p:txBody>
      </p:sp>
      <p:sp>
        <p:nvSpPr>
          <p:cNvPr id="11" name="Text 7"/>
          <p:cNvSpPr/>
          <p:nvPr/>
        </p:nvSpPr>
        <p:spPr>
          <a:xfrm>
            <a:off x="6455833" y="2945276"/>
            <a:ext cx="4818168" cy="745331"/>
          </a:xfrm>
          <a:prstGeom prst="rect">
            <a:avLst/>
          </a:prstGeom>
          <a:noFill/>
          <a:ln/>
        </p:spPr>
        <p:txBody>
          <a:bodyPr wrap="square" lIns="0" tIns="0" rIns="0" bIns="0" rtlCol="0" anchor="t">
            <a:normAutofit/>
          </a:bodyPr>
          <a:lstStyle/>
          <a:p>
            <a:pPr marL="0" indent="0" algn="l">
              <a:lnSpc>
                <a:spcPts val="1890"/>
              </a:lnSpc>
              <a:buNone/>
            </a:pPr>
            <a:r>
              <a:rPr lang="en-US" sz="1350" dirty="0">
                <a:solidFill>
                  <a:srgbClr val="9FB2CC"/>
                </a:solidFill>
                <a:latin typeface="IBM Plex Sans" pitchFamily="34" charset="0"/>
                <a:ea typeface="IBM Plex Sans" pitchFamily="34" charset="-122"/>
                <a:cs typeface="IBM Plex Sans" pitchFamily="34" charset="-120"/>
              </a:rPr>
              <a:t>Placed at a chosen </a:t>
            </a:r>
            <a:r>
              <a:rPr lang="en-US" sz="1350" b="1" dirty="0">
                <a:solidFill>
                  <a:srgbClr val="9FB2CC"/>
                </a:solidFill>
                <a:latin typeface="IBM Plex Sans" pitchFamily="34" charset="0"/>
                <a:ea typeface="IBM Plex Sans" pitchFamily="34" charset="-122"/>
                <a:cs typeface="IBM Plex Sans" pitchFamily="34" charset="-120"/>
              </a:rPr>
              <a:t>altitude and inclination</a:t>
            </a:r>
            <a:r>
              <a:rPr lang="en-US" sz="1350" dirty="0">
                <a:solidFill>
                  <a:srgbClr val="9FB2CC"/>
                </a:solidFill>
                <a:latin typeface="IBM Plex Sans" pitchFamily="34" charset="0"/>
                <a:ea typeface="IBM Plex Sans" pitchFamily="34" charset="-122"/>
                <a:cs typeface="IBM Plex Sans" pitchFamily="34" charset="-120"/>
              </a:rPr>
              <a:t> (default 550 km / 53°), then set loose in the real catalog + a modelled 1–10 cm debris field.</a:t>
            </a:r>
            <a:endParaRPr lang="en-US" sz="1350" dirty="0"/>
          </a:p>
        </p:txBody>
      </p:sp>
      <p:sp>
        <p:nvSpPr>
          <p:cNvPr id="12" name="Shape 8"/>
          <p:cNvSpPr/>
          <p:nvPr/>
        </p:nvSpPr>
        <p:spPr>
          <a:xfrm>
            <a:off x="815975" y="4474567"/>
            <a:ext cx="10560050" cy="563761"/>
          </a:xfrm>
          <a:prstGeom prst="roundRect">
            <a:avLst>
              <a:gd name="adj" fmla="val 15206"/>
            </a:avLst>
          </a:prstGeom>
          <a:solidFill>
            <a:srgbClr val="0A1626"/>
          </a:solidFill>
          <a:ln w="6350">
            <a:solidFill>
              <a:srgbClr val="2A3A52"/>
            </a:solidFill>
            <a:prstDash val="solid"/>
          </a:ln>
        </p:spPr>
        <p:txBody>
          <a:bodyPr/>
          <a:lstStyle/>
          <a:p>
            <a:endParaRPr lang="en-CH"/>
          </a:p>
        </p:txBody>
      </p:sp>
      <p:sp>
        <p:nvSpPr>
          <p:cNvPr id="13" name="Text 9"/>
          <p:cNvSpPr/>
          <p:nvPr/>
        </p:nvSpPr>
        <p:spPr>
          <a:xfrm>
            <a:off x="1032933" y="4640726"/>
            <a:ext cx="10429918" cy="256844"/>
          </a:xfrm>
          <a:prstGeom prst="rect">
            <a:avLst/>
          </a:prstGeom>
          <a:noFill/>
          <a:ln/>
        </p:spPr>
        <p:txBody>
          <a:bodyPr wrap="square" lIns="0" tIns="0" rIns="0" bIns="0" rtlCol="0" anchor="t">
            <a:normAutofit/>
          </a:bodyPr>
          <a:lstStyle/>
          <a:p>
            <a:pPr marL="0" indent="0" algn="l">
              <a:lnSpc>
                <a:spcPts val="1823"/>
              </a:lnSpc>
              <a:buNone/>
            </a:pPr>
            <a:r>
              <a:rPr lang="en-US" sz="1350" b="1" dirty="0">
                <a:solidFill>
                  <a:srgbClr val="E7EEF8"/>
                </a:solidFill>
                <a:latin typeface="IBM Plex Sans" pitchFamily="34" charset="0"/>
                <a:ea typeface="IBM Plex Sans" pitchFamily="34" charset="-122"/>
                <a:cs typeface="IBM Plex Sans" pitchFamily="34" charset="-120"/>
              </a:rPr>
              <a:t>Measured:</a:t>
            </a:r>
            <a:r>
              <a:rPr lang="en-US" sz="1350" dirty="0">
                <a:solidFill>
                  <a:srgbClr val="E7EEF8"/>
                </a:solidFill>
                <a:latin typeface="IBM Plex Sans" pitchFamily="34" charset="0"/>
                <a:ea typeface="IBM Plex Sans" pitchFamily="34" charset="-122"/>
                <a:cs typeface="IBM Plex Sans" pitchFamily="34" charset="-120"/>
              </a:rPr>
              <a:t> single-nail lethality · drag lifetime · collision flux · a 50-year cascade in three engines · usability by altitude.</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604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GROUNDED IN REAL DATA</a:t>
            </a:r>
            <a:endParaRPr lang="en-US" sz="1200" dirty="0"/>
          </a:p>
        </p:txBody>
      </p:sp>
      <p:sp>
        <p:nvSpPr>
          <p:cNvPr id="3" name="Text 1"/>
          <p:cNvSpPr/>
          <p:nvPr/>
        </p:nvSpPr>
        <p:spPr>
          <a:xfrm>
            <a:off x="812800" y="937220"/>
            <a:ext cx="10883392" cy="417777"/>
          </a:xfrm>
          <a:prstGeom prst="rect">
            <a:avLst/>
          </a:prstGeom>
          <a:noFill/>
          <a:ln/>
        </p:spPr>
        <p:txBody>
          <a:bodyPr wrap="square" lIns="0" tIns="0" rIns="0" bIns="0" rtlCol="0" anchor="t">
            <a:normAutofit/>
          </a:bodyPr>
          <a:lstStyle/>
          <a:p>
            <a:pPr marL="0" indent="0" algn="l">
              <a:lnSpc>
                <a:spcPts val="3090"/>
              </a:lnSpc>
              <a:buNone/>
            </a:pPr>
            <a:r>
              <a:rPr lang="en-US" sz="3000" b="1" dirty="0">
                <a:solidFill>
                  <a:srgbClr val="E7EEF8"/>
                </a:solidFill>
                <a:latin typeface="IBM Plex Sans" pitchFamily="34" charset="0"/>
                <a:ea typeface="IBM Plex Sans" pitchFamily="34" charset="-122"/>
                <a:cs typeface="IBM Plex Sans" pitchFamily="34" charset="-120"/>
              </a:rPr>
              <a:t>The catalog we simulate</a:t>
            </a:r>
            <a:endParaRPr lang="en-US" sz="3000" dirty="0"/>
          </a:p>
        </p:txBody>
      </p:sp>
      <p:sp>
        <p:nvSpPr>
          <p:cNvPr id="4" name="Shape 2"/>
          <p:cNvSpPr/>
          <p:nvPr/>
        </p:nvSpPr>
        <p:spPr>
          <a:xfrm>
            <a:off x="815975" y="1535973"/>
            <a:ext cx="2292747" cy="1160330"/>
          </a:xfrm>
          <a:prstGeom prst="roundRect">
            <a:avLst>
              <a:gd name="adj" fmla="val 7388"/>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007533" y="1727531"/>
            <a:ext cx="1966919" cy="406400"/>
          </a:xfrm>
          <a:prstGeom prst="rect">
            <a:avLst/>
          </a:prstGeom>
          <a:noFill/>
          <a:ln/>
        </p:spPr>
        <p:txBody>
          <a:bodyPr wrap="square" lIns="0" tIns="0" rIns="0" bIns="0" rtlCol="0" anchor="t">
            <a:normAutofit/>
          </a:bodyPr>
          <a:lstStyle/>
          <a:p>
            <a:pPr marL="0" indent="0" algn="l">
              <a:lnSpc>
                <a:spcPts val="3000"/>
              </a:lnSpc>
              <a:buNone/>
            </a:pPr>
            <a:r>
              <a:rPr lang="en-US" sz="3000" b="1" dirty="0">
                <a:solidFill>
                  <a:srgbClr val="4DA6FF"/>
                </a:solidFill>
                <a:latin typeface="IBM Plex Sans" pitchFamily="34" charset="0"/>
                <a:ea typeface="IBM Plex Sans" pitchFamily="34" charset="-122"/>
                <a:cs typeface="IBM Plex Sans" pitchFamily="34" charset="-120"/>
              </a:rPr>
              <a:t>29,779</a:t>
            </a:r>
            <a:endParaRPr lang="en-US" sz="3000" dirty="0"/>
          </a:p>
        </p:txBody>
      </p:sp>
      <p:sp>
        <p:nvSpPr>
          <p:cNvPr id="6" name="Text 4"/>
          <p:cNvSpPr/>
          <p:nvPr/>
        </p:nvSpPr>
        <p:spPr>
          <a:xfrm>
            <a:off x="1007533" y="2108531"/>
            <a:ext cx="1966919" cy="223507"/>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9FB2CC"/>
                </a:solidFill>
                <a:latin typeface="IBM Plex Sans" pitchFamily="34" charset="0"/>
                <a:ea typeface="IBM Plex Sans" pitchFamily="34" charset="-122"/>
                <a:cs typeface="IBM Plex Sans" pitchFamily="34" charset="-120"/>
              </a:rPr>
              <a:t>tracked objects in LEO</a:t>
            </a:r>
            <a:endParaRPr lang="en-US" sz="1200" dirty="0"/>
          </a:p>
        </p:txBody>
      </p:sp>
      <p:sp>
        <p:nvSpPr>
          <p:cNvPr id="7" name="Shape 5"/>
          <p:cNvSpPr/>
          <p:nvPr/>
        </p:nvSpPr>
        <p:spPr>
          <a:xfrm>
            <a:off x="3242072" y="1535973"/>
            <a:ext cx="2292747" cy="1160330"/>
          </a:xfrm>
          <a:prstGeom prst="roundRect">
            <a:avLst>
              <a:gd name="adj" fmla="val 7388"/>
            </a:avLst>
          </a:prstGeom>
          <a:solidFill>
            <a:srgbClr val="0D1420"/>
          </a:solidFill>
          <a:ln w="6350">
            <a:solidFill>
              <a:srgbClr val="2A3A52"/>
            </a:solidFill>
            <a:prstDash val="solid"/>
          </a:ln>
        </p:spPr>
        <p:txBody>
          <a:bodyPr/>
          <a:lstStyle/>
          <a:p>
            <a:endParaRPr lang="en-CH"/>
          </a:p>
        </p:txBody>
      </p:sp>
      <p:sp>
        <p:nvSpPr>
          <p:cNvPr id="8" name="Text 6"/>
          <p:cNvSpPr/>
          <p:nvPr/>
        </p:nvSpPr>
        <p:spPr>
          <a:xfrm>
            <a:off x="3433630" y="1727531"/>
            <a:ext cx="1966919" cy="406400"/>
          </a:xfrm>
          <a:prstGeom prst="rect">
            <a:avLst/>
          </a:prstGeom>
          <a:noFill/>
          <a:ln/>
        </p:spPr>
        <p:txBody>
          <a:bodyPr wrap="square" lIns="0" tIns="0" rIns="0" bIns="0" rtlCol="0" anchor="t">
            <a:normAutofit/>
          </a:bodyPr>
          <a:lstStyle/>
          <a:p>
            <a:pPr marL="0" indent="0" algn="l">
              <a:lnSpc>
                <a:spcPts val="3000"/>
              </a:lnSpc>
              <a:buNone/>
            </a:pPr>
            <a:r>
              <a:rPr lang="en-US" sz="3000" b="1" dirty="0">
                <a:solidFill>
                  <a:srgbClr val="4DA6FF"/>
                </a:solidFill>
                <a:latin typeface="IBM Plex Sans" pitchFamily="34" charset="0"/>
                <a:ea typeface="IBM Plex Sans" pitchFamily="34" charset="-122"/>
                <a:cs typeface="IBM Plex Sans" pitchFamily="34" charset="-120"/>
              </a:rPr>
              <a:t>9,956</a:t>
            </a:r>
            <a:endParaRPr lang="en-US" sz="3000" dirty="0"/>
          </a:p>
        </p:txBody>
      </p:sp>
      <p:sp>
        <p:nvSpPr>
          <p:cNvPr id="9" name="Text 7"/>
          <p:cNvSpPr/>
          <p:nvPr/>
        </p:nvSpPr>
        <p:spPr>
          <a:xfrm>
            <a:off x="3433630" y="2108531"/>
            <a:ext cx="1966919" cy="421614"/>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9FB2CC"/>
                </a:solidFill>
                <a:latin typeface="IBM Plex Sans" pitchFamily="34" charset="0"/>
                <a:ea typeface="IBM Plex Sans" pitchFamily="34" charset="-122"/>
                <a:cs typeface="IBM Plex Sans" pitchFamily="34" charset="-120"/>
              </a:rPr>
              <a:t>catalogued debris pieces (+1,573 rocket bodies)</a:t>
            </a:r>
            <a:endParaRPr lang="en-US" sz="1200" dirty="0"/>
          </a:p>
        </p:txBody>
      </p:sp>
      <p:sp>
        <p:nvSpPr>
          <p:cNvPr id="10" name="Shape 8"/>
          <p:cNvSpPr/>
          <p:nvPr/>
        </p:nvSpPr>
        <p:spPr>
          <a:xfrm>
            <a:off x="815975" y="2816953"/>
            <a:ext cx="2292747" cy="962223"/>
          </a:xfrm>
          <a:prstGeom prst="roundRect">
            <a:avLst>
              <a:gd name="adj" fmla="val 8909"/>
            </a:avLst>
          </a:prstGeom>
          <a:solidFill>
            <a:srgbClr val="0D1420"/>
          </a:solidFill>
          <a:ln w="6350">
            <a:solidFill>
              <a:srgbClr val="2A3A52"/>
            </a:solidFill>
            <a:prstDash val="solid"/>
          </a:ln>
        </p:spPr>
        <p:txBody>
          <a:bodyPr/>
          <a:lstStyle/>
          <a:p>
            <a:endParaRPr lang="en-CH"/>
          </a:p>
        </p:txBody>
      </p:sp>
      <p:sp>
        <p:nvSpPr>
          <p:cNvPr id="11" name="Text 9"/>
          <p:cNvSpPr/>
          <p:nvPr/>
        </p:nvSpPr>
        <p:spPr>
          <a:xfrm>
            <a:off x="1007533" y="3008511"/>
            <a:ext cx="1966919" cy="406400"/>
          </a:xfrm>
          <a:prstGeom prst="rect">
            <a:avLst/>
          </a:prstGeom>
          <a:noFill/>
          <a:ln/>
        </p:spPr>
        <p:txBody>
          <a:bodyPr wrap="square" lIns="0" tIns="0" rIns="0" bIns="0" rtlCol="0" anchor="t">
            <a:normAutofit/>
          </a:bodyPr>
          <a:lstStyle/>
          <a:p>
            <a:pPr marL="0" indent="0" algn="l">
              <a:lnSpc>
                <a:spcPts val="3000"/>
              </a:lnSpc>
              <a:buNone/>
            </a:pPr>
            <a:r>
              <a:rPr lang="en-US" sz="3000" b="1" dirty="0">
                <a:solidFill>
                  <a:srgbClr val="FFCF5C"/>
                </a:solidFill>
                <a:latin typeface="IBM Plex Sans" pitchFamily="34" charset="0"/>
                <a:ea typeface="IBM Plex Sans" pitchFamily="34" charset="-122"/>
                <a:cs typeface="IBM Plex Sans" pitchFamily="34" charset="-120"/>
              </a:rPr>
              <a:t>511 kg</a:t>
            </a:r>
            <a:r>
              <a:rPr lang="en-US" sz="3000" b="1" dirty="0">
                <a:solidFill>
                  <a:srgbClr val="9FB2CC"/>
                </a:solidFill>
                <a:latin typeface="IBM Plex Sans" pitchFamily="34" charset="0"/>
                <a:ea typeface="IBM Plex Sans" pitchFamily="34" charset="-122"/>
                <a:cs typeface="IBM Plex Sans" pitchFamily="34" charset="-120"/>
              </a:rPr>
              <a:t/>
            </a:r>
            <a:endParaRPr lang="en-US" sz="3000" dirty="0"/>
          </a:p>
        </p:txBody>
      </p:sp>
      <p:sp>
        <p:nvSpPr>
          <p:cNvPr id="12" name="Text 10"/>
          <p:cNvSpPr/>
          <p:nvPr/>
        </p:nvSpPr>
        <p:spPr>
          <a:xfrm>
            <a:off x="1007533" y="3389511"/>
            <a:ext cx="1966919" cy="223507"/>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9FB2CC"/>
                </a:solidFill>
                <a:latin typeface="IBM Plex Sans" pitchFamily="34" charset="0"/>
                <a:ea typeface="IBM Plex Sans" pitchFamily="34" charset="-122"/>
                <a:cs typeface="IBM Plex Sans" pitchFamily="34" charset="-120"/>
              </a:rPr>
              <a:t>mean payload mass</a:t>
            </a:r>
            <a:endParaRPr lang="en-US" sz="1200" dirty="0"/>
          </a:p>
        </p:txBody>
      </p:sp>
      <p:sp>
        <p:nvSpPr>
          <p:cNvPr id="13" name="Shape 11"/>
          <p:cNvSpPr/>
          <p:nvPr/>
        </p:nvSpPr>
        <p:spPr>
          <a:xfrm>
            <a:off x="3242072" y="2816953"/>
            <a:ext cx="2292747" cy="962223"/>
          </a:xfrm>
          <a:prstGeom prst="roundRect">
            <a:avLst>
              <a:gd name="adj" fmla="val 8909"/>
            </a:avLst>
          </a:prstGeom>
          <a:solidFill>
            <a:srgbClr val="0D1420"/>
          </a:solidFill>
          <a:ln w="6350">
            <a:solidFill>
              <a:srgbClr val="2A3A52"/>
            </a:solidFill>
            <a:prstDash val="solid"/>
          </a:ln>
        </p:spPr>
        <p:txBody>
          <a:bodyPr/>
          <a:lstStyle/>
          <a:p>
            <a:endParaRPr lang="en-CH"/>
          </a:p>
        </p:txBody>
      </p:sp>
      <p:sp>
        <p:nvSpPr>
          <p:cNvPr id="14" name="Text 12"/>
          <p:cNvSpPr/>
          <p:nvPr/>
        </p:nvSpPr>
        <p:spPr>
          <a:xfrm>
            <a:off x="3433630" y="3008511"/>
            <a:ext cx="1966919" cy="406400"/>
          </a:xfrm>
          <a:prstGeom prst="rect">
            <a:avLst/>
          </a:prstGeom>
          <a:noFill/>
          <a:ln/>
        </p:spPr>
        <p:txBody>
          <a:bodyPr wrap="square" lIns="0" tIns="0" rIns="0" bIns="0" rtlCol="0" anchor="t">
            <a:normAutofit/>
          </a:bodyPr>
          <a:lstStyle/>
          <a:p>
            <a:pPr marL="0" indent="0" algn="l">
              <a:lnSpc>
                <a:spcPts val="3000"/>
              </a:lnSpc>
              <a:buNone/>
            </a:pPr>
            <a:r>
              <a:rPr lang="en-US" sz="3000" b="1" dirty="0">
                <a:solidFill>
                  <a:srgbClr val="FFCF5C"/>
                </a:solidFill>
                <a:latin typeface="IBM Plex Sans" pitchFamily="34" charset="0"/>
                <a:ea typeface="IBM Plex Sans" pitchFamily="34" charset="-122"/>
                <a:cs typeface="IBM Plex Sans" pitchFamily="34" charset="-120"/>
              </a:rPr>
              <a:t>4.4 m²</a:t>
            </a:r>
            <a:r>
              <a:rPr lang="en-US" sz="3000" b="1" dirty="0">
                <a:solidFill>
                  <a:srgbClr val="9FB2CC"/>
                </a:solidFill>
                <a:latin typeface="IBM Plex Sans" pitchFamily="34" charset="0"/>
                <a:ea typeface="IBM Plex Sans" pitchFamily="34" charset="-122"/>
                <a:cs typeface="IBM Plex Sans" pitchFamily="34" charset="-120"/>
              </a:rPr>
              <a:t/>
            </a:r>
            <a:endParaRPr lang="en-US" sz="3000" dirty="0"/>
          </a:p>
        </p:txBody>
      </p:sp>
      <p:sp>
        <p:nvSpPr>
          <p:cNvPr id="15" name="Text 13"/>
          <p:cNvSpPr/>
          <p:nvPr/>
        </p:nvSpPr>
        <p:spPr>
          <a:xfrm>
            <a:off x="3433630" y="3389511"/>
            <a:ext cx="1966919" cy="223507"/>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9FB2CC"/>
                </a:solidFill>
                <a:latin typeface="IBM Plex Sans" pitchFamily="34" charset="0"/>
                <a:ea typeface="IBM Plex Sans" pitchFamily="34" charset="-122"/>
                <a:cs typeface="IBM Plex Sans" pitchFamily="34" charset="-120"/>
              </a:rPr>
              <a:t>mean payload cross-section</a:t>
            </a:r>
            <a:endParaRPr lang="en-US" sz="1200" dirty="0"/>
          </a:p>
        </p:txBody>
      </p:sp>
      <p:sp>
        <p:nvSpPr>
          <p:cNvPr id="16" name="Shape 14"/>
          <p:cNvSpPr/>
          <p:nvPr/>
        </p:nvSpPr>
        <p:spPr>
          <a:xfrm>
            <a:off x="5795169" y="1535973"/>
            <a:ext cx="5580856" cy="2454672"/>
          </a:xfrm>
          <a:prstGeom prst="roundRect">
            <a:avLst>
              <a:gd name="adj" fmla="val 4010"/>
            </a:avLst>
          </a:prstGeom>
          <a:solidFill>
            <a:srgbClr val="0D1420"/>
          </a:solidFill>
          <a:ln w="6350">
            <a:solidFill>
              <a:srgbClr val="2A3A52"/>
            </a:solidFill>
            <a:prstDash val="solid"/>
          </a:ln>
        </p:spPr>
        <p:txBody>
          <a:bodyPr/>
          <a:lstStyle/>
          <a:p>
            <a:endParaRPr lang="en-CH"/>
          </a:p>
        </p:txBody>
      </p:sp>
      <p:sp>
        <p:nvSpPr>
          <p:cNvPr id="17" name="Text 15"/>
          <p:cNvSpPr/>
          <p:nvPr/>
        </p:nvSpPr>
        <p:spPr>
          <a:xfrm>
            <a:off x="5986727" y="1727531"/>
            <a:ext cx="5353672" cy="220927"/>
          </a:xfrm>
          <a:prstGeom prst="rect">
            <a:avLst/>
          </a:prstGeom>
          <a:noFill/>
          <a:ln/>
        </p:spPr>
        <p:txBody>
          <a:bodyPr wrap="square" lIns="0" tIns="0" rIns="0" bIns="0" rtlCol="0" anchor="t">
            <a:normAutofit/>
          </a:bodyPr>
          <a:lstStyle/>
          <a:p>
            <a:pPr marL="0" indent="0" algn="l">
              <a:lnSpc>
                <a:spcPts val="1540"/>
              </a:lnSpc>
              <a:buNone/>
            </a:pPr>
            <a:r>
              <a:rPr lang="en-US" sz="1100" kern="0" spc="100" dirty="0">
                <a:solidFill>
                  <a:srgbClr val="647A99"/>
                </a:solidFill>
                <a:latin typeface="IBM Plex Mono" pitchFamily="34" charset="0"/>
                <a:ea typeface="IBM Plex Mono" pitchFamily="34" charset="-122"/>
                <a:cs typeface="IBM Plex Mono" pitchFamily="34" charset="-120"/>
              </a:rPr>
              <a:t>REAL OBJECTS · RADAR CROSS-SECTION</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986727" y="1961158"/>
          <a:ext cx="5197739" cy="1863330"/>
        </p:xfrm>
        <a:graphic>
          <a:graphicData uri="http://schemas.openxmlformats.org/drawingml/2006/table">
            <a:tbl>
              <a:tblPr/>
              <a:tblGrid>
                <a:gridCol w="2287005">
                  <a:extLst>
                    <a:ext uri="{9D8B030D-6E8A-4147-A177-3AD203B41FA5}">
                      <a16:colId xmlns:a16="http://schemas.microsoft.com/office/drawing/2014/main" val="20000"/>
                    </a:ext>
                  </a:extLst>
                </a:gridCol>
                <a:gridCol w="1351412">
                  <a:extLst>
                    <a:ext uri="{9D8B030D-6E8A-4147-A177-3AD203B41FA5}">
                      <a16:colId xmlns:a16="http://schemas.microsoft.com/office/drawing/2014/main" val="20001"/>
                    </a:ext>
                  </a:extLst>
                </a:gridCol>
                <a:gridCol w="1559322">
                  <a:extLst>
                    <a:ext uri="{9D8B030D-6E8A-4147-A177-3AD203B41FA5}">
                      <a16:colId xmlns:a16="http://schemas.microsoft.com/office/drawing/2014/main" val="20002"/>
                    </a:ext>
                  </a:extLst>
                </a:gridCol>
              </a:tblGrid>
              <a:tr h="372666">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Object</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RCS</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Altitude</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extLst>
                  <a:ext uri="{0D108BD9-81ED-4DB2-BD59-A6C34878D82A}">
                    <a16:rowId xmlns:a16="http://schemas.microsoft.com/office/drawing/2014/main" val="10000"/>
                  </a:ext>
                </a:extLst>
              </a:tr>
              <a:tr h="372666">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ISS (Zarya)</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4DA6FF"/>
                          </a:solidFill>
                          <a:latin typeface="IBM Plex Sans" pitchFamily="34" charset="0"/>
                          <a:ea typeface="IBM Plex Sans" pitchFamily="34" charset="-122"/>
                          <a:cs typeface="IBM Plex Sans" pitchFamily="34" charset="-120"/>
                        </a:rPr>
                        <a:t>399 m²</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416 km</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extLst>
                  <a:ext uri="{0D108BD9-81ED-4DB2-BD59-A6C34878D82A}">
                    <a16:rowId xmlns:a16="http://schemas.microsoft.com/office/drawing/2014/main" val="10001"/>
                  </a:ext>
                </a:extLst>
              </a:tr>
              <a:tr h="372666">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Hubble</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4DA6FF"/>
                          </a:solidFill>
                          <a:latin typeface="IBM Plex Sans" pitchFamily="34" charset="0"/>
                          <a:ea typeface="IBM Plex Sans" pitchFamily="34" charset="-122"/>
                          <a:cs typeface="IBM Plex Sans" pitchFamily="34" charset="-120"/>
                        </a:rPr>
                        <a:t>28 m²</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470 km</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extLst>
                  <a:ext uri="{0D108BD9-81ED-4DB2-BD59-A6C34878D82A}">
                    <a16:rowId xmlns:a16="http://schemas.microsoft.com/office/drawing/2014/main" val="10002"/>
                  </a:ext>
                </a:extLst>
              </a:tr>
              <a:tr h="372666">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Envisat · 8 t, dead</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FF8C42"/>
                          </a:solidFill>
                          <a:latin typeface="IBM Plex Sans" pitchFamily="34" charset="0"/>
                          <a:ea typeface="IBM Plex Sans" pitchFamily="34" charset="-122"/>
                          <a:cs typeface="IBM Plex Sans" pitchFamily="34" charset="-120"/>
                        </a:rPr>
                        <a:t>19 m²</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761 km</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extLst>
                  <a:ext uri="{0D108BD9-81ED-4DB2-BD59-A6C34878D82A}">
                    <a16:rowId xmlns:a16="http://schemas.microsoft.com/office/drawing/2014/main" val="10003"/>
                  </a:ext>
                </a:extLst>
              </a:tr>
              <a:tr h="372666">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SL-16 rocket body</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FF8C42"/>
                          </a:solidFill>
                          <a:latin typeface="IBM Plex Sans" pitchFamily="34" charset="0"/>
                          <a:ea typeface="IBM Plex Sans" pitchFamily="34" charset="-122"/>
                          <a:cs typeface="IBM Plex Sans" pitchFamily="34" charset="-120"/>
                        </a:rPr>
                        <a:t>11 m²</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~850 km</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extLst>
                  <a:ext uri="{0D108BD9-81ED-4DB2-BD59-A6C34878D82A}">
                    <a16:rowId xmlns:a16="http://schemas.microsoft.com/office/drawing/2014/main" val="10004"/>
                  </a:ext>
                </a:extLst>
              </a:tr>
            </a:tbl>
          </a:graphicData>
        </a:graphic>
      </p:graphicFrame>
      <p:sp>
        <p:nvSpPr>
          <p:cNvPr id="19" name="Shape 16"/>
          <p:cNvSpPr/>
          <p:nvPr/>
        </p:nvSpPr>
        <p:spPr>
          <a:xfrm>
            <a:off x="815975" y="4200195"/>
            <a:ext cx="10560050" cy="873257"/>
          </a:xfrm>
          <a:prstGeom prst="roundRect">
            <a:avLst>
              <a:gd name="adj" fmla="val 9817"/>
            </a:avLst>
          </a:prstGeom>
          <a:solidFill>
            <a:srgbClr val="0A1626"/>
          </a:solidFill>
          <a:ln w="6350">
            <a:solidFill>
              <a:srgbClr val="2A3A52"/>
            </a:solidFill>
            <a:prstDash val="solid"/>
          </a:ln>
        </p:spPr>
        <p:txBody>
          <a:bodyPr/>
          <a:lstStyle/>
          <a:p>
            <a:endParaRPr lang="en-CH"/>
          </a:p>
        </p:txBody>
      </p:sp>
      <p:sp>
        <p:nvSpPr>
          <p:cNvPr id="20" name="Text 17"/>
          <p:cNvSpPr/>
          <p:nvPr/>
        </p:nvSpPr>
        <p:spPr>
          <a:xfrm>
            <a:off x="1045633" y="4379053"/>
            <a:ext cx="10403756" cy="540941"/>
          </a:xfrm>
          <a:prstGeom prst="rect">
            <a:avLst/>
          </a:prstGeom>
          <a:noFill/>
          <a:ln/>
        </p:spPr>
        <p:txBody>
          <a:bodyPr wrap="square" lIns="0" tIns="0" rIns="0" bIns="0" rtlCol="0" anchor="t">
            <a:normAutofit/>
          </a:bodyPr>
          <a:lstStyle/>
          <a:p>
            <a:pPr marL="0" indent="0" algn="l">
              <a:lnSpc>
                <a:spcPts val="2030"/>
              </a:lnSpc>
              <a:buNone/>
            </a:pPr>
            <a:r>
              <a:rPr lang="en-US" sz="1450" b="1" dirty="0">
                <a:solidFill>
                  <a:srgbClr val="E7EEF8"/>
                </a:solidFill>
                <a:latin typeface="IBM Plex Sans" pitchFamily="34" charset="0"/>
                <a:ea typeface="IBM Plex Sans" pitchFamily="34" charset="-122"/>
                <a:cs typeface="IBM Plex Sans" pitchFamily="34" charset="-120"/>
              </a:rPr>
              <a:t>The scenario:</a:t>
            </a:r>
            <a:r>
              <a:rPr lang="en-US" sz="1450" dirty="0">
                <a:solidFill>
                  <a:srgbClr val="E7EEF8"/>
                </a:solidFill>
                <a:latin typeface="IBM Plex Sans" pitchFamily="34" charset="0"/>
                <a:ea typeface="IBM Plex Sans" pitchFamily="34" charset="-122"/>
                <a:cs typeface="IBM Plex Sans" pitchFamily="34" charset="-120"/>
              </a:rPr>
              <a:t> a 200,000-nail barrel (75×3 mm steel, 4.16 g each — 832 kg total) released into this environment, alongside a modelled field of ~1,000,000 lethal 1–10 cm fragments.</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KEY TERMS</a:t>
            </a:r>
            <a:endParaRPr lang="en-US" sz="1200" dirty="0"/>
          </a:p>
        </p:txBody>
      </p:sp>
      <p:sp>
        <p:nvSpPr>
          <p:cNvPr id="3" name="Text 1"/>
          <p:cNvSpPr/>
          <p:nvPr/>
        </p:nvSpPr>
        <p:spPr>
          <a:xfrm>
            <a:off x="812800" y="873720"/>
            <a:ext cx="10883392" cy="388078"/>
          </a:xfrm>
          <a:prstGeom prst="rect">
            <a:avLst/>
          </a:prstGeom>
          <a:noFill/>
          <a:ln/>
        </p:spPr>
        <p:txBody>
          <a:bodyPr wrap="square" lIns="0" tIns="0" rIns="0" bIns="0" rtlCol="0" anchor="t">
            <a:normAutofit/>
          </a:bodyPr>
          <a:lstStyle/>
          <a:p>
            <a:pPr marL="0" indent="0" algn="l">
              <a:lnSpc>
                <a:spcPts val="2856"/>
              </a:lnSpc>
              <a:buNone/>
            </a:pPr>
            <a:r>
              <a:rPr lang="en-US" sz="2800" b="1" dirty="0">
                <a:solidFill>
                  <a:srgbClr val="E7EEF8"/>
                </a:solidFill>
                <a:latin typeface="IBM Plex Sans" pitchFamily="34" charset="0"/>
                <a:ea typeface="IBM Plex Sans" pitchFamily="34" charset="-122"/>
                <a:cs typeface="IBM Plex Sans" pitchFamily="34" charset="-120"/>
              </a:rPr>
              <a:t>The vocabulary</a:t>
            </a:r>
            <a:endParaRPr lang="en-US" sz="2800" dirty="0"/>
          </a:p>
        </p:txBody>
      </p:sp>
      <p:sp>
        <p:nvSpPr>
          <p:cNvPr id="4" name="Shape 2"/>
          <p:cNvSpPr/>
          <p:nvPr/>
        </p:nvSpPr>
        <p:spPr>
          <a:xfrm>
            <a:off x="815975" y="1404674"/>
            <a:ext cx="3515783" cy="1226873"/>
          </a:xfrm>
          <a:prstGeom prst="roundRect">
            <a:avLst>
              <a:gd name="adj" fmla="val 5952"/>
            </a:avLst>
          </a:prstGeom>
          <a:solidFill>
            <a:srgbClr val="0A1626"/>
          </a:solidFill>
          <a:ln w="6350">
            <a:solidFill>
              <a:srgbClr val="2A4A6B"/>
            </a:solidFill>
            <a:prstDash val="solid"/>
          </a:ln>
        </p:spPr>
        <p:txBody>
          <a:bodyPr/>
          <a:lstStyle/>
          <a:p>
            <a:endParaRPr lang="en-CH"/>
          </a:p>
        </p:txBody>
      </p:sp>
      <p:sp>
        <p:nvSpPr>
          <p:cNvPr id="5" name="Text 3"/>
          <p:cNvSpPr/>
          <p:nvPr/>
        </p:nvSpPr>
        <p:spPr>
          <a:xfrm>
            <a:off x="969433" y="1545431"/>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4DA6FF"/>
                </a:solidFill>
                <a:latin typeface="IBM Plex Sans" pitchFamily="34" charset="0"/>
                <a:ea typeface="IBM Plex Sans" pitchFamily="34" charset="-122"/>
                <a:cs typeface="IBM Plex Sans" pitchFamily="34" charset="-120"/>
              </a:rPr>
              <a:t>Kessler syndrome / runaway</a:t>
            </a:r>
            <a:endParaRPr lang="en-US" sz="1250" dirty="0"/>
          </a:p>
        </p:txBody>
      </p:sp>
      <p:sp>
        <p:nvSpPr>
          <p:cNvPr id="6" name="Text 4"/>
          <p:cNvSpPr/>
          <p:nvPr/>
        </p:nvSpPr>
        <p:spPr>
          <a:xfrm>
            <a:off x="969433" y="1786731"/>
            <a:ext cx="3305133" cy="729456"/>
          </a:xfrm>
          <a:prstGeom prst="rect">
            <a:avLst/>
          </a:prstGeom>
          <a:noFill/>
          <a:ln/>
        </p:spPr>
        <p:txBody>
          <a:bodyPr wrap="square" lIns="0" tIns="0" rIns="0" bIns="0" rtlCol="0" anchor="t">
            <a:normAutofit/>
          </a:bodyPr>
          <a:lstStyle/>
          <a:p>
            <a:pPr marL="0" indent="0" algn="l">
              <a:lnSpc>
                <a:spcPts val="1386"/>
              </a:lnSpc>
              <a:buNone/>
            </a:pPr>
            <a:r>
              <a:rPr lang="en-US" sz="1150" dirty="0">
                <a:solidFill>
                  <a:srgbClr val="9FB2CC"/>
                </a:solidFill>
                <a:latin typeface="IBM Plex Sans" pitchFamily="34" charset="0"/>
                <a:ea typeface="IBM Plex Sans" pitchFamily="34" charset="-122"/>
                <a:cs typeface="IBM Plex Sans" pitchFamily="34" charset="-120"/>
              </a:rPr>
              <a:t>A chain reaction: each collision makes debris that triggers more collisions, so the debris count keeps climbing on its own — even if every launch stopped today.</a:t>
            </a:r>
            <a:endParaRPr lang="en-US" sz="1050" dirty="0"/>
          </a:p>
        </p:txBody>
      </p:sp>
      <p:sp>
        <p:nvSpPr>
          <p:cNvPr id="7" name="Shape 5"/>
          <p:cNvSpPr/>
          <p:nvPr/>
        </p:nvSpPr>
        <p:spPr>
          <a:xfrm>
            <a:off x="4338108" y="1404674"/>
            <a:ext cx="3515783" cy="1226873"/>
          </a:xfrm>
          <a:prstGeom prst="roundRect">
            <a:avLst>
              <a:gd name="adj" fmla="val 5952"/>
            </a:avLst>
          </a:prstGeom>
          <a:solidFill>
            <a:srgbClr val="06080E"/>
          </a:solidFill>
          <a:ln w="6350">
            <a:solidFill>
              <a:srgbClr val="2A3A52"/>
            </a:solidFill>
            <a:prstDash val="solid"/>
          </a:ln>
        </p:spPr>
        <p:txBody>
          <a:bodyPr/>
          <a:lstStyle/>
          <a:p>
            <a:endParaRPr lang="en-CH"/>
          </a:p>
        </p:txBody>
      </p:sp>
      <p:sp>
        <p:nvSpPr>
          <p:cNvPr id="8" name="Text 6"/>
          <p:cNvSpPr/>
          <p:nvPr/>
        </p:nvSpPr>
        <p:spPr>
          <a:xfrm>
            <a:off x="4491567" y="1545431"/>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FF5A52"/>
                </a:solidFill>
                <a:latin typeface="IBM Plex Sans" pitchFamily="34" charset="0"/>
                <a:ea typeface="IBM Plex Sans" pitchFamily="34" charset="-122"/>
                <a:cs typeface="IBM Plex Sans" pitchFamily="34" charset="-120"/>
              </a:rPr>
              <a:t>Supercritical</a:t>
            </a:r>
            <a:endParaRPr lang="en-US" sz="1250" dirty="0"/>
          </a:p>
        </p:txBody>
      </p:sp>
      <p:sp>
        <p:nvSpPr>
          <p:cNvPr id="9" name="Text 7"/>
          <p:cNvSpPr/>
          <p:nvPr/>
        </p:nvSpPr>
        <p:spPr>
          <a:xfrm>
            <a:off x="4491567" y="1786731"/>
            <a:ext cx="3305133" cy="553442"/>
          </a:xfrm>
          <a:prstGeom prst="rect">
            <a:avLst/>
          </a:prstGeom>
          <a:noFill/>
          <a:ln/>
        </p:spPr>
        <p:txBody>
          <a:bodyPr wrap="square" lIns="0" tIns="0" rIns="0" bIns="0" rtlCol="0" anchor="t">
            <a:normAutofit/>
          </a:bodyPr>
          <a:lstStyle/>
          <a:p>
            <a:pPr marL="0" indent="0" algn="l">
              <a:lnSpc>
                <a:spcPts val="1386"/>
              </a:lnSpc>
              <a:buNone/>
            </a:pPr>
            <a:r>
              <a:rPr lang="en-US" sz="1150" dirty="0">
                <a:solidFill>
                  <a:srgbClr val="9FB2CC"/>
                </a:solidFill>
                <a:latin typeface="IBM Plex Sans" pitchFamily="34" charset="0"/>
                <a:ea typeface="IBM Plex Sans" pitchFamily="34" charset="-122"/>
                <a:cs typeface="IBM Plex Sans" pitchFamily="34" charset="-120"/>
              </a:rPr>
              <a:t>The tipping condition behind runaway: in a shell, collisions make fragments faster than drag removes them, so the population grows unaided.</a:t>
            </a:r>
            <a:endParaRPr lang="en-US" sz="1050" dirty="0"/>
          </a:p>
        </p:txBody>
      </p:sp>
      <p:sp>
        <p:nvSpPr>
          <p:cNvPr id="10" name="Shape 8"/>
          <p:cNvSpPr/>
          <p:nvPr/>
        </p:nvSpPr>
        <p:spPr>
          <a:xfrm>
            <a:off x="7860242" y="1404674"/>
            <a:ext cx="3515783" cy="1226873"/>
          </a:xfrm>
          <a:prstGeom prst="roundRect">
            <a:avLst>
              <a:gd name="adj" fmla="val 5952"/>
            </a:avLst>
          </a:prstGeom>
          <a:solidFill>
            <a:srgbClr val="06080E"/>
          </a:solidFill>
          <a:ln w="6350">
            <a:solidFill>
              <a:srgbClr val="2A3A52"/>
            </a:solidFill>
            <a:prstDash val="solid"/>
          </a:ln>
        </p:spPr>
        <p:txBody>
          <a:bodyPr/>
          <a:lstStyle/>
          <a:p>
            <a:endParaRPr lang="en-CH"/>
          </a:p>
        </p:txBody>
      </p:sp>
      <p:sp>
        <p:nvSpPr>
          <p:cNvPr id="11" name="Text 9"/>
          <p:cNvSpPr/>
          <p:nvPr/>
        </p:nvSpPr>
        <p:spPr>
          <a:xfrm>
            <a:off x="8013700" y="1545431"/>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FFCF5C"/>
                </a:solidFill>
                <a:latin typeface="IBM Plex Sans" pitchFamily="34" charset="0"/>
                <a:ea typeface="IBM Plex Sans" pitchFamily="34" charset="-122"/>
                <a:cs typeface="IBM Plex Sans" pitchFamily="34" charset="-120"/>
              </a:rPr>
              <a:t>Catastrophic collision</a:t>
            </a:r>
            <a:endParaRPr lang="en-US" sz="1250" dirty="0"/>
          </a:p>
        </p:txBody>
      </p:sp>
      <p:sp>
        <p:nvSpPr>
          <p:cNvPr id="12" name="Text 10"/>
          <p:cNvSpPr/>
          <p:nvPr/>
        </p:nvSpPr>
        <p:spPr>
          <a:xfrm>
            <a:off x="8013700" y="1786731"/>
            <a:ext cx="3305133" cy="553442"/>
          </a:xfrm>
          <a:prstGeom prst="rect">
            <a:avLst/>
          </a:prstGeom>
          <a:noFill/>
          <a:ln/>
        </p:spPr>
        <p:txBody>
          <a:bodyPr wrap="square" lIns="0" tIns="0" rIns="0" bIns="0" rtlCol="0" anchor="t">
            <a:normAutofit/>
          </a:bodyPr>
          <a:lstStyle/>
          <a:p>
            <a:pPr marL="0" indent="0" algn="l">
              <a:lnSpc>
                <a:spcPts val="1386"/>
              </a:lnSpc>
              <a:buNone/>
            </a:pPr>
            <a:r>
              <a:rPr lang="en-US" sz="1150" dirty="0">
                <a:solidFill>
                  <a:srgbClr val="9FB2CC"/>
                </a:solidFill>
                <a:latin typeface="IBM Plex Sans" pitchFamily="34" charset="0"/>
                <a:ea typeface="IBM Plex Sans" pitchFamily="34" charset="-122"/>
                <a:cs typeface="IBM Plex Sans" pitchFamily="34" charset="-120"/>
              </a:rPr>
              <a:t>An impact carrying ≥ 40 joules per gram of the target's mass — enough to shatter it, not just crater it.</a:t>
            </a:r>
            <a:endParaRPr lang="en-US" sz="1050" dirty="0"/>
          </a:p>
        </p:txBody>
      </p:sp>
      <p:sp>
        <p:nvSpPr>
          <p:cNvPr id="13" name="Shape 11"/>
          <p:cNvSpPr/>
          <p:nvPr/>
        </p:nvSpPr>
        <p:spPr>
          <a:xfrm>
            <a:off x="815975" y="2637896"/>
            <a:ext cx="3515783" cy="1226873"/>
          </a:xfrm>
          <a:prstGeom prst="roundRect">
            <a:avLst>
              <a:gd name="adj" fmla="val 5952"/>
            </a:avLst>
          </a:prstGeom>
          <a:solidFill>
            <a:srgbClr val="06080E"/>
          </a:solidFill>
          <a:ln w="6350">
            <a:solidFill>
              <a:srgbClr val="2A3A52"/>
            </a:solidFill>
            <a:prstDash val="solid"/>
          </a:ln>
        </p:spPr>
        <p:txBody>
          <a:bodyPr/>
          <a:lstStyle/>
          <a:p>
            <a:endParaRPr lang="en-CH"/>
          </a:p>
        </p:txBody>
      </p:sp>
      <p:sp>
        <p:nvSpPr>
          <p:cNvPr id="14" name="Text 12"/>
          <p:cNvSpPr/>
          <p:nvPr/>
        </p:nvSpPr>
        <p:spPr>
          <a:xfrm>
            <a:off x="969433" y="2778655"/>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FFCF5C"/>
                </a:solidFill>
                <a:latin typeface="IBM Plex Sans" pitchFamily="34" charset="0"/>
                <a:ea typeface="IBM Plex Sans" pitchFamily="34" charset="-122"/>
                <a:cs typeface="IBM Plex Sans" pitchFamily="34" charset="-120"/>
              </a:rPr>
              <a:t>NASA Standard Breakup Model</a:t>
            </a:r>
            <a:endParaRPr lang="en-US" sz="1250" dirty="0"/>
          </a:p>
        </p:txBody>
      </p:sp>
      <p:sp>
        <p:nvSpPr>
          <p:cNvPr id="15" name="Text 13"/>
          <p:cNvSpPr/>
          <p:nvPr/>
        </p:nvSpPr>
        <p:spPr>
          <a:xfrm>
            <a:off x="969433" y="3019955"/>
            <a:ext cx="3305133" cy="729456"/>
          </a:xfrm>
          <a:prstGeom prst="rect">
            <a:avLst/>
          </a:prstGeom>
          <a:noFill/>
          <a:ln/>
        </p:spPr>
        <p:txBody>
          <a:bodyPr wrap="square" lIns="0" tIns="0" rIns="0" bIns="0" rtlCol="0" anchor="t">
            <a:normAutofit/>
          </a:bodyPr>
          <a:lstStyle/>
          <a:p>
            <a:pPr marL="0" indent="0" algn="l">
              <a:lnSpc>
                <a:spcPts val="1386"/>
              </a:lnSpc>
              <a:buNone/>
            </a:pPr>
            <a:r>
              <a:rPr lang="en-US" sz="1150" dirty="0">
                <a:solidFill>
                  <a:srgbClr val="9FB2CC"/>
                </a:solidFill>
                <a:latin typeface="IBM Plex Sans" pitchFamily="34" charset="0"/>
                <a:ea typeface="IBM Plex Sans" pitchFamily="34" charset="-122"/>
                <a:cs typeface="IBM Plex Sans" pitchFamily="34" charset="-120"/>
              </a:rPr>
              <a:t>The standard empirical formula (Johnson et al., 2001) for how many fragments of each size a collision or explosion makes, from the objects' mass. Fit to real on-orbit events.</a:t>
            </a:r>
            <a:endParaRPr lang="en-US" sz="1050" dirty="0"/>
          </a:p>
        </p:txBody>
      </p:sp>
      <p:sp>
        <p:nvSpPr>
          <p:cNvPr id="16" name="Shape 14"/>
          <p:cNvSpPr/>
          <p:nvPr/>
        </p:nvSpPr>
        <p:spPr>
          <a:xfrm>
            <a:off x="4338108" y="2637896"/>
            <a:ext cx="3515783" cy="1226873"/>
          </a:xfrm>
          <a:prstGeom prst="roundRect">
            <a:avLst>
              <a:gd name="adj" fmla="val 5952"/>
            </a:avLst>
          </a:prstGeom>
          <a:solidFill>
            <a:srgbClr val="06080E"/>
          </a:solidFill>
          <a:ln w="6350">
            <a:solidFill>
              <a:srgbClr val="2A3A52"/>
            </a:solidFill>
            <a:prstDash val="solid"/>
          </a:ln>
        </p:spPr>
        <p:txBody>
          <a:bodyPr/>
          <a:lstStyle/>
          <a:p>
            <a:endParaRPr lang="en-CH"/>
          </a:p>
        </p:txBody>
      </p:sp>
      <p:sp>
        <p:nvSpPr>
          <p:cNvPr id="17" name="Text 15"/>
          <p:cNvSpPr/>
          <p:nvPr/>
        </p:nvSpPr>
        <p:spPr>
          <a:xfrm>
            <a:off x="4491567" y="2778655"/>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4DA6FF"/>
                </a:solidFill>
                <a:latin typeface="IBM Plex Sans" pitchFamily="34" charset="0"/>
                <a:ea typeface="IBM Plex Sans" pitchFamily="34" charset="-122"/>
                <a:cs typeface="IBM Plex Sans" pitchFamily="34" charset="-120"/>
              </a:rPr>
              <a:t>The belt (700–1,100 km)</a:t>
            </a:r>
            <a:endParaRPr lang="en-US" sz="1250" dirty="0"/>
          </a:p>
        </p:txBody>
      </p:sp>
      <p:sp>
        <p:nvSpPr>
          <p:cNvPr id="18" name="Text 16"/>
          <p:cNvSpPr/>
          <p:nvPr/>
        </p:nvSpPr>
        <p:spPr>
          <a:xfrm>
            <a:off x="4491567" y="3019955"/>
            <a:ext cx="3305133" cy="553442"/>
          </a:xfrm>
          <a:prstGeom prst="rect">
            <a:avLst/>
          </a:prstGeom>
          <a:noFill/>
          <a:ln/>
        </p:spPr>
        <p:txBody>
          <a:bodyPr wrap="square" lIns="0" tIns="0" rIns="0" bIns="0" rtlCol="0" anchor="t">
            <a:normAutofit/>
          </a:bodyPr>
          <a:lstStyle/>
          <a:p>
            <a:pPr marL="0" indent="0" algn="l">
              <a:lnSpc>
                <a:spcPts val="1386"/>
              </a:lnSpc>
              <a:buNone/>
            </a:pPr>
            <a:r>
              <a:rPr lang="en-US" sz="1150" dirty="0">
                <a:solidFill>
                  <a:srgbClr val="9FB2CC"/>
                </a:solidFill>
                <a:latin typeface="IBM Plex Sans" pitchFamily="34" charset="0"/>
                <a:ea typeface="IBM Plex Sans" pitchFamily="34" charset="-122"/>
                <a:cs typeface="IBM Plex Sans" pitchFamily="34" charset="-120"/>
              </a:rPr>
              <a:t>Where drag is weak and today's debris belt lives. The results track how its population changes over 50 years.</a:t>
            </a:r>
            <a:endParaRPr lang="en-US" sz="1050" dirty="0"/>
          </a:p>
        </p:txBody>
      </p:sp>
      <p:sp>
        <p:nvSpPr>
          <p:cNvPr id="19" name="Shape 17"/>
          <p:cNvSpPr/>
          <p:nvPr/>
        </p:nvSpPr>
        <p:spPr>
          <a:xfrm>
            <a:off x="7860242" y="2637896"/>
            <a:ext cx="3515783" cy="1226873"/>
          </a:xfrm>
          <a:prstGeom prst="roundRect">
            <a:avLst>
              <a:gd name="adj" fmla="val 5952"/>
            </a:avLst>
          </a:prstGeom>
          <a:solidFill>
            <a:srgbClr val="06080E"/>
          </a:solidFill>
          <a:ln w="6350">
            <a:solidFill>
              <a:srgbClr val="2A3A52"/>
            </a:solidFill>
            <a:prstDash val="solid"/>
          </a:ln>
        </p:spPr>
        <p:txBody>
          <a:bodyPr/>
          <a:lstStyle/>
          <a:p>
            <a:endParaRPr lang="en-CH"/>
          </a:p>
        </p:txBody>
      </p:sp>
      <p:sp>
        <p:nvSpPr>
          <p:cNvPr id="20" name="Text 18"/>
          <p:cNvSpPr/>
          <p:nvPr/>
        </p:nvSpPr>
        <p:spPr>
          <a:xfrm>
            <a:off x="8013700" y="2778655"/>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4DA6FF"/>
                </a:solidFill>
                <a:latin typeface="IBM Plex Sans" pitchFamily="34" charset="0"/>
                <a:ea typeface="IBM Plex Sans" pitchFamily="34" charset="-122"/>
                <a:cs typeface="IBM Plex Sans" pitchFamily="34" charset="-120"/>
              </a:rPr>
              <a:t>≥10 cm objects</a:t>
            </a:r>
            <a:endParaRPr lang="en-US" sz="1250" dirty="0"/>
          </a:p>
        </p:txBody>
      </p:sp>
      <p:sp>
        <p:nvSpPr>
          <p:cNvPr id="21" name="Text 19"/>
          <p:cNvSpPr/>
          <p:nvPr/>
        </p:nvSpPr>
        <p:spPr>
          <a:xfrm>
            <a:off x="8013700" y="3019955"/>
            <a:ext cx="3305133" cy="553442"/>
          </a:xfrm>
          <a:prstGeom prst="rect">
            <a:avLst/>
          </a:prstGeom>
          <a:noFill/>
          <a:ln/>
        </p:spPr>
        <p:txBody>
          <a:bodyPr wrap="square" lIns="0" tIns="0" rIns="0" bIns="0" rtlCol="0" anchor="t">
            <a:normAutofit/>
          </a:bodyPr>
          <a:lstStyle/>
          <a:p>
            <a:pPr marL="0" indent="0" algn="l">
              <a:lnSpc>
                <a:spcPts val="1386"/>
              </a:lnSpc>
              <a:buNone/>
            </a:pPr>
            <a:r>
              <a:rPr lang="en-US" sz="1150" dirty="0">
                <a:solidFill>
                  <a:srgbClr val="9FB2CC"/>
                </a:solidFill>
                <a:latin typeface="IBM Plex Sans" pitchFamily="34" charset="0"/>
                <a:ea typeface="IBM Plex Sans" pitchFamily="34" charset="-122"/>
                <a:cs typeface="IBM Plex Sans" pitchFamily="34" charset="-120"/>
              </a:rPr>
              <a:t>Big enough to track by radar and to shatter a small satellite — the standard metric of debris-evolution studies.</a:t>
            </a:r>
            <a:endParaRPr lang="en-US" sz="1050" dirty="0"/>
          </a:p>
        </p:txBody>
      </p:sp>
      <p:sp>
        <p:nvSpPr>
          <p:cNvPr id="22" name="Shape 20"/>
          <p:cNvSpPr/>
          <p:nvPr/>
        </p:nvSpPr>
        <p:spPr>
          <a:xfrm>
            <a:off x="815975" y="3871119"/>
            <a:ext cx="3515783" cy="1050859"/>
          </a:xfrm>
          <a:prstGeom prst="roundRect">
            <a:avLst>
              <a:gd name="adj" fmla="val 6949"/>
            </a:avLst>
          </a:prstGeom>
          <a:solidFill>
            <a:srgbClr val="06080E"/>
          </a:solidFill>
          <a:ln w="6350">
            <a:solidFill>
              <a:srgbClr val="2A3A52"/>
            </a:solidFill>
            <a:prstDash val="solid"/>
          </a:ln>
        </p:spPr>
        <p:txBody>
          <a:bodyPr/>
          <a:lstStyle/>
          <a:p>
            <a:endParaRPr lang="en-CH"/>
          </a:p>
        </p:txBody>
      </p:sp>
      <p:sp>
        <p:nvSpPr>
          <p:cNvPr id="23" name="Text 21"/>
          <p:cNvSpPr/>
          <p:nvPr/>
        </p:nvSpPr>
        <p:spPr>
          <a:xfrm>
            <a:off x="969433" y="4011878"/>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FFCF5C"/>
                </a:solidFill>
                <a:latin typeface="IBM Plex Sans" pitchFamily="34" charset="0"/>
                <a:ea typeface="IBM Plex Sans" pitchFamily="34" charset="-122"/>
                <a:cs typeface="IBM Plex Sans" pitchFamily="34" charset="-120"/>
              </a:rPr>
              <a:t>RCS (radar cross-section)</a:t>
            </a:r>
            <a:endParaRPr lang="en-US" sz="1250" dirty="0"/>
          </a:p>
        </p:txBody>
      </p:sp>
      <p:sp>
        <p:nvSpPr>
          <p:cNvPr id="24" name="Text 22"/>
          <p:cNvSpPr/>
          <p:nvPr/>
        </p:nvSpPr>
        <p:spPr>
          <a:xfrm>
            <a:off x="969433" y="4253178"/>
            <a:ext cx="3305133" cy="377428"/>
          </a:xfrm>
          <a:prstGeom prst="rect">
            <a:avLst/>
          </a:prstGeom>
          <a:noFill/>
          <a:ln/>
        </p:spPr>
        <p:txBody>
          <a:bodyPr wrap="square" lIns="0" tIns="0" rIns="0" bIns="0" rtlCol="0" anchor="t">
            <a:normAutofit/>
          </a:bodyPr>
          <a:lstStyle/>
          <a:p>
            <a:pPr marL="0" indent="0" algn="l">
              <a:lnSpc>
                <a:spcPts val="1386"/>
              </a:lnSpc>
              <a:buNone/>
            </a:pPr>
            <a:r>
              <a:rPr lang="en-US" sz="1150" dirty="0">
                <a:solidFill>
                  <a:srgbClr val="9FB2CC"/>
                </a:solidFill>
                <a:latin typeface="IBM Plex Sans" pitchFamily="34" charset="0"/>
                <a:ea typeface="IBM Plex Sans" pitchFamily="34" charset="-122"/>
                <a:cs typeface="IBM Plex Sans" pitchFamily="34" charset="-120"/>
              </a:rPr>
              <a:t>How big an object looks to tracking radar (m²) — used as its collision cross-section and to estimate mass.</a:t>
            </a:r>
            <a:endParaRPr lang="en-US" sz="1050" dirty="0"/>
          </a:p>
        </p:txBody>
      </p:sp>
      <p:sp>
        <p:nvSpPr>
          <p:cNvPr id="25" name="Shape 23"/>
          <p:cNvSpPr/>
          <p:nvPr/>
        </p:nvSpPr>
        <p:spPr>
          <a:xfrm>
            <a:off x="4338108" y="3871119"/>
            <a:ext cx="3515783" cy="1050859"/>
          </a:xfrm>
          <a:prstGeom prst="roundRect">
            <a:avLst>
              <a:gd name="adj" fmla="val 6949"/>
            </a:avLst>
          </a:prstGeom>
          <a:solidFill>
            <a:srgbClr val="06080E"/>
          </a:solidFill>
          <a:ln w="6350">
            <a:solidFill>
              <a:srgbClr val="2A3A52"/>
            </a:solidFill>
            <a:prstDash val="solid"/>
          </a:ln>
        </p:spPr>
        <p:txBody>
          <a:bodyPr/>
          <a:lstStyle/>
          <a:p>
            <a:endParaRPr lang="en-CH"/>
          </a:p>
        </p:txBody>
      </p:sp>
      <p:sp>
        <p:nvSpPr>
          <p:cNvPr id="26" name="Text 24"/>
          <p:cNvSpPr/>
          <p:nvPr/>
        </p:nvSpPr>
        <p:spPr>
          <a:xfrm>
            <a:off x="4491567" y="4011878"/>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39D98A"/>
                </a:solidFill>
                <a:latin typeface="IBM Plex Sans" pitchFamily="34" charset="0"/>
                <a:ea typeface="IBM Plex Sans" pitchFamily="34" charset="-122"/>
                <a:cs typeface="IBM Plex Sans" pitchFamily="34" charset="-120"/>
              </a:rPr>
              <a:t>A/m &amp; drag lifetime</a:t>
            </a:r>
            <a:endParaRPr lang="en-US" sz="1250" dirty="0"/>
          </a:p>
        </p:txBody>
      </p:sp>
      <p:sp>
        <p:nvSpPr>
          <p:cNvPr id="27" name="Text 25"/>
          <p:cNvSpPr/>
          <p:nvPr/>
        </p:nvSpPr>
        <p:spPr>
          <a:xfrm>
            <a:off x="4491567" y="4253178"/>
            <a:ext cx="3305133" cy="553442"/>
          </a:xfrm>
          <a:prstGeom prst="rect">
            <a:avLst/>
          </a:prstGeom>
          <a:noFill/>
          <a:ln/>
        </p:spPr>
        <p:txBody>
          <a:bodyPr wrap="square" lIns="0" tIns="0" rIns="0" bIns="0" rtlCol="0" anchor="t">
            <a:normAutofit/>
          </a:bodyPr>
          <a:lstStyle/>
          <a:p>
            <a:pPr marL="0" indent="0" algn="l">
              <a:lnSpc>
                <a:spcPts val="1386"/>
              </a:lnSpc>
              <a:buNone/>
            </a:pPr>
            <a:r>
              <a:rPr lang="en-US" sz="1150" dirty="0">
                <a:solidFill>
                  <a:srgbClr val="9FB2CC"/>
                </a:solidFill>
                <a:latin typeface="IBM Plex Sans" pitchFamily="34" charset="0"/>
                <a:ea typeface="IBM Plex Sans" pitchFamily="34" charset="-122"/>
                <a:cs typeface="IBM Plex Sans" pitchFamily="34" charset="-120"/>
              </a:rPr>
              <a:t>Area-to-mass ratio sets how fast drag lowers an orbit: low orbits self-clean in years, high orbits persist for centuries.</a:t>
            </a:r>
            <a:endParaRPr lang="en-US" sz="1050" dirty="0"/>
          </a:p>
        </p:txBody>
      </p:sp>
      <p:sp>
        <p:nvSpPr>
          <p:cNvPr id="28" name="Shape 26"/>
          <p:cNvSpPr/>
          <p:nvPr/>
        </p:nvSpPr>
        <p:spPr>
          <a:xfrm>
            <a:off x="7860242" y="3871119"/>
            <a:ext cx="3515783" cy="1050859"/>
          </a:xfrm>
          <a:prstGeom prst="roundRect">
            <a:avLst>
              <a:gd name="adj" fmla="val 6949"/>
            </a:avLst>
          </a:prstGeom>
          <a:solidFill>
            <a:srgbClr val="06080E"/>
          </a:solidFill>
          <a:ln w="6350">
            <a:solidFill>
              <a:srgbClr val="2A3A52"/>
            </a:solidFill>
            <a:prstDash val="solid"/>
          </a:ln>
        </p:spPr>
        <p:txBody>
          <a:bodyPr/>
          <a:lstStyle/>
          <a:p>
            <a:endParaRPr lang="en-CH"/>
          </a:p>
        </p:txBody>
      </p:sp>
      <p:sp>
        <p:nvSpPr>
          <p:cNvPr id="29" name="Text 27"/>
          <p:cNvSpPr/>
          <p:nvPr/>
        </p:nvSpPr>
        <p:spPr>
          <a:xfrm>
            <a:off x="8013700" y="4011878"/>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FFCF5C"/>
                </a:solidFill>
                <a:latin typeface="IBM Plex Sans" pitchFamily="34" charset="0"/>
                <a:ea typeface="IBM Plex Sans" pitchFamily="34" charset="-122"/>
                <a:cs typeface="IBM Plex Sans" pitchFamily="34" charset="-120"/>
              </a:rPr>
              <a:t>Mission-kill</a:t>
            </a:r>
            <a:endParaRPr lang="en-US" sz="1250" dirty="0"/>
          </a:p>
        </p:txBody>
      </p:sp>
      <p:sp>
        <p:nvSpPr>
          <p:cNvPr id="30" name="Text 28"/>
          <p:cNvSpPr/>
          <p:nvPr/>
        </p:nvSpPr>
        <p:spPr>
          <a:xfrm>
            <a:off x="8013700" y="4253178"/>
            <a:ext cx="3305133" cy="377428"/>
          </a:xfrm>
          <a:prstGeom prst="rect">
            <a:avLst/>
          </a:prstGeom>
          <a:noFill/>
          <a:ln/>
        </p:spPr>
        <p:txBody>
          <a:bodyPr wrap="square" lIns="0" tIns="0" rIns="0" bIns="0" rtlCol="0" anchor="t">
            <a:normAutofit/>
          </a:bodyPr>
          <a:lstStyle/>
          <a:p>
            <a:pPr marL="0" indent="0" algn="l">
              <a:lnSpc>
                <a:spcPts val="1386"/>
              </a:lnSpc>
              <a:buNone/>
            </a:pPr>
            <a:r>
              <a:rPr lang="en-US" sz="1150" dirty="0">
                <a:solidFill>
                  <a:srgbClr val="9FB2CC"/>
                </a:solidFill>
                <a:latin typeface="IBM Plex Sans" pitchFamily="34" charset="0"/>
                <a:ea typeface="IBM Plex Sans" pitchFamily="34" charset="-122"/>
                <a:cs typeface="IBM Plex Sans" pitchFamily="34" charset="-120"/>
              </a:rPr>
              <a:t>An impact that disables a satellite without shattering it — leaving a dead hulk plus a little cratering debris.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TOOL</a:t>
            </a:r>
            <a:endParaRPr lang="en-US" sz="1200" dirty="0"/>
          </a:p>
        </p:txBody>
      </p:sp>
      <p:sp>
        <p:nvSpPr>
          <p:cNvPr id="3" name="Text 1"/>
          <p:cNvSpPr/>
          <p:nvPr/>
        </p:nvSpPr>
        <p:spPr>
          <a:xfrm>
            <a:off x="812800" y="1115020"/>
            <a:ext cx="10883392" cy="505420"/>
          </a:xfrm>
          <a:prstGeom prst="rect">
            <a:avLst/>
          </a:prstGeom>
          <a:noFill/>
          <a:ln/>
        </p:spPr>
        <p:txBody>
          <a:bodyPr wrap="square" lIns="0" tIns="0" rIns="0" bIns="0" rtlCol="0" anchor="t">
            <a:normAutofit/>
          </a:bodyPr>
          <a:lstStyle/>
          <a:p>
            <a:pPr marL="0" indent="0" algn="l">
              <a:lnSpc>
                <a:spcPts val="3780"/>
              </a:lnSpc>
              <a:buNone/>
            </a:pPr>
            <a:r>
              <a:rPr lang="en-US" sz="3600" b="1" dirty="0">
                <a:solidFill>
                  <a:srgbClr val="E7EEF8"/>
                </a:solidFill>
                <a:latin typeface="IBM Plex Sans" pitchFamily="34" charset="0"/>
                <a:ea typeface="IBM Plex Sans" pitchFamily="34" charset="-122"/>
                <a:cs typeface="IBM Plex Sans" pitchFamily="34" charset="-120"/>
              </a:rPr>
              <a:t>One question, a full modelling chain</a:t>
            </a:r>
            <a:endParaRPr lang="en-US" sz="3600" dirty="0"/>
          </a:p>
        </p:txBody>
      </p:sp>
      <p:sp>
        <p:nvSpPr>
          <p:cNvPr id="4" name="Shape 2"/>
          <p:cNvSpPr/>
          <p:nvPr/>
        </p:nvSpPr>
        <p:spPr>
          <a:xfrm>
            <a:off x="815975" y="2762448"/>
            <a:ext cx="2178050" cy="1581944"/>
          </a:xfrm>
          <a:prstGeom prst="roundRect">
            <a:avLst>
              <a:gd name="adj" fmla="val 6222"/>
            </a:avLst>
          </a:prstGeom>
          <a:solidFill>
            <a:srgbClr val="06080E"/>
          </a:solidFill>
          <a:ln w="6350">
            <a:solidFill>
              <a:srgbClr val="2A3A52"/>
            </a:solidFill>
            <a:prstDash val="solid"/>
          </a:ln>
        </p:spPr>
        <p:txBody>
          <a:bodyPr/>
          <a:lstStyle/>
          <a:p>
            <a:endParaRPr lang="en-CH"/>
          </a:p>
        </p:txBody>
      </p:sp>
      <p:pic>
        <p:nvPicPr>
          <p:cNvPr id="5" name="Image 0" descr="Database"/>
          <p:cNvPicPr>
            <a:picLocks noChangeAspect="1"/>
          </p:cNvPicPr>
          <p:nvPr/>
        </p:nvPicPr>
        <p:blipFill>
          <a:blip r:embed="rId3"/>
          <a:srcRect/>
          <a:stretch/>
        </p:blipFill>
        <p:spPr>
          <a:xfrm>
            <a:off x="1032933" y="2979409"/>
            <a:ext cx="330200" cy="330200"/>
          </a:xfrm>
          <a:prstGeom prst="rect">
            <a:avLst/>
          </a:prstGeom>
        </p:spPr>
      </p:pic>
      <p:sp>
        <p:nvSpPr>
          <p:cNvPr id="6" name="Text 3"/>
          <p:cNvSpPr/>
          <p:nvPr/>
        </p:nvSpPr>
        <p:spPr>
          <a:xfrm>
            <a:off x="1032933" y="3398509"/>
            <a:ext cx="179645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Real catalog</a:t>
            </a:r>
            <a:endParaRPr lang="en-US" sz="1500" dirty="0"/>
          </a:p>
        </p:txBody>
      </p:sp>
      <p:sp>
        <p:nvSpPr>
          <p:cNvPr id="7" name="Text 4"/>
          <p:cNvSpPr/>
          <p:nvPr/>
        </p:nvSpPr>
        <p:spPr>
          <a:xfrm>
            <a:off x="1032933" y="3716009"/>
            <a:ext cx="1796457" cy="436827"/>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9FB2CC"/>
                </a:solidFill>
                <a:latin typeface="IBM Plex Sans" pitchFamily="34" charset="0"/>
                <a:ea typeface="IBM Plex Sans" pitchFamily="34" charset="-122"/>
                <a:cs typeface="IBM Plex Sans" pitchFamily="34" charset="-120"/>
              </a:rPr>
              <a:t>CelesTrak + Space-Track, per-object mass &amp; RCS</a:t>
            </a:r>
            <a:endParaRPr lang="en-US" sz="1200" dirty="0"/>
          </a:p>
        </p:txBody>
      </p:sp>
      <p:pic>
        <p:nvPicPr>
          <p:cNvPr id="8" name="Image 1" descr="arrow-right"/>
          <p:cNvPicPr>
            <a:picLocks noChangeAspect="1"/>
          </p:cNvPicPr>
          <p:nvPr/>
        </p:nvPicPr>
        <p:blipFill>
          <a:blip r:embed="rId4"/>
          <a:srcRect/>
          <a:stretch/>
        </p:blipFill>
        <p:spPr>
          <a:xfrm>
            <a:off x="3124200" y="3458170"/>
            <a:ext cx="355600" cy="190500"/>
          </a:xfrm>
          <a:prstGeom prst="rect">
            <a:avLst/>
          </a:prstGeom>
        </p:spPr>
      </p:pic>
      <p:sp>
        <p:nvSpPr>
          <p:cNvPr id="9" name="Shape 5"/>
          <p:cNvSpPr/>
          <p:nvPr/>
        </p:nvSpPr>
        <p:spPr>
          <a:xfrm>
            <a:off x="3609975" y="2762448"/>
            <a:ext cx="2178050" cy="1581944"/>
          </a:xfrm>
          <a:prstGeom prst="roundRect">
            <a:avLst>
              <a:gd name="adj" fmla="val 6222"/>
            </a:avLst>
          </a:prstGeom>
          <a:solidFill>
            <a:srgbClr val="06080E"/>
          </a:solidFill>
          <a:ln w="6350">
            <a:solidFill>
              <a:srgbClr val="2A3A52"/>
            </a:solidFill>
            <a:prstDash val="solid"/>
          </a:ln>
        </p:spPr>
        <p:txBody>
          <a:bodyPr/>
          <a:lstStyle/>
          <a:p>
            <a:endParaRPr lang="en-CH"/>
          </a:p>
        </p:txBody>
      </p:sp>
      <p:pic>
        <p:nvPicPr>
          <p:cNvPr id="10" name="Image 2" descr="Lightning"/>
          <p:cNvPicPr>
            <a:picLocks noChangeAspect="1"/>
          </p:cNvPicPr>
          <p:nvPr/>
        </p:nvPicPr>
        <p:blipFill>
          <a:blip r:embed="rId5"/>
          <a:srcRect/>
          <a:stretch/>
        </p:blipFill>
        <p:spPr>
          <a:xfrm>
            <a:off x="3826933" y="2979409"/>
            <a:ext cx="330200" cy="330200"/>
          </a:xfrm>
          <a:prstGeom prst="rect">
            <a:avLst/>
          </a:prstGeom>
        </p:spPr>
      </p:pic>
      <p:sp>
        <p:nvSpPr>
          <p:cNvPr id="11" name="Text 6"/>
          <p:cNvSpPr/>
          <p:nvPr/>
        </p:nvSpPr>
        <p:spPr>
          <a:xfrm>
            <a:off x="3826933" y="3398509"/>
            <a:ext cx="179645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CUDA propagation</a:t>
            </a:r>
            <a:endParaRPr lang="en-US" sz="1500" dirty="0"/>
          </a:p>
        </p:txBody>
      </p:sp>
      <p:sp>
        <p:nvSpPr>
          <p:cNvPr id="12" name="Text 7"/>
          <p:cNvSpPr/>
          <p:nvPr/>
        </p:nvSpPr>
        <p:spPr>
          <a:xfrm>
            <a:off x="3826933" y="3716009"/>
            <a:ext cx="1796457" cy="436827"/>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9FB2CC"/>
                </a:solidFill>
                <a:latin typeface="IBM Plex Sans" pitchFamily="34" charset="0"/>
                <a:ea typeface="IBM Plex Sans" pitchFamily="34" charset="-122"/>
                <a:cs typeface="IBM Plex Sans" pitchFamily="34" charset="-120"/>
              </a:rPr>
              <a:t>J2 orbits on an RTX 5090, 177 M states/s</a:t>
            </a:r>
            <a:endParaRPr lang="en-US" sz="1200" dirty="0"/>
          </a:p>
        </p:txBody>
      </p:sp>
      <p:pic>
        <p:nvPicPr>
          <p:cNvPr id="13" name="Image 3" descr="arrow-right"/>
          <p:cNvPicPr>
            <a:picLocks noChangeAspect="1"/>
          </p:cNvPicPr>
          <p:nvPr/>
        </p:nvPicPr>
        <p:blipFill>
          <a:blip r:embed="rId4"/>
          <a:srcRect/>
          <a:stretch/>
        </p:blipFill>
        <p:spPr>
          <a:xfrm>
            <a:off x="5918200" y="3458170"/>
            <a:ext cx="355600" cy="190500"/>
          </a:xfrm>
          <a:prstGeom prst="rect">
            <a:avLst/>
          </a:prstGeom>
        </p:spPr>
      </p:pic>
      <p:sp>
        <p:nvSpPr>
          <p:cNvPr id="14" name="Shape 8"/>
          <p:cNvSpPr/>
          <p:nvPr/>
        </p:nvSpPr>
        <p:spPr>
          <a:xfrm>
            <a:off x="6403975" y="2762448"/>
            <a:ext cx="2178050" cy="1581944"/>
          </a:xfrm>
          <a:prstGeom prst="roundRect">
            <a:avLst>
              <a:gd name="adj" fmla="val 6222"/>
            </a:avLst>
          </a:prstGeom>
          <a:solidFill>
            <a:srgbClr val="06080E"/>
          </a:solidFill>
          <a:ln w="6350">
            <a:solidFill>
              <a:srgbClr val="2A3A52"/>
            </a:solidFill>
            <a:prstDash val="solid"/>
          </a:ln>
        </p:spPr>
        <p:txBody>
          <a:bodyPr/>
          <a:lstStyle/>
          <a:p>
            <a:endParaRPr lang="en-CH"/>
          </a:p>
        </p:txBody>
      </p:sp>
      <p:pic>
        <p:nvPicPr>
          <p:cNvPr id="15" name="Image 4" descr="Warning"/>
          <p:cNvPicPr>
            <a:picLocks noChangeAspect="1"/>
          </p:cNvPicPr>
          <p:nvPr/>
        </p:nvPicPr>
        <p:blipFill>
          <a:blip r:embed="rId6"/>
          <a:srcRect/>
          <a:stretch/>
        </p:blipFill>
        <p:spPr>
          <a:xfrm>
            <a:off x="6620934" y="2979409"/>
            <a:ext cx="330200" cy="330200"/>
          </a:xfrm>
          <a:prstGeom prst="rect">
            <a:avLst/>
          </a:prstGeom>
        </p:spPr>
      </p:pic>
      <p:sp>
        <p:nvSpPr>
          <p:cNvPr id="16" name="Text 9"/>
          <p:cNvSpPr/>
          <p:nvPr/>
        </p:nvSpPr>
        <p:spPr>
          <a:xfrm>
            <a:off x="6620934" y="3398509"/>
            <a:ext cx="179645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Breakup model</a:t>
            </a:r>
            <a:endParaRPr lang="en-US" sz="1500" dirty="0"/>
          </a:p>
        </p:txBody>
      </p:sp>
      <p:sp>
        <p:nvSpPr>
          <p:cNvPr id="17" name="Text 10"/>
          <p:cNvSpPr/>
          <p:nvPr/>
        </p:nvSpPr>
        <p:spPr>
          <a:xfrm>
            <a:off x="6620934" y="3716009"/>
            <a:ext cx="1796457" cy="436827"/>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9FB2CC"/>
                </a:solidFill>
                <a:latin typeface="IBM Plex Sans" pitchFamily="34" charset="0"/>
                <a:ea typeface="IBM Plex Sans" pitchFamily="34" charset="-122"/>
                <a:cs typeface="IBM Plex Sans" pitchFamily="34" charset="-120"/>
              </a:rPr>
              <a:t>NASA Standard Breakup Model, 40 J/g threshold</a:t>
            </a:r>
            <a:endParaRPr lang="en-US" sz="1200" dirty="0"/>
          </a:p>
        </p:txBody>
      </p:sp>
      <p:pic>
        <p:nvPicPr>
          <p:cNvPr id="18" name="Image 5" descr="arrow-right"/>
          <p:cNvPicPr>
            <a:picLocks noChangeAspect="1"/>
          </p:cNvPicPr>
          <p:nvPr/>
        </p:nvPicPr>
        <p:blipFill>
          <a:blip r:embed="rId4"/>
          <a:srcRect/>
          <a:stretch/>
        </p:blipFill>
        <p:spPr>
          <a:xfrm>
            <a:off x="8712200" y="3458170"/>
            <a:ext cx="355600" cy="190500"/>
          </a:xfrm>
          <a:prstGeom prst="rect">
            <a:avLst/>
          </a:prstGeom>
        </p:spPr>
      </p:pic>
      <p:sp>
        <p:nvSpPr>
          <p:cNvPr id="19" name="Shape 11"/>
          <p:cNvSpPr/>
          <p:nvPr/>
        </p:nvSpPr>
        <p:spPr>
          <a:xfrm>
            <a:off x="9197975" y="2762448"/>
            <a:ext cx="2178050" cy="1581944"/>
          </a:xfrm>
          <a:prstGeom prst="roundRect">
            <a:avLst>
              <a:gd name="adj" fmla="val 6222"/>
            </a:avLst>
          </a:prstGeom>
          <a:solidFill>
            <a:srgbClr val="06080E"/>
          </a:solidFill>
          <a:ln w="6350">
            <a:solidFill>
              <a:srgbClr val="2A3A52"/>
            </a:solidFill>
            <a:prstDash val="solid"/>
          </a:ln>
        </p:spPr>
        <p:txBody>
          <a:bodyPr/>
          <a:lstStyle/>
          <a:p>
            <a:endParaRPr lang="en-CH"/>
          </a:p>
        </p:txBody>
      </p:sp>
      <p:pic>
        <p:nvPicPr>
          <p:cNvPr id="20" name="Image 6" descr="Chart"/>
          <p:cNvPicPr>
            <a:picLocks noChangeAspect="1"/>
          </p:cNvPicPr>
          <p:nvPr/>
        </p:nvPicPr>
        <p:blipFill>
          <a:blip r:embed="rId7"/>
          <a:srcRect/>
          <a:stretch/>
        </p:blipFill>
        <p:spPr>
          <a:xfrm>
            <a:off x="9414934" y="2979409"/>
            <a:ext cx="330200" cy="330200"/>
          </a:xfrm>
          <a:prstGeom prst="rect">
            <a:avLst/>
          </a:prstGeom>
        </p:spPr>
      </p:pic>
      <p:sp>
        <p:nvSpPr>
          <p:cNvPr id="21" name="Text 12"/>
          <p:cNvSpPr/>
          <p:nvPr/>
        </p:nvSpPr>
        <p:spPr>
          <a:xfrm>
            <a:off x="9414934" y="3398509"/>
            <a:ext cx="179645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Cascade engines</a:t>
            </a:r>
            <a:endParaRPr lang="en-US" sz="1500" dirty="0"/>
          </a:p>
        </p:txBody>
      </p:sp>
      <p:sp>
        <p:nvSpPr>
          <p:cNvPr id="22" name="Text 13"/>
          <p:cNvSpPr/>
          <p:nvPr/>
        </p:nvSpPr>
        <p:spPr>
          <a:xfrm>
            <a:off x="9414934" y="3716009"/>
            <a:ext cx="1796457" cy="436827"/>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9FB2CC"/>
                </a:solidFill>
                <a:latin typeface="IBM Plex Sans" pitchFamily="34" charset="0"/>
                <a:ea typeface="IBM Plex Sans" pitchFamily="34" charset="-122"/>
                <a:cs typeface="IBM Plex Sans" pitchFamily="34" charset="-120"/>
              </a:rPr>
              <a:t>Box ODE · discrete MC · conjunction geometry</a:t>
            </a:r>
            <a:endParaRPr lang="en-US" sz="1200" dirty="0"/>
          </a:p>
        </p:txBody>
      </p:sp>
      <p:sp>
        <p:nvSpPr>
          <p:cNvPr id="23" name="Text 14"/>
          <p:cNvSpPr/>
          <p:nvPr/>
        </p:nvSpPr>
        <p:spPr>
          <a:xfrm>
            <a:off x="812800" y="5511800"/>
            <a:ext cx="10883392" cy="5588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9FB2CC"/>
                </a:solidFill>
                <a:latin typeface="IBM Plex Sans" pitchFamily="34" charset="0"/>
                <a:ea typeface="IBM Plex Sans" pitchFamily="34" charset="-122"/>
                <a:cs typeface="IBM Plex Sans" pitchFamily="34" charset="-120"/>
              </a:rPr>
              <a:t>Three independent engines, plus launch traffic, explosions, debris removal and an “operators retreat” feedback. The box model draws every chart; the other two check it.</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350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ENGINES</a:t>
            </a:r>
            <a:endParaRPr lang="en-US" sz="1200" dirty="0"/>
          </a:p>
        </p:txBody>
      </p:sp>
      <p:sp>
        <p:nvSpPr>
          <p:cNvPr id="3" name="Text 1"/>
          <p:cNvSpPr/>
          <p:nvPr/>
        </p:nvSpPr>
        <p:spPr>
          <a:xfrm>
            <a:off x="812800" y="911820"/>
            <a:ext cx="10883392" cy="417777"/>
          </a:xfrm>
          <a:prstGeom prst="rect">
            <a:avLst/>
          </a:prstGeom>
          <a:noFill/>
          <a:ln/>
        </p:spPr>
        <p:txBody>
          <a:bodyPr wrap="square" lIns="0" tIns="0" rIns="0" bIns="0" rtlCol="0" anchor="t">
            <a:normAutofit/>
          </a:bodyPr>
          <a:lstStyle/>
          <a:p>
            <a:pPr marL="0" indent="0" algn="l">
              <a:lnSpc>
                <a:spcPts val="3090"/>
              </a:lnSpc>
              <a:buNone/>
            </a:pPr>
            <a:r>
              <a:rPr lang="en-US" sz="3000" b="1" dirty="0">
                <a:solidFill>
                  <a:srgbClr val="E7EEF8"/>
                </a:solidFill>
                <a:latin typeface="IBM Plex Sans" pitchFamily="34" charset="0"/>
                <a:ea typeface="IBM Plex Sans" pitchFamily="34" charset="-122"/>
                <a:cs typeface="IBM Plex Sans" pitchFamily="34" charset="-120"/>
              </a:rPr>
              <a:t>Three ways to model a cascade</a:t>
            </a:r>
            <a:endParaRPr lang="en-US" sz="3000" dirty="0"/>
          </a:p>
        </p:txBody>
      </p:sp>
      <p:sp>
        <p:nvSpPr>
          <p:cNvPr id="4" name="Shape 2"/>
          <p:cNvSpPr/>
          <p:nvPr/>
        </p:nvSpPr>
        <p:spPr>
          <a:xfrm>
            <a:off x="815975" y="1523274"/>
            <a:ext cx="3388783" cy="3048463"/>
          </a:xfrm>
          <a:prstGeom prst="roundRect">
            <a:avLst>
              <a:gd name="adj" fmla="val 3229"/>
            </a:avLst>
          </a:prstGeom>
          <a:solidFill>
            <a:srgbClr val="0D1420"/>
          </a:solidFill>
          <a:ln w="6350">
            <a:solidFill>
              <a:srgbClr val="2A3A52"/>
            </a:solidFill>
            <a:prstDash val="solid"/>
          </a:ln>
        </p:spPr>
        <p:txBody>
          <a:bodyPr/>
          <a:lstStyle/>
          <a:p>
            <a:endParaRPr lang="en-CH"/>
          </a:p>
        </p:txBody>
      </p:sp>
      <p:pic>
        <p:nvPicPr>
          <p:cNvPr id="5" name="Image 0" descr="Stacked altitude shells with debris counts"/>
          <p:cNvPicPr>
            <a:picLocks noChangeAspect="1"/>
          </p:cNvPicPr>
          <p:nvPr/>
        </p:nvPicPr>
        <p:blipFill>
          <a:blip r:embed="rId3"/>
          <a:srcRect/>
          <a:stretch/>
        </p:blipFill>
        <p:spPr>
          <a:xfrm>
            <a:off x="1032933" y="1740232"/>
            <a:ext cx="2032000" cy="952500"/>
          </a:xfrm>
          <a:prstGeom prst="rect">
            <a:avLst/>
          </a:prstGeom>
        </p:spPr>
      </p:pic>
      <p:sp>
        <p:nvSpPr>
          <p:cNvPr id="6" name="Text 3"/>
          <p:cNvSpPr/>
          <p:nvPr/>
        </p:nvSpPr>
        <p:spPr>
          <a:xfrm>
            <a:off x="1032933" y="2794332"/>
            <a:ext cx="3043513" cy="261607"/>
          </a:xfrm>
          <a:prstGeom prst="rect">
            <a:avLst/>
          </a:prstGeom>
          <a:noFill/>
          <a:ln/>
        </p:spPr>
        <p:txBody>
          <a:bodyPr wrap="square" lIns="0" tIns="0" rIns="0" bIns="0" rtlCol="0" anchor="t">
            <a:normAutofit/>
          </a:bodyPr>
          <a:lstStyle/>
          <a:p>
            <a:pPr marL="0" indent="0" algn="l">
              <a:lnSpc>
                <a:spcPts val="1860"/>
              </a:lnSpc>
              <a:buNone/>
            </a:pPr>
            <a:r>
              <a:rPr lang="en-US" sz="1550" b="1" dirty="0">
                <a:solidFill>
                  <a:srgbClr val="E7EEF8"/>
                </a:solidFill>
                <a:latin typeface="IBM Plex Sans" pitchFamily="34" charset="0"/>
                <a:ea typeface="IBM Plex Sans" pitchFamily="34" charset="-122"/>
                <a:cs typeface="IBM Plex Sans" pitchFamily="34" charset="-120"/>
              </a:rPr>
              <a:t>Box · source–sink ODE</a:t>
            </a:r>
            <a:endParaRPr lang="en-US" sz="1550" dirty="0"/>
          </a:p>
        </p:txBody>
      </p:sp>
      <p:sp>
        <p:nvSpPr>
          <p:cNvPr id="7" name="Text 4"/>
          <p:cNvSpPr/>
          <p:nvPr/>
        </p:nvSpPr>
        <p:spPr>
          <a:xfrm>
            <a:off x="1032933" y="3132138"/>
            <a:ext cx="3043513" cy="212064"/>
          </a:xfrm>
          <a:prstGeom prst="rect">
            <a:avLst/>
          </a:prstGeom>
          <a:noFill/>
          <a:ln/>
        </p:spPr>
        <p:txBody>
          <a:bodyPr wrap="square" lIns="0" tIns="0" rIns="0" bIns="0" rtlCol="0" anchor="t">
            <a:normAutofit/>
          </a:bodyPr>
          <a:lstStyle/>
          <a:p>
            <a:pPr marL="0" indent="0" algn="l">
              <a:lnSpc>
                <a:spcPts val="1470"/>
              </a:lnSpc>
              <a:buNone/>
            </a:pPr>
            <a:r>
              <a:rPr lang="en-US" sz="1050" dirty="0">
                <a:solidFill>
                  <a:srgbClr val="39D98A"/>
                </a:solidFill>
                <a:latin typeface="IBM Plex Mono" pitchFamily="34" charset="0"/>
                <a:ea typeface="IBM Plex Mono" pitchFamily="34" charset="-122"/>
                <a:cs typeface="IBM Plex Mono" pitchFamily="34" charset="-120"/>
              </a:rPr>
              <a:t>fast · aggregate</a:t>
            </a:r>
            <a:endParaRPr lang="en-US" sz="1050" dirty="0"/>
          </a:p>
        </p:txBody>
      </p:sp>
      <p:sp>
        <p:nvSpPr>
          <p:cNvPr id="8" name="Text 5"/>
          <p:cNvSpPr/>
          <p:nvPr/>
        </p:nvSpPr>
        <p:spPr>
          <a:xfrm>
            <a:off x="1032933" y="3420402"/>
            <a:ext cx="3043513" cy="668338"/>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9FB2CC"/>
                </a:solidFill>
                <a:latin typeface="IBM Plex Sans" pitchFamily="34" charset="0"/>
                <a:ea typeface="IBM Plex Sans" pitchFamily="34" charset="-122"/>
                <a:cs typeface="IBM Plex Sans" pitchFamily="34" charset="-120"/>
              </a:rPr>
              <a:t>Debris </a:t>
            </a:r>
            <a:r>
              <a:rPr lang="en-US" sz="1250" b="1" dirty="0">
                <a:solidFill>
                  <a:srgbClr val="9FB2CC"/>
                </a:solidFill>
                <a:latin typeface="IBM Plex Sans" pitchFamily="34" charset="0"/>
                <a:ea typeface="IBM Plex Sans" pitchFamily="34" charset="-122"/>
                <a:cs typeface="IBM Plex Sans" pitchFamily="34" charset="-120"/>
              </a:rPr>
              <a:t>counts</a:t>
            </a:r>
            <a:r>
              <a:rPr lang="en-US" sz="1250" dirty="0">
                <a:solidFill>
                  <a:srgbClr val="9FB2CC"/>
                </a:solidFill>
                <a:latin typeface="IBM Plex Sans" pitchFamily="34" charset="0"/>
                <a:ea typeface="IBM Plex Sans" pitchFamily="34" charset="-122"/>
                <a:cs typeface="IBM Plex Sans" pitchFamily="34" charset="-120"/>
              </a:rPr>
              <a:t> per altitude shell and size class, evolved by one equation. Well-mixed, no individuals.</a:t>
            </a:r>
            <a:endParaRPr lang="en-US" sz="1250" dirty="0"/>
          </a:p>
        </p:txBody>
      </p:sp>
      <p:sp>
        <p:nvSpPr>
          <p:cNvPr id="9" name="Text 6"/>
          <p:cNvSpPr/>
          <p:nvPr/>
        </p:nvSpPr>
        <p:spPr>
          <a:xfrm>
            <a:off x="1032933" y="4164940"/>
            <a:ext cx="3043513" cy="215239"/>
          </a:xfrm>
          <a:prstGeom prst="rect">
            <a:avLst/>
          </a:prstGeom>
          <a:noFill/>
          <a:ln/>
        </p:spPr>
        <p:txBody>
          <a:bodyPr wrap="square" lIns="0" tIns="0" rIns="0" bIns="0" rtlCol="0" anchor="t">
            <a:normAutofit/>
          </a:bodyPr>
          <a:lstStyle/>
          <a:p>
            <a:pPr marL="0" indent="0" algn="l">
              <a:lnSpc>
                <a:spcPts val="1495"/>
              </a:lnSpc>
              <a:buNone/>
            </a:pPr>
            <a:r>
              <a:rPr lang="en-US" sz="1150" dirty="0">
                <a:solidFill>
                  <a:srgbClr val="647A99"/>
                </a:solidFill>
                <a:latin typeface="IBM Plex Sans" pitchFamily="34" charset="0"/>
                <a:ea typeface="IBM Plex Sans" pitchFamily="34" charset="-122"/>
                <a:cs typeface="IBM Plex Sans" pitchFamily="34" charset="-120"/>
              </a:rPr>
              <a:t>Role: draws every chart in this deck.</a:t>
            </a:r>
            <a:endParaRPr lang="en-US" sz="1150" dirty="0"/>
          </a:p>
        </p:txBody>
      </p:sp>
      <p:sp>
        <p:nvSpPr>
          <p:cNvPr id="10" name="Shape 7"/>
          <p:cNvSpPr/>
          <p:nvPr/>
        </p:nvSpPr>
        <p:spPr>
          <a:xfrm>
            <a:off x="4401608" y="1523274"/>
            <a:ext cx="3388783" cy="3048463"/>
          </a:xfrm>
          <a:prstGeom prst="roundRect">
            <a:avLst>
              <a:gd name="adj" fmla="val 3229"/>
            </a:avLst>
          </a:prstGeom>
          <a:solidFill>
            <a:srgbClr val="0D1420"/>
          </a:solidFill>
          <a:ln w="6350">
            <a:solidFill>
              <a:srgbClr val="2A3A52"/>
            </a:solidFill>
            <a:prstDash val="solid"/>
          </a:ln>
        </p:spPr>
        <p:txBody>
          <a:bodyPr/>
          <a:lstStyle/>
          <a:p>
            <a:endParaRPr lang="en-CH"/>
          </a:p>
        </p:txBody>
      </p:sp>
      <p:pic>
        <p:nvPicPr>
          <p:cNvPr id="11" name="Image 1" descr="Individual objects scattered, two colliding"/>
          <p:cNvPicPr>
            <a:picLocks noChangeAspect="1"/>
          </p:cNvPicPr>
          <p:nvPr/>
        </p:nvPicPr>
        <p:blipFill>
          <a:blip r:embed="rId4"/>
          <a:srcRect/>
          <a:stretch/>
        </p:blipFill>
        <p:spPr>
          <a:xfrm>
            <a:off x="4618567" y="1740232"/>
            <a:ext cx="2032000" cy="952500"/>
          </a:xfrm>
          <a:prstGeom prst="rect">
            <a:avLst/>
          </a:prstGeom>
        </p:spPr>
      </p:pic>
      <p:sp>
        <p:nvSpPr>
          <p:cNvPr id="12" name="Text 8"/>
          <p:cNvSpPr/>
          <p:nvPr/>
        </p:nvSpPr>
        <p:spPr>
          <a:xfrm>
            <a:off x="4618567" y="2794332"/>
            <a:ext cx="3043513" cy="261607"/>
          </a:xfrm>
          <a:prstGeom prst="rect">
            <a:avLst/>
          </a:prstGeom>
          <a:noFill/>
          <a:ln/>
        </p:spPr>
        <p:txBody>
          <a:bodyPr wrap="square" lIns="0" tIns="0" rIns="0" bIns="0" rtlCol="0" anchor="t">
            <a:normAutofit/>
          </a:bodyPr>
          <a:lstStyle/>
          <a:p>
            <a:pPr marL="0" indent="0" algn="l">
              <a:lnSpc>
                <a:spcPts val="1860"/>
              </a:lnSpc>
              <a:buNone/>
            </a:pPr>
            <a:r>
              <a:rPr lang="en-US" sz="1550" b="1" dirty="0">
                <a:solidFill>
                  <a:srgbClr val="E7EEF8"/>
                </a:solidFill>
                <a:latin typeface="IBM Plex Sans" pitchFamily="34" charset="0"/>
                <a:ea typeface="IBM Plex Sans" pitchFamily="34" charset="-122"/>
                <a:cs typeface="IBM Plex Sans" pitchFamily="34" charset="-120"/>
              </a:rPr>
              <a:t>Discrete · super-particle MC</a:t>
            </a:r>
            <a:endParaRPr lang="en-US" sz="1550" dirty="0"/>
          </a:p>
        </p:txBody>
      </p:sp>
      <p:sp>
        <p:nvSpPr>
          <p:cNvPr id="13" name="Text 9"/>
          <p:cNvSpPr/>
          <p:nvPr/>
        </p:nvSpPr>
        <p:spPr>
          <a:xfrm>
            <a:off x="4618567" y="3132138"/>
            <a:ext cx="3043513" cy="212064"/>
          </a:xfrm>
          <a:prstGeom prst="rect">
            <a:avLst/>
          </a:prstGeom>
          <a:noFill/>
          <a:ln/>
        </p:spPr>
        <p:txBody>
          <a:bodyPr wrap="square" lIns="0" tIns="0" rIns="0" bIns="0" rtlCol="0" anchor="t">
            <a:normAutofit/>
          </a:bodyPr>
          <a:lstStyle/>
          <a:p>
            <a:pPr marL="0" indent="0" algn="l">
              <a:lnSpc>
                <a:spcPts val="1470"/>
              </a:lnSpc>
              <a:buNone/>
            </a:pPr>
            <a:r>
              <a:rPr lang="en-US" sz="1050" dirty="0">
                <a:solidFill>
                  <a:srgbClr val="FFCF5C"/>
                </a:solidFill>
                <a:latin typeface="IBM Plex Mono" pitchFamily="34" charset="0"/>
                <a:ea typeface="IBM Plex Mono" pitchFamily="34" charset="-122"/>
                <a:cs typeface="IBM Plex Mono" pitchFamily="34" charset="-120"/>
              </a:rPr>
              <a:t>mid · per-object</a:t>
            </a:r>
            <a:endParaRPr lang="en-US" sz="1050" dirty="0"/>
          </a:p>
        </p:txBody>
      </p:sp>
      <p:sp>
        <p:nvSpPr>
          <p:cNvPr id="14" name="Text 10"/>
          <p:cNvSpPr/>
          <p:nvPr/>
        </p:nvSpPr>
        <p:spPr>
          <a:xfrm>
            <a:off x="4618567" y="3420402"/>
            <a:ext cx="3043513" cy="668338"/>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9FB2CC"/>
                </a:solidFill>
                <a:latin typeface="IBM Plex Sans" pitchFamily="34" charset="0"/>
                <a:ea typeface="IBM Plex Sans" pitchFamily="34" charset="-122"/>
                <a:cs typeface="IBM Plex Sans" pitchFamily="34" charset="-120"/>
              </a:rPr>
              <a:t>Every object is an individual; collisions are drawn statistically, and fragments get </a:t>
            </a:r>
            <a:r>
              <a:rPr lang="en-US" sz="1250" b="1" dirty="0">
                <a:solidFill>
                  <a:srgbClr val="9FB2CC"/>
                </a:solidFill>
                <a:latin typeface="IBM Plex Sans" pitchFamily="34" charset="0"/>
                <a:ea typeface="IBM Plex Sans" pitchFamily="34" charset="-122"/>
                <a:cs typeface="IBM Plex Sans" pitchFamily="34" charset="-120"/>
              </a:rPr>
              <a:t>real orbits</a:t>
            </a:r>
            <a:r>
              <a:rPr lang="en-US" sz="1250" dirty="0">
                <a:solidFill>
                  <a:srgbClr val="9FB2CC"/>
                </a:solidFill>
                <a:latin typeface="IBM Plex Sans" pitchFamily="34" charset="0"/>
                <a:ea typeface="IBM Plex Sans" pitchFamily="34" charset="-122"/>
                <a:cs typeface="IBM Plex Sans" pitchFamily="34" charset="-120"/>
              </a:rPr>
              <a:t> that spread across shells.</a:t>
            </a:r>
            <a:endParaRPr lang="en-US" sz="1250" dirty="0"/>
          </a:p>
        </p:txBody>
      </p:sp>
      <p:sp>
        <p:nvSpPr>
          <p:cNvPr id="15" name="Text 11"/>
          <p:cNvSpPr/>
          <p:nvPr/>
        </p:nvSpPr>
        <p:spPr>
          <a:xfrm>
            <a:off x="4618567" y="4164940"/>
            <a:ext cx="3043513" cy="215239"/>
          </a:xfrm>
          <a:prstGeom prst="rect">
            <a:avLst/>
          </a:prstGeom>
          <a:noFill/>
          <a:ln/>
        </p:spPr>
        <p:txBody>
          <a:bodyPr wrap="square" lIns="0" tIns="0" rIns="0" bIns="0" rtlCol="0" anchor="t">
            <a:normAutofit/>
          </a:bodyPr>
          <a:lstStyle/>
          <a:p>
            <a:pPr marL="0" indent="0" algn="l">
              <a:lnSpc>
                <a:spcPts val="1495"/>
              </a:lnSpc>
              <a:buNone/>
            </a:pPr>
            <a:r>
              <a:rPr lang="en-US" sz="1150" dirty="0">
                <a:solidFill>
                  <a:srgbClr val="647A99"/>
                </a:solidFill>
                <a:latin typeface="IBM Plex Sans" pitchFamily="34" charset="0"/>
                <a:ea typeface="IBM Plex Sans" pitchFamily="34" charset="-122"/>
                <a:cs typeface="IBM Plex Sans" pitchFamily="34" charset="-120"/>
              </a:rPr>
              <a:t>Role: cross-check (8-seed ensembles).</a:t>
            </a:r>
            <a:endParaRPr lang="en-US" sz="1150" dirty="0"/>
          </a:p>
        </p:txBody>
      </p:sp>
      <p:sp>
        <p:nvSpPr>
          <p:cNvPr id="16" name="Shape 12"/>
          <p:cNvSpPr/>
          <p:nvPr/>
        </p:nvSpPr>
        <p:spPr>
          <a:xfrm>
            <a:off x="7987242" y="1523274"/>
            <a:ext cx="3388783" cy="3048463"/>
          </a:xfrm>
          <a:prstGeom prst="roundRect">
            <a:avLst>
              <a:gd name="adj" fmla="val 3229"/>
            </a:avLst>
          </a:prstGeom>
          <a:solidFill>
            <a:srgbClr val="0D1420"/>
          </a:solidFill>
          <a:ln w="6350">
            <a:solidFill>
              <a:srgbClr val="2A3A52"/>
            </a:solidFill>
            <a:prstDash val="solid"/>
          </a:ln>
        </p:spPr>
        <p:txBody>
          <a:bodyPr/>
          <a:lstStyle/>
          <a:p>
            <a:endParaRPr lang="en-CH"/>
          </a:p>
        </p:txBody>
      </p:sp>
      <p:pic>
        <p:nvPicPr>
          <p:cNvPr id="17" name="Image 2" descr="Two orbits crossing at a collision point over a grid"/>
          <p:cNvPicPr>
            <a:picLocks noChangeAspect="1"/>
          </p:cNvPicPr>
          <p:nvPr/>
        </p:nvPicPr>
        <p:blipFill>
          <a:blip r:embed="rId5"/>
          <a:srcRect/>
          <a:stretch/>
        </p:blipFill>
        <p:spPr>
          <a:xfrm>
            <a:off x="8204200" y="1740232"/>
            <a:ext cx="2032000" cy="952500"/>
          </a:xfrm>
          <a:prstGeom prst="rect">
            <a:avLst/>
          </a:prstGeom>
        </p:spPr>
      </p:pic>
      <p:sp>
        <p:nvSpPr>
          <p:cNvPr id="18" name="Text 13"/>
          <p:cNvSpPr/>
          <p:nvPr/>
        </p:nvSpPr>
        <p:spPr>
          <a:xfrm>
            <a:off x="8204200" y="2794332"/>
            <a:ext cx="3043513" cy="261607"/>
          </a:xfrm>
          <a:prstGeom prst="rect">
            <a:avLst/>
          </a:prstGeom>
          <a:noFill/>
          <a:ln/>
        </p:spPr>
        <p:txBody>
          <a:bodyPr wrap="square" lIns="0" tIns="0" rIns="0" bIns="0" rtlCol="0" anchor="t">
            <a:normAutofit/>
          </a:bodyPr>
          <a:lstStyle/>
          <a:p>
            <a:pPr marL="0" indent="0" algn="l">
              <a:lnSpc>
                <a:spcPts val="1860"/>
              </a:lnSpc>
              <a:buNone/>
            </a:pPr>
            <a:r>
              <a:rPr lang="en-US" sz="1550" b="1" dirty="0">
                <a:solidFill>
                  <a:srgbClr val="E7EEF8"/>
                </a:solidFill>
                <a:latin typeface="IBM Plex Sans" pitchFamily="34" charset="0"/>
                <a:ea typeface="IBM Plex Sans" pitchFamily="34" charset="-122"/>
                <a:cs typeface="IBM Plex Sans" pitchFamily="34" charset="-120"/>
              </a:rPr>
              <a:t>Conjunction · cube method</a:t>
            </a:r>
            <a:endParaRPr lang="en-US" sz="1550" dirty="0"/>
          </a:p>
        </p:txBody>
      </p:sp>
      <p:sp>
        <p:nvSpPr>
          <p:cNvPr id="19" name="Text 14"/>
          <p:cNvSpPr/>
          <p:nvPr/>
        </p:nvSpPr>
        <p:spPr>
          <a:xfrm>
            <a:off x="8204200" y="3132138"/>
            <a:ext cx="3043513" cy="212064"/>
          </a:xfrm>
          <a:prstGeom prst="rect">
            <a:avLst/>
          </a:prstGeom>
          <a:noFill/>
          <a:ln/>
        </p:spPr>
        <p:txBody>
          <a:bodyPr wrap="square" lIns="0" tIns="0" rIns="0" bIns="0" rtlCol="0" anchor="t">
            <a:normAutofit/>
          </a:bodyPr>
          <a:lstStyle/>
          <a:p>
            <a:pPr marL="0" indent="0" algn="l">
              <a:lnSpc>
                <a:spcPts val="1470"/>
              </a:lnSpc>
              <a:buNone/>
            </a:pPr>
            <a:r>
              <a:rPr lang="en-US" sz="1050" dirty="0">
                <a:solidFill>
                  <a:srgbClr val="4DA6FF"/>
                </a:solidFill>
                <a:latin typeface="IBM Plex Mono" pitchFamily="34" charset="0"/>
                <a:ea typeface="IBM Plex Mono" pitchFamily="34" charset="-122"/>
                <a:cs typeface="IBM Plex Mono" pitchFamily="34" charset="-120"/>
              </a:rPr>
              <a:t>high · real geometry (GPU)</a:t>
            </a:r>
            <a:endParaRPr lang="en-US" sz="1050" dirty="0"/>
          </a:p>
        </p:txBody>
      </p:sp>
      <p:sp>
        <p:nvSpPr>
          <p:cNvPr id="20" name="Text 15"/>
          <p:cNvSpPr/>
          <p:nvPr/>
        </p:nvSpPr>
        <p:spPr>
          <a:xfrm>
            <a:off x="8204200" y="3420402"/>
            <a:ext cx="3043513" cy="668338"/>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9FB2CC"/>
                </a:solidFill>
                <a:latin typeface="IBM Plex Sans" pitchFamily="34" charset="0"/>
                <a:ea typeface="IBM Plex Sans" pitchFamily="34" charset="-122"/>
                <a:cs typeface="IBM Plex Sans" pitchFamily="34" charset="-120"/>
              </a:rPr>
              <a:t>Every object propagated on the GPU; a collision happens only where two orbits </a:t>
            </a:r>
            <a:r>
              <a:rPr lang="en-US" sz="1250" b="1" dirty="0">
                <a:solidFill>
                  <a:srgbClr val="9FB2CC"/>
                </a:solidFill>
                <a:latin typeface="IBM Plex Sans" pitchFamily="34" charset="0"/>
                <a:ea typeface="IBM Plex Sans" pitchFamily="34" charset="-122"/>
                <a:cs typeface="IBM Plex Sans" pitchFamily="34" charset="-120"/>
              </a:rPr>
              <a:t>actually cross</a:t>
            </a:r>
            <a:r>
              <a:rPr lang="en-US" sz="1250" dirty="0">
                <a:solidFill>
                  <a:srgbClr val="9FB2CC"/>
                </a:solidFill>
                <a:latin typeface="IBM Plex Sans" pitchFamily="34" charset="0"/>
                <a:ea typeface="IBM Plex Sans" pitchFamily="34" charset="-122"/>
                <a:cs typeface="IBM Plex Sans" pitchFamily="34" charset="-120"/>
              </a:rPr>
              <a:t> the same small cube.</a:t>
            </a:r>
            <a:endParaRPr lang="en-US" sz="1250" dirty="0"/>
          </a:p>
        </p:txBody>
      </p:sp>
      <p:sp>
        <p:nvSpPr>
          <p:cNvPr id="21" name="Text 16"/>
          <p:cNvSpPr/>
          <p:nvPr/>
        </p:nvSpPr>
        <p:spPr>
          <a:xfrm>
            <a:off x="8204200" y="4164940"/>
            <a:ext cx="3043513" cy="215239"/>
          </a:xfrm>
          <a:prstGeom prst="rect">
            <a:avLst/>
          </a:prstGeom>
          <a:noFill/>
          <a:ln/>
        </p:spPr>
        <p:txBody>
          <a:bodyPr wrap="square" lIns="0" tIns="0" rIns="0" bIns="0" rtlCol="0" anchor="t">
            <a:normAutofit/>
          </a:bodyPr>
          <a:lstStyle/>
          <a:p>
            <a:pPr marL="0" indent="0" algn="l">
              <a:lnSpc>
                <a:spcPts val="1495"/>
              </a:lnSpc>
              <a:buNone/>
            </a:pPr>
            <a:r>
              <a:rPr lang="en-US" sz="1150" dirty="0">
                <a:solidFill>
                  <a:srgbClr val="647A99"/>
                </a:solidFill>
                <a:latin typeface="IBM Plex Sans" pitchFamily="34" charset="0"/>
                <a:ea typeface="IBM Plex Sans" pitchFamily="34" charset="-122"/>
                <a:cs typeface="IBM Plex Sans" pitchFamily="34" charset="-120"/>
              </a:rPr>
              <a:t>Role: cross-check; matches box within 5%.</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PHYSICS</a:t>
            </a:r>
            <a:endParaRPr lang="en-US" sz="1200" dirty="0"/>
          </a:p>
        </p:txBody>
      </p:sp>
      <p:sp>
        <p:nvSpPr>
          <p:cNvPr id="3" name="Text 1"/>
          <p:cNvSpPr/>
          <p:nvPr/>
        </p:nvSpPr>
        <p:spPr>
          <a:xfrm>
            <a:off x="812800" y="1102320"/>
            <a:ext cx="10883392" cy="452107"/>
          </a:xfrm>
          <a:prstGeom prst="rect">
            <a:avLst/>
          </a:prstGeom>
          <a:noFill/>
          <a:ln/>
        </p:spPr>
        <p:txBody>
          <a:bodyPr wrap="square" lIns="0" tIns="0" rIns="0" bIns="0" rtlCol="0" anchor="t">
            <a:normAutofit/>
          </a:bodyPr>
          <a:lstStyle/>
          <a:p>
            <a:pPr marL="0" indent="0" algn="l">
              <a:lnSpc>
                <a:spcPts val="3360"/>
              </a:lnSpc>
              <a:buNone/>
            </a:pPr>
            <a:r>
              <a:rPr lang="en-US" sz="3200" b="1" dirty="0">
                <a:solidFill>
                  <a:srgbClr val="E7EEF8"/>
                </a:solidFill>
                <a:latin typeface="IBM Plex Sans" pitchFamily="34" charset="0"/>
                <a:ea typeface="IBM Plex Sans" pitchFamily="34" charset="-122"/>
                <a:cs typeface="IBM Plex Sans" pitchFamily="34" charset="-120"/>
              </a:rPr>
              <a:t>A single nail: lethal, but no satellite-destroyer</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4129698869"/>
              </p:ext>
            </p:extLst>
          </p:nvPr>
        </p:nvGraphicFramePr>
        <p:xfrm>
          <a:off x="812800" y="2286664"/>
          <a:ext cx="6236023" cy="2450572"/>
        </p:xfrm>
        <a:graphic>
          <a:graphicData uri="http://schemas.openxmlformats.org/drawingml/2006/table">
            <a:tbl>
              <a:tblPr/>
              <a:tblGrid>
                <a:gridCol w="2120248">
                  <a:extLst>
                    <a:ext uri="{9D8B030D-6E8A-4147-A177-3AD203B41FA5}">
                      <a16:colId xmlns:a16="http://schemas.microsoft.com/office/drawing/2014/main" val="20000"/>
                    </a:ext>
                  </a:extLst>
                </a:gridCol>
                <a:gridCol w="1122484">
                  <a:extLst>
                    <a:ext uri="{9D8B030D-6E8A-4147-A177-3AD203B41FA5}">
                      <a16:colId xmlns:a16="http://schemas.microsoft.com/office/drawing/2014/main" val="20001"/>
                    </a:ext>
                  </a:extLst>
                </a:gridCol>
                <a:gridCol w="1333405">
                  <a:extLst>
                    <a:ext uri="{9D8B030D-6E8A-4147-A177-3AD203B41FA5}">
                      <a16:colId xmlns:a16="http://schemas.microsoft.com/office/drawing/2014/main" val="20002"/>
                    </a:ext>
                  </a:extLst>
                </a:gridCol>
                <a:gridCol w="1659886">
                  <a:extLst>
                    <a:ext uri="{9D8B030D-6E8A-4147-A177-3AD203B41FA5}">
                      <a16:colId xmlns:a16="http://schemas.microsoft.com/office/drawing/2014/main" val="20003"/>
                    </a:ext>
                  </a:extLst>
                </a:gridCol>
              </a:tblGrid>
              <a:tr h="612643">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Impact @ 10 km/s</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Energy</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Catastrophic?</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Result</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extLst>
                  <a:ext uri="{0D108BD9-81ED-4DB2-BD59-A6C34878D82A}">
                    <a16:rowId xmlns:a16="http://schemas.microsoft.com/office/drawing/2014/main" val="10000"/>
                  </a:ext>
                </a:extLst>
              </a:tr>
              <a:tr h="612643">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4 g nail → 260 kg sat</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208 kJ</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39D98A"/>
                          </a:solidFill>
                          <a:latin typeface="IBM Plex Sans" pitchFamily="34" charset="0"/>
                          <a:ea typeface="IBM Plex Sans" pitchFamily="34" charset="-122"/>
                          <a:cs typeface="IBM Plex Sans" pitchFamily="34" charset="-120"/>
                        </a:rPr>
                        <a:t>No · 0.8 J/g</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Mission-kill + ~130 frags</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extLst>
                  <a:ext uri="{0D108BD9-81ED-4DB2-BD59-A6C34878D82A}">
                    <a16:rowId xmlns:a16="http://schemas.microsoft.com/office/drawing/2014/main" val="10001"/>
                  </a:ext>
                </a:extLst>
              </a:tr>
              <a:tr h="612643">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4 g nail → 3 kg cubesat</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208 kJ</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FF8C42"/>
                          </a:solidFill>
                          <a:latin typeface="IBM Plex Sans" pitchFamily="34" charset="0"/>
                          <a:ea typeface="IBM Plex Sans" pitchFamily="34" charset="-122"/>
                          <a:cs typeface="IBM Plex Sans" pitchFamily="34" charset="-120"/>
                        </a:rPr>
                        <a:t>Yes · 69 J/g</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Shattered · ~600 frags</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extLst>
                  <a:ext uri="{0D108BD9-81ED-4DB2-BD59-A6C34878D82A}">
                    <a16:rowId xmlns:a16="http://schemas.microsoft.com/office/drawing/2014/main" val="10002"/>
                  </a:ext>
                </a:extLst>
              </a:tr>
              <a:tr h="612643">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260 kg → 260 kg sat</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13 GJ</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FF5A52"/>
                          </a:solidFill>
                          <a:latin typeface="IBM Plex Sans" pitchFamily="34" charset="0"/>
                          <a:ea typeface="IBM Plex Sans" pitchFamily="34" charset="-122"/>
                          <a:cs typeface="IBM Plex Sans" pitchFamily="34" charset="-120"/>
                        </a:rPr>
                        <a:t>Yes, deeply</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~29,000 frags</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Shape 2"/>
          <p:cNvSpPr/>
          <p:nvPr/>
        </p:nvSpPr>
        <p:spPr>
          <a:xfrm>
            <a:off x="7221472" y="2289839"/>
            <a:ext cx="4154554" cy="2461154"/>
          </a:xfrm>
          <a:prstGeom prst="roundRect">
            <a:avLst>
              <a:gd name="adj" fmla="val 4515"/>
            </a:avLst>
          </a:prstGeom>
          <a:solidFill>
            <a:srgbClr val="0D1420"/>
          </a:solidFill>
          <a:ln w="6350">
            <a:solidFill>
              <a:srgbClr val="2A3A52"/>
            </a:solidFill>
            <a:prstDash val="solid"/>
          </a:ln>
        </p:spPr>
        <p:txBody>
          <a:bodyPr/>
          <a:lstStyle/>
          <a:p>
            <a:endParaRPr lang="en-CH"/>
          </a:p>
        </p:txBody>
      </p:sp>
      <p:sp>
        <p:nvSpPr>
          <p:cNvPr id="6" name="Text 3"/>
          <p:cNvSpPr/>
          <p:nvPr/>
        </p:nvSpPr>
        <p:spPr>
          <a:xfrm>
            <a:off x="7501930" y="2747702"/>
            <a:ext cx="3701446" cy="787400"/>
          </a:xfrm>
          <a:prstGeom prst="rect">
            <a:avLst/>
          </a:prstGeom>
          <a:noFill/>
          <a:ln/>
        </p:spPr>
        <p:txBody>
          <a:bodyPr wrap="square" lIns="0" tIns="0" rIns="0" bIns="0" rtlCol="0" anchor="t">
            <a:normAutofit/>
          </a:bodyPr>
          <a:lstStyle/>
          <a:p>
            <a:pPr marL="0" indent="0" algn="l">
              <a:lnSpc>
                <a:spcPts val="6000"/>
              </a:lnSpc>
              <a:buNone/>
            </a:pPr>
            <a:r>
              <a:rPr lang="en-US" sz="6000" b="1" dirty="0">
                <a:solidFill>
                  <a:srgbClr val="FFCF5C"/>
                </a:solidFill>
                <a:latin typeface="IBM Plex Sans" pitchFamily="34" charset="0"/>
                <a:ea typeface="IBM Plex Sans" pitchFamily="34" charset="-122"/>
                <a:cs typeface="IBM Plex Sans" pitchFamily="34" charset="-120"/>
              </a:rPr>
              <a:t>40 </a:t>
            </a:r>
            <a:r>
              <a:rPr lang="en-US" sz="6000" b="1" dirty="0">
                <a:solidFill>
                  <a:srgbClr val="9FB2CC"/>
                </a:solidFill>
                <a:latin typeface="IBM Plex Sans" pitchFamily="34" charset="0"/>
                <a:ea typeface="IBM Plex Sans" pitchFamily="34" charset="-122"/>
                <a:cs typeface="IBM Plex Sans" pitchFamily="34" charset="-120"/>
              </a:rPr>
              <a:t>J/g</a:t>
            </a:r>
            <a:endParaRPr lang="en-US" sz="6000" dirty="0"/>
          </a:p>
        </p:txBody>
      </p:sp>
      <p:sp>
        <p:nvSpPr>
          <p:cNvPr id="7" name="Text 4"/>
          <p:cNvSpPr/>
          <p:nvPr/>
        </p:nvSpPr>
        <p:spPr>
          <a:xfrm>
            <a:off x="7501930" y="3573202"/>
            <a:ext cx="3701446" cy="745331"/>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9FB2CC"/>
                </a:solidFill>
                <a:latin typeface="IBM Plex Sans" pitchFamily="34" charset="0"/>
                <a:ea typeface="IBM Plex Sans" pitchFamily="34" charset="-122"/>
                <a:cs typeface="IBM Plex Sans" pitchFamily="34" charset="-120"/>
              </a:rPr>
              <a:t>the catastrophic-fragmentation line. A nail against a Starlink lands at </a:t>
            </a:r>
            <a:r>
              <a:rPr lang="en-US" sz="1400" b="1" dirty="0">
                <a:solidFill>
                  <a:srgbClr val="9FB2CC"/>
                </a:solidFill>
                <a:latin typeface="IBM Plex Sans" pitchFamily="34" charset="0"/>
                <a:ea typeface="IBM Plex Sans" pitchFamily="34" charset="-122"/>
                <a:cs typeface="IBM Plex Sans" pitchFamily="34" charset="-120"/>
              </a:rPr>
              <a:t>0.8 J/g</a:t>
            </a:r>
            <a:r>
              <a:rPr lang="en-US" sz="1400" dirty="0">
                <a:solidFill>
                  <a:srgbClr val="9FB2CC"/>
                </a:solidFill>
                <a:latin typeface="IBM Plex Sans" pitchFamily="34" charset="0"/>
                <a:ea typeface="IBM Plex Sans" pitchFamily="34" charset="-122"/>
                <a:cs typeface="IBM Plex Sans" pitchFamily="34" charset="-120"/>
              </a:rPr>
              <a:t> — 50× too low.</a:t>
            </a:r>
            <a:endParaRPr lang="en-US" sz="1400" dirty="0"/>
          </a:p>
        </p:txBody>
      </p:sp>
      <p:sp>
        <p:nvSpPr>
          <p:cNvPr id="8" name="Text 5"/>
          <p:cNvSpPr/>
          <p:nvPr/>
        </p:nvSpPr>
        <p:spPr>
          <a:xfrm>
            <a:off x="812800" y="5511800"/>
            <a:ext cx="10883392" cy="5588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9FB2CC"/>
                </a:solidFill>
                <a:latin typeface="IBM Plex Sans" pitchFamily="34" charset="0"/>
                <a:ea typeface="IBM Plex Sans" pitchFamily="34" charset="-122"/>
                <a:cs typeface="IBM Plex Sans" pitchFamily="34" charset="-120"/>
              </a:rPr>
              <a:t>A nail mission-kills whatever it hits, but to </a:t>
            </a:r>
            <a:r>
              <a:rPr lang="en-US" sz="1500" b="1" dirty="0">
                <a:solidFill>
                  <a:srgbClr val="9FB2CC"/>
                </a:solidFill>
                <a:latin typeface="IBM Plex Sans" pitchFamily="34" charset="0"/>
                <a:ea typeface="IBM Plex Sans" pitchFamily="34" charset="-122"/>
                <a:cs typeface="IBM Plex Sans" pitchFamily="34" charset="-120"/>
              </a:rPr>
              <a:t>shatter</a:t>
            </a:r>
            <a:r>
              <a:rPr lang="en-US" sz="1500" dirty="0">
                <a:solidFill>
                  <a:srgbClr val="9FB2CC"/>
                </a:solidFill>
                <a:latin typeface="IBM Plex Sans" pitchFamily="34" charset="0"/>
                <a:ea typeface="IBM Plex Sans" pitchFamily="34" charset="-122"/>
                <a:cs typeface="IBM Plex Sans" pitchFamily="34" charset="-120"/>
              </a:rPr>
              <a:t> a 260 kg satellite you'd need a ~200 g bolt, not a nail. The huge fragment clouds come from </a:t>
            </a:r>
            <a:r>
              <a:rPr lang="en-US" sz="1500" dirty="0">
                <a:solidFill>
                  <a:srgbClr val="FFCF5C"/>
                </a:solidFill>
                <a:latin typeface="IBM Plex Sans" pitchFamily="34" charset="0"/>
                <a:ea typeface="IBM Plex Sans" pitchFamily="34" charset="-122"/>
                <a:cs typeface="IBM Plex Sans" pitchFamily="34" charset="-120"/>
              </a:rPr>
              <a:t>large-on-large</a:t>
            </a:r>
            <a:r>
              <a:rPr lang="en-US" sz="1500" dirty="0">
                <a:solidFill>
                  <a:srgbClr val="9FB2CC"/>
                </a:solidFill>
                <a:latin typeface="IBM Plex Sans" pitchFamily="34" charset="0"/>
                <a:ea typeface="IBM Plex Sans" pitchFamily="34" charset="-122"/>
                <a:cs typeface="IBM Plex Sans" pitchFamily="34" charset="-120"/>
              </a:rPr>
              <a:t> collisions.</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2199481"/>
            <a:ext cx="5180076"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CASCADE</a:t>
            </a:r>
            <a:endParaRPr lang="en-US" sz="1200" dirty="0"/>
          </a:p>
        </p:txBody>
      </p:sp>
      <p:sp>
        <p:nvSpPr>
          <p:cNvPr id="3" name="Text 1"/>
          <p:cNvSpPr/>
          <p:nvPr/>
        </p:nvSpPr>
        <p:spPr>
          <a:xfrm>
            <a:off x="812800" y="2577902"/>
            <a:ext cx="5180076" cy="1087570"/>
          </a:xfrm>
          <a:prstGeom prst="rect">
            <a:avLst/>
          </a:prstGeom>
          <a:noFill/>
          <a:ln/>
        </p:spPr>
        <p:txBody>
          <a:bodyPr wrap="square" lIns="0" tIns="0" rIns="0" bIns="0" rtlCol="0" anchor="t">
            <a:normAutofit/>
          </a:bodyPr>
          <a:lstStyle/>
          <a:p>
            <a:pPr marL="0" indent="0" algn="l">
              <a:lnSpc>
                <a:spcPts val="4182"/>
              </a:lnSpc>
              <a:buNone/>
            </a:pPr>
            <a:r>
              <a:rPr lang="en-US" sz="4100" b="1" dirty="0">
                <a:solidFill>
                  <a:srgbClr val="E7EEF8"/>
                </a:solidFill>
                <a:latin typeface="IBM Plex Sans" pitchFamily="34" charset="0"/>
                <a:ea typeface="IBM Plex Sans" pitchFamily="34" charset="-122"/>
                <a:cs typeface="IBM Plex Sans" pitchFamily="34" charset="-120"/>
              </a:rPr>
              <a:t>Accelerant,</a:t>
            </a:r>
            <a:endParaRPr lang="en-US" sz="4100" dirty="0"/>
          </a:p>
          <a:p>
            <a:pPr marL="0" indent="0" algn="l">
              <a:lnSpc>
                <a:spcPts val="4182"/>
              </a:lnSpc>
              <a:buNone/>
            </a:pPr>
            <a:r>
              <a:rPr lang="en-US" sz="4100" b="1" dirty="0">
                <a:solidFill>
                  <a:srgbClr val="E7EEF8"/>
                </a:solidFill>
                <a:latin typeface="IBM Plex Sans" pitchFamily="34" charset="0"/>
                <a:ea typeface="IBM Plex Sans" pitchFamily="34" charset="-122"/>
                <a:cs typeface="IBM Plex Sans" pitchFamily="34" charset="-120"/>
              </a:rPr>
              <a:t>not igniter</a:t>
            </a:r>
            <a:endParaRPr lang="en-US" sz="4100" dirty="0"/>
          </a:p>
        </p:txBody>
      </p:sp>
      <p:sp>
        <p:nvSpPr>
          <p:cNvPr id="4" name="Text 2"/>
          <p:cNvSpPr/>
          <p:nvPr/>
        </p:nvSpPr>
        <p:spPr>
          <a:xfrm>
            <a:off x="812800" y="3805175"/>
            <a:ext cx="5180076" cy="878681"/>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9FB2CC"/>
                </a:solidFill>
                <a:latin typeface="IBM Plex Sans" pitchFamily="34" charset="0"/>
                <a:ea typeface="IBM Plex Sans" pitchFamily="34" charset="-122"/>
                <a:cs typeface="IBM Plex Sans" pitchFamily="34" charset="-120"/>
              </a:rPr>
              <a:t>A barrel can't start Kessler by itself — nails are too light to shatter big objects. What it does is </a:t>
            </a:r>
            <a:r>
              <a:rPr lang="en-US" sz="1600" b="1" dirty="0">
                <a:solidFill>
                  <a:srgbClr val="9FB2CC"/>
                </a:solidFill>
                <a:latin typeface="IBM Plex Sans" pitchFamily="34" charset="0"/>
                <a:ea typeface="IBM Plex Sans" pitchFamily="34" charset="-122"/>
                <a:cs typeface="IBM Plex Sans" pitchFamily="34" charset="-120"/>
              </a:rPr>
              <a:t>slightly raise the odds</a:t>
            </a:r>
            <a:r>
              <a:rPr lang="en-US" sz="1600" dirty="0">
                <a:solidFill>
                  <a:srgbClr val="9FB2CC"/>
                </a:solidFill>
                <a:latin typeface="IBM Plex Sans" pitchFamily="34" charset="0"/>
                <a:ea typeface="IBM Plex Sans" pitchFamily="34" charset="-122"/>
                <a:cs typeface="IBM Plex Sans" pitchFamily="34" charset="-120"/>
              </a:rPr>
              <a:t> of the large-on-large collisions that already drive the belt.</a:t>
            </a:r>
            <a:endParaRPr lang="en-US" sz="1600" dirty="0"/>
          </a:p>
        </p:txBody>
      </p:sp>
      <p:sp>
        <p:nvSpPr>
          <p:cNvPr id="5" name="Shape 3"/>
          <p:cNvSpPr/>
          <p:nvPr/>
        </p:nvSpPr>
        <p:spPr>
          <a:xfrm>
            <a:off x="6353175" y="1565275"/>
            <a:ext cx="5022850" cy="1145117"/>
          </a:xfrm>
          <a:prstGeom prst="roundRect">
            <a:avLst>
              <a:gd name="adj" fmla="val 7486"/>
            </a:avLst>
          </a:prstGeom>
          <a:solidFill>
            <a:srgbClr val="06080E"/>
          </a:solidFill>
          <a:ln w="6350">
            <a:solidFill>
              <a:srgbClr val="2A3A52"/>
            </a:solidFill>
            <a:prstDash val="solid"/>
          </a:ln>
        </p:spPr>
        <p:txBody>
          <a:bodyPr/>
          <a:lstStyle/>
          <a:p>
            <a:endParaRPr lang="en-CH"/>
          </a:p>
        </p:txBody>
      </p:sp>
      <p:sp>
        <p:nvSpPr>
          <p:cNvPr id="6" name="Text 4"/>
          <p:cNvSpPr/>
          <p:nvPr/>
        </p:nvSpPr>
        <p:spPr>
          <a:xfrm>
            <a:off x="6432468" y="1782235"/>
            <a:ext cx="395502" cy="736600"/>
          </a:xfrm>
          <a:prstGeom prst="rect">
            <a:avLst/>
          </a:prstGeom>
          <a:noFill/>
          <a:ln/>
        </p:spPr>
        <p:txBody>
          <a:bodyPr wrap="square" lIns="0" tIns="0" rIns="0" bIns="0" rtlCol="0" anchor="t">
            <a:normAutofit/>
          </a:bodyPr>
          <a:lstStyle/>
          <a:p>
            <a:pPr marL="0" indent="0" algn="l">
              <a:lnSpc>
                <a:spcPts val="2800"/>
              </a:lnSpc>
              <a:buNone/>
            </a:pPr>
            <a:r>
              <a:rPr lang="en-US" sz="2000" dirty="0">
                <a:solidFill>
                  <a:srgbClr val="4DA6FF"/>
                </a:solidFill>
                <a:latin typeface="IBM Plex Mono" pitchFamily="34" charset="0"/>
                <a:ea typeface="IBM Plex Mono" pitchFamily="34" charset="-122"/>
                <a:cs typeface="IBM Plex Mono" pitchFamily="34" charset="-120"/>
              </a:rPr>
              <a:t>01</a:t>
            </a:r>
            <a:endParaRPr lang="en-US" sz="2000" dirty="0"/>
          </a:p>
        </p:txBody>
      </p:sp>
      <p:sp>
        <p:nvSpPr>
          <p:cNvPr id="7" name="Text 5"/>
          <p:cNvSpPr/>
          <p:nvPr/>
        </p:nvSpPr>
        <p:spPr>
          <a:xfrm>
            <a:off x="6929570" y="1782235"/>
            <a:ext cx="4356382" cy="522552"/>
          </a:xfrm>
          <a:prstGeom prst="rect">
            <a:avLst/>
          </a:prstGeom>
          <a:noFill/>
          <a:ln/>
        </p:spPr>
        <p:txBody>
          <a:bodyPr wrap="square" lIns="0" tIns="0" rIns="0" bIns="0" rtlCol="0" anchor="t">
            <a:normAutofit/>
          </a:bodyPr>
          <a:lstStyle/>
          <a:p>
            <a:pPr marL="0" indent="0" algn="l">
              <a:lnSpc>
                <a:spcPts val="1958"/>
              </a:lnSpc>
              <a:buNone/>
            </a:pPr>
            <a:r>
              <a:rPr lang="en-US" sz="1450" dirty="0">
                <a:solidFill>
                  <a:srgbClr val="E7EEF8"/>
                </a:solidFill>
                <a:latin typeface="IBM Plex Sans" pitchFamily="34" charset="0"/>
                <a:ea typeface="IBM Plex Sans" pitchFamily="34" charset="-122"/>
                <a:cs typeface="IBM Plex Sans" pitchFamily="34" charset="-120"/>
              </a:rPr>
              <a:t>Nails mission-kill satellites, leaving </a:t>
            </a:r>
            <a:r>
              <a:rPr lang="en-US" sz="1450" b="1" dirty="0">
                <a:solidFill>
                  <a:srgbClr val="E7EEF8"/>
                </a:solidFill>
                <a:latin typeface="IBM Plex Sans" pitchFamily="34" charset="0"/>
                <a:ea typeface="IBM Plex Sans" pitchFamily="34" charset="-122"/>
                <a:cs typeface="IBM Plex Sans" pitchFamily="34" charset="-120"/>
              </a:rPr>
              <a:t>dead hulks</a:t>
            </a:r>
            <a:r>
              <a:rPr lang="en-US" sz="1450" dirty="0">
                <a:solidFill>
                  <a:srgbClr val="E7EEF8"/>
                </a:solidFill>
                <a:latin typeface="IBM Plex Sans" pitchFamily="34" charset="0"/>
                <a:ea typeface="IBM Plex Sans" pitchFamily="34" charset="-122"/>
                <a:cs typeface="IBM Plex Sans" pitchFamily="34" charset="-120"/>
              </a:rPr>
              <a:t> and cratering debris behind.</a:t>
            </a:r>
            <a:endParaRPr lang="en-US" sz="1450" dirty="0"/>
          </a:p>
        </p:txBody>
      </p:sp>
      <p:sp>
        <p:nvSpPr>
          <p:cNvPr id="8" name="Shape 6"/>
          <p:cNvSpPr/>
          <p:nvPr/>
        </p:nvSpPr>
        <p:spPr>
          <a:xfrm>
            <a:off x="6353175" y="2856446"/>
            <a:ext cx="5022850" cy="1145117"/>
          </a:xfrm>
          <a:prstGeom prst="roundRect">
            <a:avLst>
              <a:gd name="adj" fmla="val 7486"/>
            </a:avLst>
          </a:prstGeom>
          <a:solidFill>
            <a:srgbClr val="06080E"/>
          </a:solidFill>
          <a:ln w="6350">
            <a:solidFill>
              <a:srgbClr val="2A3A52"/>
            </a:solidFill>
            <a:prstDash val="solid"/>
          </a:ln>
        </p:spPr>
        <p:txBody>
          <a:bodyPr/>
          <a:lstStyle/>
          <a:p>
            <a:endParaRPr lang="en-CH"/>
          </a:p>
        </p:txBody>
      </p:sp>
      <p:sp>
        <p:nvSpPr>
          <p:cNvPr id="9" name="Text 7"/>
          <p:cNvSpPr/>
          <p:nvPr/>
        </p:nvSpPr>
        <p:spPr>
          <a:xfrm>
            <a:off x="6432468" y="3073400"/>
            <a:ext cx="461318" cy="736600"/>
          </a:xfrm>
          <a:prstGeom prst="rect">
            <a:avLst/>
          </a:prstGeom>
          <a:noFill/>
          <a:ln/>
        </p:spPr>
        <p:txBody>
          <a:bodyPr wrap="square" lIns="0" tIns="0" rIns="0" bIns="0" rtlCol="0" anchor="t">
            <a:normAutofit/>
          </a:bodyPr>
          <a:lstStyle/>
          <a:p>
            <a:pPr marL="0" indent="0" algn="l">
              <a:lnSpc>
                <a:spcPts val="2800"/>
              </a:lnSpc>
              <a:buNone/>
            </a:pPr>
            <a:r>
              <a:rPr lang="en-US" sz="2000" dirty="0">
                <a:solidFill>
                  <a:srgbClr val="FFCF5C"/>
                </a:solidFill>
                <a:latin typeface="IBM Plex Mono" pitchFamily="34" charset="0"/>
                <a:ea typeface="IBM Plex Mono" pitchFamily="34" charset="-122"/>
                <a:cs typeface="IBM Plex Mono" pitchFamily="34" charset="-120"/>
              </a:rPr>
              <a:t>02</a:t>
            </a:r>
            <a:endParaRPr lang="en-US" sz="2000" dirty="0"/>
          </a:p>
        </p:txBody>
      </p:sp>
      <p:sp>
        <p:nvSpPr>
          <p:cNvPr id="10" name="Text 8"/>
          <p:cNvSpPr/>
          <p:nvPr/>
        </p:nvSpPr>
        <p:spPr>
          <a:xfrm>
            <a:off x="6995385" y="3073400"/>
            <a:ext cx="4288592" cy="522552"/>
          </a:xfrm>
          <a:prstGeom prst="rect">
            <a:avLst/>
          </a:prstGeom>
          <a:noFill/>
          <a:ln/>
        </p:spPr>
        <p:txBody>
          <a:bodyPr wrap="square" lIns="0" tIns="0" rIns="0" bIns="0" rtlCol="0" anchor="t">
            <a:normAutofit/>
          </a:bodyPr>
          <a:lstStyle/>
          <a:p>
            <a:pPr marL="0" indent="0" algn="l">
              <a:lnSpc>
                <a:spcPts val="1958"/>
              </a:lnSpc>
              <a:buNone/>
            </a:pPr>
            <a:r>
              <a:rPr lang="en-US" sz="1450" dirty="0">
                <a:solidFill>
                  <a:srgbClr val="E7EEF8"/>
                </a:solidFill>
                <a:latin typeface="IBM Plex Sans" pitchFamily="34" charset="0"/>
                <a:ea typeface="IBM Plex Sans" pitchFamily="34" charset="-122"/>
                <a:cs typeface="IBM Plex Sans" pitchFamily="34" charset="-120"/>
              </a:rPr>
              <a:t>That extra mass </a:t>
            </a:r>
            <a:r>
              <a:rPr lang="en-US" sz="1450" b="1" dirty="0">
                <a:solidFill>
                  <a:srgbClr val="E7EEF8"/>
                </a:solidFill>
                <a:latin typeface="IBM Plex Sans" pitchFamily="34" charset="0"/>
                <a:ea typeface="IBM Plex Sans" pitchFamily="34" charset="-122"/>
                <a:cs typeface="IBM Plex Sans" pitchFamily="34" charset="-120"/>
              </a:rPr>
              <a:t>raises the standing density</a:t>
            </a:r>
            <a:r>
              <a:rPr lang="en-US" sz="1450" dirty="0">
                <a:solidFill>
                  <a:srgbClr val="E7EEF8"/>
                </a:solidFill>
                <a:latin typeface="IBM Plex Sans" pitchFamily="34" charset="0"/>
                <a:ea typeface="IBM Plex Sans" pitchFamily="34" charset="-122"/>
                <a:cs typeface="IBM Plex Sans" pitchFamily="34" charset="-120"/>
              </a:rPr>
              <a:t> in the shell.</a:t>
            </a:r>
            <a:endParaRPr lang="en-US" sz="1450" dirty="0"/>
          </a:p>
        </p:txBody>
      </p:sp>
      <p:sp>
        <p:nvSpPr>
          <p:cNvPr id="11" name="Shape 9"/>
          <p:cNvSpPr/>
          <p:nvPr/>
        </p:nvSpPr>
        <p:spPr>
          <a:xfrm>
            <a:off x="6353175" y="4147610"/>
            <a:ext cx="5022850" cy="1145117"/>
          </a:xfrm>
          <a:prstGeom prst="roundRect">
            <a:avLst>
              <a:gd name="adj" fmla="val 7486"/>
            </a:avLst>
          </a:prstGeom>
          <a:solidFill>
            <a:srgbClr val="06080E"/>
          </a:solidFill>
          <a:ln w="6350">
            <a:solidFill>
              <a:srgbClr val="2A3A52"/>
            </a:solidFill>
            <a:prstDash val="solid"/>
          </a:ln>
        </p:spPr>
        <p:txBody>
          <a:bodyPr/>
          <a:lstStyle/>
          <a:p>
            <a:endParaRPr lang="en-CH"/>
          </a:p>
        </p:txBody>
      </p:sp>
      <p:sp>
        <p:nvSpPr>
          <p:cNvPr id="12" name="Text 10"/>
          <p:cNvSpPr/>
          <p:nvPr/>
        </p:nvSpPr>
        <p:spPr>
          <a:xfrm>
            <a:off x="6460178" y="4364571"/>
            <a:ext cx="351654" cy="736600"/>
          </a:xfrm>
          <a:prstGeom prst="rect">
            <a:avLst/>
          </a:prstGeom>
          <a:noFill/>
          <a:ln/>
        </p:spPr>
        <p:txBody>
          <a:bodyPr wrap="square" lIns="0" tIns="0" rIns="0" bIns="0" rtlCol="0" anchor="t">
            <a:normAutofit/>
          </a:bodyPr>
          <a:lstStyle/>
          <a:p>
            <a:pPr marL="0" indent="0" algn="l">
              <a:lnSpc>
                <a:spcPts val="2800"/>
              </a:lnSpc>
              <a:buNone/>
            </a:pPr>
            <a:r>
              <a:rPr lang="en-US" sz="2000" dirty="0">
                <a:solidFill>
                  <a:srgbClr val="FF5A52"/>
                </a:solidFill>
                <a:latin typeface="IBM Plex Mono" pitchFamily="34" charset="0"/>
                <a:ea typeface="IBM Plex Mono" pitchFamily="34" charset="-122"/>
                <a:cs typeface="IBM Plex Mono" pitchFamily="34" charset="-120"/>
              </a:rPr>
              <a:t>03</a:t>
            </a:r>
            <a:endParaRPr lang="en-US" sz="2000" dirty="0"/>
          </a:p>
        </p:txBody>
      </p:sp>
      <p:sp>
        <p:nvSpPr>
          <p:cNvPr id="13" name="Text 11"/>
          <p:cNvSpPr/>
          <p:nvPr/>
        </p:nvSpPr>
        <p:spPr>
          <a:xfrm>
            <a:off x="6913431" y="4364571"/>
            <a:ext cx="4373006" cy="522552"/>
          </a:xfrm>
          <a:prstGeom prst="rect">
            <a:avLst/>
          </a:prstGeom>
          <a:noFill/>
          <a:ln/>
        </p:spPr>
        <p:txBody>
          <a:bodyPr wrap="square" lIns="0" tIns="0" rIns="0" bIns="0" rtlCol="0" anchor="t">
            <a:normAutofit/>
          </a:bodyPr>
          <a:lstStyle/>
          <a:p>
            <a:pPr marL="0" indent="0" algn="l">
              <a:lnSpc>
                <a:spcPts val="1958"/>
              </a:lnSpc>
              <a:buNone/>
            </a:pPr>
            <a:r>
              <a:rPr lang="en-US" sz="1450" dirty="0">
                <a:solidFill>
                  <a:srgbClr val="E7EEF8"/>
                </a:solidFill>
                <a:latin typeface="IBM Plex Sans" pitchFamily="34" charset="0"/>
                <a:ea typeface="IBM Plex Sans" pitchFamily="34" charset="-122"/>
                <a:cs typeface="IBM Plex Sans" pitchFamily="34" charset="-120"/>
              </a:rPr>
              <a:t>But the push is weak: </a:t>
            </a:r>
            <a:r>
              <a:rPr lang="en-US" sz="1450" b="1" dirty="0">
                <a:solidFill>
                  <a:srgbClr val="E7EEF8"/>
                </a:solidFill>
                <a:latin typeface="IBM Plex Sans" pitchFamily="34" charset="0"/>
                <a:ea typeface="IBM Plex Sans" pitchFamily="34" charset="-122"/>
                <a:cs typeface="IBM Plex Sans" pitchFamily="34" charset="-120"/>
              </a:rPr>
              <a:t>1,000 barrels add only ~16%</a:t>
            </a:r>
            <a:r>
              <a:rPr lang="en-US" sz="1450" dirty="0">
                <a:solidFill>
                  <a:srgbClr val="E7EEF8"/>
                </a:solidFill>
                <a:latin typeface="IBM Plex Sans" pitchFamily="34" charset="0"/>
                <a:ea typeface="IBM Plex Sans" pitchFamily="34" charset="-122"/>
                <a:cs typeface="IBM Plex Sans" pitchFamily="34" charset="-120"/>
              </a:rPr>
              <a:t> to the ≥10 cm belt in 50 years.</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6080E"/>
        </a:solidFill>
        <a:effectLst/>
      </p:bgPr>
    </p:bg>
    <p:spTree>
      <p:nvGrpSpPr>
        <p:cNvPr id="1" name=""/>
        <p:cNvGrpSpPr/>
        <p:nvPr/>
      </p:nvGrpSpPr>
      <p:grpSpPr>
        <a:xfrm>
          <a:off x="0" y="0"/>
          <a:ext cx="0" cy="0"/>
          <a:chOff x="0" y="0"/>
          <a:chExt cx="0" cy="0"/>
        </a:xfrm>
      </p:grpSpPr>
      <p:sp>
        <p:nvSpPr>
          <p:cNvPr id="2" name="TextBox 1"/>
          <p:cNvSpPr txBox="1"/>
          <p:nvPr/>
        </p:nvSpPr>
        <p:spPr>
          <a:xfrm>
            <a:off x="813816" y="694944"/>
            <a:ext cx="10881360" cy="237744"/>
          </a:xfrm>
          <a:prstGeom prst="rect">
            <a:avLst/>
          </a:prstGeom>
          <a:noFill/>
        </p:spPr>
        <p:txBody>
          <a:bodyPr wrap="square" lIns="0" rIns="0">
            <a:spAutoFit/>
          </a:bodyPr>
          <a:lstStyle/>
          <a:p>
            <a:pPr algn="l"/>
            <a:r>
              <a:rPr sz="1200" b="0" spc="250">
                <a:solidFill>
                  <a:srgbClr val="4DA6FF"/>
                </a:solidFill>
                <a:latin typeface="IBM Plex Mono"/>
              </a:rPr>
              <a:t>ORBIT VISUALIZATION</a:t>
            </a:r>
          </a:p>
        </p:txBody>
      </p:sp>
      <p:sp>
        <p:nvSpPr>
          <p:cNvPr id="3" name="TextBox 2"/>
          <p:cNvSpPr txBox="1"/>
          <p:nvPr/>
        </p:nvSpPr>
        <p:spPr>
          <a:xfrm>
            <a:off x="813816" y="978408"/>
            <a:ext cx="10881360" cy="402336"/>
          </a:xfrm>
          <a:prstGeom prst="rect">
            <a:avLst/>
          </a:prstGeom>
          <a:noFill/>
        </p:spPr>
        <p:txBody>
          <a:bodyPr wrap="square" lIns="0" rIns="0">
            <a:spAutoFit/>
          </a:bodyPr>
          <a:lstStyle/>
          <a:p>
            <a:pPr algn="l"/>
            <a:r>
              <a:rPr sz="2900" b="1">
                <a:solidFill>
                  <a:srgbClr val="E7EEF8"/>
                </a:solidFill>
                <a:latin typeface="IBM Plex Sans"/>
              </a:rPr>
              <a:t>The nail cloud spreads, then rains out</a:t>
            </a:r>
          </a:p>
        </p:txBody>
      </p:sp>
      <p:sp>
        <p:nvSpPr>
          <p:cNvPr id="7" name="TextBox 6"/>
          <p:cNvSpPr txBox="1"/>
          <p:nvPr/>
        </p:nvSpPr>
        <p:spPr>
          <a:xfrm>
            <a:off x="813816" y="5257800"/>
            <a:ext cx="10570464" cy="731520"/>
          </a:xfrm>
          <a:prstGeom prst="rect">
            <a:avLst/>
          </a:prstGeom>
          <a:noFill/>
        </p:spPr>
        <p:txBody>
          <a:bodyPr wrap="square" lIns="0" rIns="0">
            <a:spAutoFit/>
          </a:bodyPr>
          <a:lstStyle/>
          <a:p>
            <a:pPr algn="l"/>
            <a:r>
              <a:rPr sz="1400" b="0">
                <a:solidFill>
                  <a:srgbClr val="9FB2CC"/>
                </a:solidFill>
                <a:latin typeface="IBM Plex Sans"/>
              </a:rPr>
              <a:t>Left → right: a tight ring at release, spread into a shell by differential precession, then decaying under atmospheric drag — ~46% remain after ~1.5 years at 550 km. Model output, 200,000 nails, J2 + drag.</a:t>
            </a:r>
          </a:p>
        </p:txBody>
      </p:sp>
      <p:pic>
        <p:nvPicPr>
          <p:cNvPr id="8" name="Picture 7" descr="frame1.png"/>
          <p:cNvPicPr>
            <a:picLocks noChangeAspect="1"/>
          </p:cNvPicPr>
          <p:nvPr/>
        </p:nvPicPr>
        <p:blipFill>
          <a:blip r:embed="rId5"/>
          <a:stretch>
            <a:fillRect/>
          </a:stretch>
        </p:blipFill>
        <p:spPr>
          <a:xfrm>
            <a:off x="813816" y="1600200"/>
            <a:ext cx="3355848" cy="3355848"/>
          </a:xfrm>
          <a:prstGeom prst="rect">
            <a:avLst/>
          </a:prstGeom>
        </p:spPr>
      </p:pic>
      <p:pic>
        <p:nvPicPr>
          <p:cNvPr id="9" name="Picture 8" descr="frame2.png"/>
          <p:cNvPicPr>
            <a:picLocks noChangeAspect="1"/>
          </p:cNvPicPr>
          <p:nvPr/>
        </p:nvPicPr>
        <p:blipFill>
          <a:blip r:embed="rId6"/>
          <a:stretch>
            <a:fillRect/>
          </a:stretch>
        </p:blipFill>
        <p:spPr>
          <a:xfrm>
            <a:off x="4421124" y="1600200"/>
            <a:ext cx="3355848" cy="3355848"/>
          </a:xfrm>
          <a:prstGeom prst="rect">
            <a:avLst/>
          </a:prstGeom>
        </p:spPr>
      </p:pic>
      <p:pic>
        <p:nvPicPr>
          <p:cNvPr id="10" name="Picture 9" descr="frame3.png"/>
          <p:cNvPicPr>
            <a:picLocks noChangeAspect="1"/>
          </p:cNvPicPr>
          <p:nvPr/>
        </p:nvPicPr>
        <p:blipFill>
          <a:blip r:embed="rId7"/>
          <a:stretch>
            <a:fillRect/>
          </a:stretch>
        </p:blipFill>
        <p:spPr>
          <a:xfrm>
            <a:off x="8028431" y="1600200"/>
            <a:ext cx="3355848" cy="335584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5">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SCALE CHECK</a:t>
            </a:r>
            <a:endParaRPr lang="en-US" sz="1200" dirty="0"/>
          </a:p>
        </p:txBody>
      </p:sp>
      <p:sp>
        <p:nvSpPr>
          <p:cNvPr id="3" name="Text 1"/>
          <p:cNvSpPr/>
          <p:nvPr/>
        </p:nvSpPr>
        <p:spPr>
          <a:xfrm>
            <a:off x="812800" y="975320"/>
            <a:ext cx="10883392" cy="430874"/>
          </a:xfrm>
          <a:prstGeom prst="rect">
            <a:avLst/>
          </a:prstGeom>
          <a:noFill/>
          <a:ln/>
        </p:spPr>
        <p:txBody>
          <a:bodyPr wrap="square" lIns="0" tIns="0" rIns="0" bIns="0" rtlCol="0" anchor="t">
            <a:normAutofit/>
          </a:bodyPr>
          <a:lstStyle/>
          <a:p>
            <a:pPr marL="0" indent="0" algn="l">
              <a:lnSpc>
                <a:spcPts val="3193"/>
              </a:lnSpc>
              <a:buNone/>
            </a:pPr>
            <a:r>
              <a:rPr lang="en-US" sz="3100" b="1" dirty="0">
                <a:solidFill>
                  <a:srgbClr val="E7EEF8"/>
                </a:solidFill>
                <a:latin typeface="IBM Plex Sans" pitchFamily="34" charset="0"/>
                <a:ea typeface="IBM Plex Sans" pitchFamily="34" charset="-122"/>
                <a:cs typeface="IBM Plex Sans" pitchFamily="34" charset="-120"/>
              </a:rPr>
              <a:t>How many barrels to tip a band?</a:t>
            </a:r>
            <a:endParaRPr lang="en-US" sz="3100" dirty="0"/>
          </a:p>
        </p:txBody>
      </p:sp>
      <p:sp>
        <p:nvSpPr>
          <p:cNvPr id="4" name="Shape 2"/>
          <p:cNvSpPr/>
          <p:nvPr/>
        </p:nvSpPr>
        <p:spPr>
          <a:xfrm>
            <a:off x="815975" y="2695972"/>
            <a:ext cx="3363383" cy="1482923"/>
          </a:xfrm>
          <a:prstGeom prst="roundRect">
            <a:avLst>
              <a:gd name="adj" fmla="val 7494"/>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096433" y="2976432"/>
            <a:ext cx="2886541"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FFCF5C"/>
                </a:solidFill>
                <a:latin typeface="IBM Plex Sans" pitchFamily="34" charset="0"/>
                <a:ea typeface="IBM Plex Sans" pitchFamily="34" charset="-122"/>
                <a:cs typeface="IBM Plex Sans" pitchFamily="34" charset="-120"/>
              </a:rPr>
              <a:t>≤ +16%</a:t>
            </a:r>
            <a:endParaRPr lang="en-US" sz="4800" dirty="0"/>
          </a:p>
        </p:txBody>
      </p:sp>
      <p:sp>
        <p:nvSpPr>
          <p:cNvPr id="6" name="Text 4"/>
          <p:cNvSpPr/>
          <p:nvPr/>
        </p:nvSpPr>
        <p:spPr>
          <a:xfrm>
            <a:off x="1096433" y="3649532"/>
            <a:ext cx="2886541"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9FB2CC"/>
                </a:solidFill>
                <a:latin typeface="IBM Plex Sans" pitchFamily="34" charset="0"/>
                <a:ea typeface="IBM Plex Sans" pitchFamily="34" charset="-122"/>
                <a:cs typeface="IBM Plex Sans" pitchFamily="34" charset="-120"/>
              </a:rPr>
              <a:t>any number of barrels, ≥10 cm belt</a:t>
            </a:r>
            <a:endParaRPr lang="en-US" sz="1400" dirty="0"/>
          </a:p>
        </p:txBody>
      </p:sp>
      <p:sp>
        <p:nvSpPr>
          <p:cNvPr id="7" name="Shape 5"/>
          <p:cNvSpPr/>
          <p:nvPr/>
        </p:nvSpPr>
        <p:spPr>
          <a:xfrm>
            <a:off x="4414308" y="2695972"/>
            <a:ext cx="3363383" cy="1482923"/>
          </a:xfrm>
          <a:prstGeom prst="roundRect">
            <a:avLst>
              <a:gd name="adj" fmla="val 7494"/>
            </a:avLst>
          </a:prstGeom>
          <a:solidFill>
            <a:srgbClr val="0D1420"/>
          </a:solidFill>
          <a:ln w="6350">
            <a:solidFill>
              <a:srgbClr val="2A3A52"/>
            </a:solidFill>
            <a:prstDash val="solid"/>
          </a:ln>
        </p:spPr>
        <p:txBody>
          <a:bodyPr/>
          <a:lstStyle/>
          <a:p>
            <a:endParaRPr lang="en-CH"/>
          </a:p>
        </p:txBody>
      </p:sp>
      <p:sp>
        <p:nvSpPr>
          <p:cNvPr id="8" name="Text 6"/>
          <p:cNvSpPr/>
          <p:nvPr/>
        </p:nvSpPr>
        <p:spPr>
          <a:xfrm>
            <a:off x="4694767" y="2976432"/>
            <a:ext cx="2886541"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FF8C42"/>
                </a:solidFill>
                <a:latin typeface="IBM Plex Sans" pitchFamily="34" charset="0"/>
                <a:ea typeface="IBM Plex Sans" pitchFamily="34" charset="-122"/>
                <a:cs typeface="IBM Plex Sans" pitchFamily="34" charset="-120"/>
              </a:rPr>
              <a:t>100–240</a:t>
            </a:r>
            <a:r>
              <a:rPr lang="en-US" sz="4800" b="1" dirty="0">
                <a:solidFill>
                  <a:srgbClr val="9FB2CC"/>
                </a:solidFill>
                <a:latin typeface="IBM Plex Sans" pitchFamily="34" charset="0"/>
                <a:ea typeface="IBM Plex Sans" pitchFamily="34" charset="-122"/>
                <a:cs typeface="IBM Plex Sans" pitchFamily="34" charset="-120"/>
              </a:rPr>
              <a:t/>
            </a:r>
            <a:endParaRPr lang="en-US" sz="4800" dirty="0"/>
          </a:p>
        </p:txBody>
      </p:sp>
      <p:sp>
        <p:nvSpPr>
          <p:cNvPr id="9" name="Text 7"/>
          <p:cNvSpPr/>
          <p:nvPr/>
        </p:nvSpPr>
        <p:spPr>
          <a:xfrm>
            <a:off x="4694767" y="3649532"/>
            <a:ext cx="2886541"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9FB2CC"/>
                </a:solidFill>
                <a:latin typeface="IBM Plex Sans" pitchFamily="34" charset="0"/>
                <a:ea typeface="IBM Plex Sans" pitchFamily="34" charset="-122"/>
                <a:cs typeface="IBM Plex Sans" pitchFamily="34" charset="-120"/>
              </a:rPr>
              <a:t>barrels double the 1–10 cm field</a:t>
            </a:r>
            <a:endParaRPr lang="en-US" sz="1400" dirty="0"/>
          </a:p>
        </p:txBody>
      </p:sp>
      <p:sp>
        <p:nvSpPr>
          <p:cNvPr id="10" name="Shape 8"/>
          <p:cNvSpPr/>
          <p:nvPr/>
        </p:nvSpPr>
        <p:spPr>
          <a:xfrm>
            <a:off x="8012642" y="2695972"/>
            <a:ext cx="3363383" cy="1482923"/>
          </a:xfrm>
          <a:prstGeom prst="roundRect">
            <a:avLst>
              <a:gd name="adj" fmla="val 7494"/>
            </a:avLst>
          </a:prstGeom>
          <a:solidFill>
            <a:srgbClr val="0D1420"/>
          </a:solidFill>
          <a:ln w="6350">
            <a:solidFill>
              <a:srgbClr val="2A3A52"/>
            </a:solidFill>
            <a:prstDash val="solid"/>
          </a:ln>
        </p:spPr>
        <p:txBody>
          <a:bodyPr/>
          <a:lstStyle/>
          <a:p>
            <a:endParaRPr lang="en-CH"/>
          </a:p>
        </p:txBody>
      </p:sp>
      <p:sp>
        <p:nvSpPr>
          <p:cNvPr id="11" name="Text 9"/>
          <p:cNvSpPr/>
          <p:nvPr/>
        </p:nvSpPr>
        <p:spPr>
          <a:xfrm>
            <a:off x="8293100" y="2976432"/>
            <a:ext cx="2886541"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FF5A52"/>
                </a:solidFill>
                <a:latin typeface="IBM Plex Sans" pitchFamily="34" charset="0"/>
                <a:ea typeface="IBM Plex Sans" pitchFamily="34" charset="-122"/>
                <a:cs typeface="IBM Plex Sans" pitchFamily="34" charset="-120"/>
              </a:rPr>
              <a:t>≈ 23</a:t>
            </a:r>
            <a:endParaRPr lang="en-US" sz="4800" dirty="0"/>
          </a:p>
        </p:txBody>
      </p:sp>
      <p:sp>
        <p:nvSpPr>
          <p:cNvPr id="12" name="Text 10"/>
          <p:cNvSpPr/>
          <p:nvPr/>
        </p:nvSpPr>
        <p:spPr>
          <a:xfrm>
            <a:off x="8293100" y="3649532"/>
            <a:ext cx="2886541"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9FB2CC"/>
                </a:solidFill>
                <a:latin typeface="IBM Plex Sans" pitchFamily="34" charset="0"/>
                <a:ea typeface="IBM Plex Sans" pitchFamily="34" charset="-122"/>
                <a:cs typeface="IBM Plex Sans" pitchFamily="34" charset="-120"/>
              </a:rPr>
              <a:t>barrels ≈ one ASAT strike</a:t>
            </a:r>
            <a:endParaRPr lang="en-US" sz="1400" dirty="0"/>
          </a:p>
        </p:txBody>
      </p:sp>
      <p:sp>
        <p:nvSpPr>
          <p:cNvPr id="13" name="Text 11"/>
          <p:cNvSpPr/>
          <p:nvPr/>
        </p:nvSpPr>
        <p:spPr>
          <a:xfrm>
            <a:off x="812800" y="5494077"/>
            <a:ext cx="10883392" cy="576527"/>
          </a:xfrm>
          <a:prstGeom prst="rect">
            <a:avLst/>
          </a:prstGeom>
          <a:noFill/>
          <a:ln/>
        </p:spPr>
        <p:txBody>
          <a:bodyPr wrap="square" lIns="0" tIns="0" rIns="0" bIns="0" rtlCol="0" anchor="t">
            <a:normAutofit/>
          </a:bodyPr>
          <a:lstStyle/>
          <a:p>
            <a:pPr marL="0" indent="0" algn="l">
              <a:lnSpc>
                <a:spcPts val="2170"/>
              </a:lnSpc>
              <a:buNone/>
            </a:pPr>
            <a:r>
              <a:rPr lang="en-US" sz="1550" dirty="0">
                <a:solidFill>
                  <a:srgbClr val="9FB2CC"/>
                </a:solidFill>
                <a:latin typeface="IBM Plex Sans" pitchFamily="34" charset="0"/>
                <a:ea typeface="IBM Plex Sans" pitchFamily="34" charset="-122"/>
                <a:cs typeface="IBM Plex Sans" pitchFamily="34" charset="-120"/>
              </a:rPr>
              <a:t>Barrels dumped at 900 km, over 50 years, compared with the same run without them. Nails flood the lethal-but-untrackable 1–10 cm field but barely feed the ≥10 cm cascade: the belt tops out +16% above the no-barrel run by ~300 barrels, and more don't raise it. The 100–240 range brackets how much debris small impacts throw off (breakup model as written vs NASA's LEGEND convention). By comparison, leaving just 50 dead objects a year in the belt multiplies it ×2.8.</a:t>
            </a:r>
            <a:r>
              <a:rPr lang="en-US" sz="1550" b="1" dirty="0">
                <a:solidFill>
                  <a:srgbClr val="9FB2CC"/>
                </a:solidFill>
                <a:latin typeface="IBM Plex Sans" pitchFamily="34" charset="0"/>
                <a:ea typeface="IBM Plex Sans" pitchFamily="34" charset="-122"/>
                <a:cs typeface="IBM Plex Sans" pitchFamily="34" charset="-120"/>
              </a:rPr>
              <a:t/>
            </a:r>
            <a:r>
              <a:rPr lang="en-US" sz="1550" dirty="0">
                <a:solidFill>
                  <a:srgbClr val="9FB2CC"/>
                </a:solidFill>
                <a:latin typeface="IBM Plex Sans" pitchFamily="34" charset="0"/>
                <a:ea typeface="IBM Plex Sans" pitchFamily="34" charset="-122"/>
                <a:cs typeface="IBM Plex Sans" pitchFamily="34" charset="-120"/>
              </a:rPr>
              <a:t/>
            </a:r>
            <a:r>
              <a:rPr lang="en-US" sz="1550" dirty="0">
                <a:solidFill>
                  <a:srgbClr val="FFCF5C"/>
                </a:solidFill>
                <a:latin typeface="IBM Plex Sans" pitchFamily="34" charset="0"/>
                <a:ea typeface="IBM Plex Sans" pitchFamily="34" charset="-122"/>
                <a:cs typeface="IBM Plex Sans" pitchFamily="34" charset="-120"/>
              </a:rPr>
              <a:t/>
            </a:r>
            <a:r>
              <a:rPr lang="en-US" sz="1550" dirty="0">
                <a:solidFill>
                  <a:srgbClr val="9FB2CC"/>
                </a:solidFill>
                <a:latin typeface="IBM Plex Sans" pitchFamily="34" charset="0"/>
                <a:ea typeface="IBM Plex Sans" pitchFamily="34" charset="-122"/>
                <a:cs typeface="IBM Plex Sans" pitchFamily="34" charset="-120"/>
              </a:rPr>
              <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FINDING</a:t>
            </a:r>
            <a:endParaRPr lang="en-US" sz="1200" dirty="0"/>
          </a:p>
        </p:txBody>
      </p:sp>
      <p:sp>
        <p:nvSpPr>
          <p:cNvPr id="3" name="Text 1"/>
          <p:cNvSpPr/>
          <p:nvPr/>
        </p:nvSpPr>
        <p:spPr>
          <a:xfrm>
            <a:off x="812800" y="975320"/>
            <a:ext cx="10883392" cy="457068"/>
          </a:xfrm>
          <a:prstGeom prst="rect">
            <a:avLst/>
          </a:prstGeom>
          <a:noFill/>
          <a:ln/>
        </p:spPr>
        <p:txBody>
          <a:bodyPr wrap="square" lIns="0" tIns="0" rIns="0" bIns="0" rtlCol="0" anchor="t">
            <a:normAutofit/>
          </a:bodyPr>
          <a:lstStyle/>
          <a:p>
            <a:pPr marL="0" indent="0" algn="l">
              <a:lnSpc>
                <a:spcPts val="3399"/>
              </a:lnSpc>
              <a:buNone/>
            </a:pPr>
            <a:r>
              <a:rPr lang="en-US" sz="3300" b="1" dirty="0">
                <a:solidFill>
                  <a:srgbClr val="E7EEF8"/>
                </a:solidFill>
                <a:latin typeface="IBM Plex Sans" pitchFamily="34" charset="0"/>
                <a:ea typeface="IBM Plex Sans" pitchFamily="34" charset="-122"/>
                <a:cs typeface="IBM Plex Sans" pitchFamily="34" charset="-120"/>
              </a:rPr>
              <a:t>Altitude is the whole story</a:t>
            </a:r>
            <a:endParaRPr lang="en-US" sz="3300" dirty="0"/>
          </a:p>
        </p:txBody>
      </p:sp>
      <p:sp>
        <p:nvSpPr>
          <p:cNvPr id="4" name="Shape 2"/>
          <p:cNvSpPr/>
          <p:nvPr/>
        </p:nvSpPr>
        <p:spPr>
          <a:xfrm>
            <a:off x="815975" y="1626065"/>
            <a:ext cx="10560050" cy="931069"/>
          </a:xfrm>
          <a:prstGeom prst="roundRect">
            <a:avLst>
              <a:gd name="adj" fmla="val 10571"/>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071033" y="1940458"/>
            <a:ext cx="1962150" cy="327620"/>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FFCF5C"/>
                </a:solidFill>
                <a:latin typeface="IBM Plex Mono" pitchFamily="34" charset="0"/>
                <a:ea typeface="IBM Plex Mono" pitchFamily="34" charset="-122"/>
                <a:cs typeface="IBM Plex Mono" pitchFamily="34" charset="-120"/>
              </a:rPr>
              <a:t>1200–1500 km</a:t>
            </a:r>
            <a:endParaRPr lang="en-US" sz="1700" dirty="0"/>
          </a:p>
        </p:txBody>
      </p:sp>
      <p:sp>
        <p:nvSpPr>
          <p:cNvPr id="6" name="Text 4"/>
          <p:cNvSpPr/>
          <p:nvPr/>
        </p:nvSpPr>
        <p:spPr>
          <a:xfrm>
            <a:off x="3166533" y="1843025"/>
            <a:ext cx="8193067" cy="522552"/>
          </a:xfrm>
          <a:prstGeom prst="rect">
            <a:avLst/>
          </a:prstGeom>
          <a:noFill/>
          <a:ln/>
        </p:spPr>
        <p:txBody>
          <a:bodyPr wrap="square" lIns="0" tIns="0" rIns="0" bIns="0" rtlCol="0" anchor="t">
            <a:normAutofit/>
          </a:bodyPr>
          <a:lstStyle/>
          <a:p>
            <a:pPr marL="0" indent="0" algn="l">
              <a:lnSpc>
                <a:spcPts val="1958"/>
              </a:lnSpc>
              <a:buNone/>
            </a:pPr>
            <a:r>
              <a:rPr lang="en-US" sz="1450" b="1" dirty="0">
                <a:solidFill>
                  <a:srgbClr val="E7EEF8"/>
                </a:solidFill>
                <a:latin typeface="IBM Plex Sans" pitchFamily="34" charset="0"/>
                <a:ea typeface="IBM Plex Sans" pitchFamily="34" charset="-122"/>
                <a:cs typeface="IBM Plex Sans" pitchFamily="34" charset="-120"/>
              </a:rPr>
              <a:t>Secondary persistent zone — even small fragments stay for centuries to millennia, and it is exactly where several proposed mega-constellations intend to operate.</a:t>
            </a:r>
            <a:r>
              <a:rPr lang="en-US" sz="1450" dirty="0">
                <a:solidFill>
                  <a:srgbClr val="E7EEF8"/>
                </a:solidFill>
                <a:latin typeface="IBM Plex Sans" pitchFamily="34" charset="0"/>
                <a:ea typeface="IBM Plex Sans" pitchFamily="34" charset="-122"/>
                <a:cs typeface="IBM Plex Sans" pitchFamily="34" charset="-120"/>
              </a:rPr>
              <a:t/>
            </a:r>
            <a:endParaRPr lang="en-US" sz="1450" dirty="0"/>
          </a:p>
        </p:txBody>
      </p:sp>
      <p:sp>
        <p:nvSpPr>
          <p:cNvPr id="7" name="Shape 5"/>
          <p:cNvSpPr/>
          <p:nvPr/>
        </p:nvSpPr>
        <p:spPr>
          <a:xfrm>
            <a:off x="815975" y="2690484"/>
            <a:ext cx="10560050" cy="1238978"/>
          </a:xfrm>
          <a:prstGeom prst="roundRect">
            <a:avLst>
              <a:gd name="adj" fmla="val 7944"/>
            </a:avLst>
          </a:prstGeom>
          <a:solidFill>
            <a:srgbClr val="0D1420"/>
          </a:solidFill>
          <a:ln w="6350">
            <a:solidFill>
              <a:srgbClr val="3A2530"/>
            </a:solidFill>
            <a:prstDash val="solid"/>
          </a:ln>
        </p:spPr>
        <p:txBody>
          <a:bodyPr/>
          <a:lstStyle/>
          <a:p>
            <a:endParaRPr lang="en-CH"/>
          </a:p>
        </p:txBody>
      </p:sp>
      <p:sp>
        <p:nvSpPr>
          <p:cNvPr id="8" name="Text 6"/>
          <p:cNvSpPr/>
          <p:nvPr/>
        </p:nvSpPr>
        <p:spPr>
          <a:xfrm>
            <a:off x="1071033" y="3141067"/>
            <a:ext cx="1962150" cy="363207"/>
          </a:xfrm>
          <a:prstGeom prst="rect">
            <a:avLst/>
          </a:prstGeom>
          <a:noFill/>
          <a:ln/>
        </p:spPr>
        <p:txBody>
          <a:bodyPr wrap="square" lIns="0" tIns="0" rIns="0" bIns="0" rtlCol="0" anchor="t">
            <a:normAutofit/>
          </a:bodyPr>
          <a:lstStyle/>
          <a:p>
            <a:pPr marL="0" indent="0" algn="l">
              <a:lnSpc>
                <a:spcPts val="2660"/>
              </a:lnSpc>
              <a:buNone/>
            </a:pPr>
            <a:r>
              <a:rPr lang="en-US" sz="1900" dirty="0">
                <a:solidFill>
                  <a:srgbClr val="FF5A52"/>
                </a:solidFill>
                <a:latin typeface="IBM Plex Mono" pitchFamily="34" charset="0"/>
                <a:ea typeface="IBM Plex Mono" pitchFamily="34" charset="-122"/>
                <a:cs typeface="IBM Plex Mono" pitchFamily="34" charset="-120"/>
              </a:rPr>
              <a:t>700–1,100 km</a:t>
            </a:r>
            <a:endParaRPr lang="en-US" sz="1900" dirty="0"/>
          </a:p>
        </p:txBody>
      </p:sp>
      <p:sp>
        <p:nvSpPr>
          <p:cNvPr id="9" name="Text 7"/>
          <p:cNvSpPr/>
          <p:nvPr/>
        </p:nvSpPr>
        <p:spPr>
          <a:xfrm>
            <a:off x="3166533" y="2932844"/>
            <a:ext cx="8193067" cy="779661"/>
          </a:xfrm>
          <a:prstGeom prst="rect">
            <a:avLst/>
          </a:prstGeom>
          <a:noFill/>
          <a:ln/>
        </p:spPr>
        <p:txBody>
          <a:bodyPr wrap="square" lIns="0" tIns="0" rIns="0" bIns="0" rtlCol="0" anchor="t">
            <a:normAutofit/>
          </a:bodyPr>
          <a:lstStyle/>
          <a:p>
            <a:pPr marL="0" indent="0" algn="l">
              <a:lnSpc>
                <a:spcPts val="1980"/>
              </a:lnSpc>
              <a:buNone/>
            </a:pPr>
            <a:r>
              <a:rPr lang="en-US" sz="1500" b="1" dirty="0">
                <a:solidFill>
                  <a:srgbClr val="E7EEF8"/>
                </a:solidFill>
                <a:latin typeface="IBM Plex Sans" pitchFamily="34" charset="0"/>
                <a:ea typeface="IBM Plex Sans" pitchFamily="34" charset="-122"/>
                <a:cs typeface="IBM Plex Sans" pitchFamily="34" charset="-120"/>
              </a:rPr>
              <a:t>The “bad neighborhood.” Fragments last decades to a century, intact objects centuries — and the real debris belt lives here, home to dead giants like Envisat (8 t, 761 km). With no launches at all, its ≥10 cm population still grows ~36% in 50 years.</a:t>
            </a:r>
            <a:r>
              <a:rPr lang="en-US" sz="1500" dirty="0">
                <a:solidFill>
                  <a:srgbClr val="E7EEF8"/>
                </a:solidFill>
                <a:latin typeface="IBM Plex Sans" pitchFamily="34" charset="0"/>
                <a:ea typeface="IBM Plex Sans" pitchFamily="34" charset="-122"/>
                <a:cs typeface="IBM Plex Sans" pitchFamily="34" charset="-120"/>
              </a:rPr>
              <a:t/>
            </a:r>
            <a:r>
              <a:rPr lang="en-US" sz="1500" dirty="0">
                <a:solidFill>
                  <a:srgbClr val="FFCF5C"/>
                </a:solidFill>
                <a:latin typeface="IBM Plex Sans" pitchFamily="34" charset="0"/>
                <a:ea typeface="IBM Plex Sans" pitchFamily="34" charset="-122"/>
                <a:cs typeface="IBM Plex Sans" pitchFamily="34" charset="-120"/>
              </a:rPr>
              <a:t/>
            </a:r>
            <a:r>
              <a:rPr lang="en-US" sz="1500" dirty="0">
                <a:solidFill>
                  <a:srgbClr val="E7EEF8"/>
                </a:solidFill>
                <a:latin typeface="IBM Plex Sans" pitchFamily="34" charset="0"/>
                <a:ea typeface="IBM Plex Sans" pitchFamily="34" charset="-122"/>
                <a:cs typeface="IBM Plex Sans" pitchFamily="34" charset="-120"/>
              </a:rPr>
              <a:t/>
            </a:r>
            <a:r>
              <a:rPr lang="en-US" sz="1500" dirty="0">
                <a:solidFill>
                  <a:srgbClr val="FF5A52"/>
                </a:solidFill>
                <a:latin typeface="IBM Plex Sans" pitchFamily="34" charset="0"/>
                <a:ea typeface="IBM Plex Sans" pitchFamily="34" charset="-122"/>
                <a:cs typeface="IBM Plex Sans" pitchFamily="34" charset="-120"/>
              </a:rPr>
              <a:t/>
            </a:r>
            <a:r>
              <a:rPr lang="en-US" sz="1500" dirty="0">
                <a:solidFill>
                  <a:srgbClr val="E7EEF8"/>
                </a:solidFill>
                <a:latin typeface="IBM Plex Sans" pitchFamily="34" charset="0"/>
                <a:ea typeface="IBM Plex Sans" pitchFamily="34" charset="-122"/>
                <a:cs typeface="IBM Plex Sans" pitchFamily="34" charset="-120"/>
              </a:rPr>
              <a:t/>
            </a:r>
            <a:endParaRPr lang="en-US" sz="1500" dirty="0"/>
          </a:p>
        </p:txBody>
      </p:sp>
      <p:sp>
        <p:nvSpPr>
          <p:cNvPr id="10" name="Shape 8"/>
          <p:cNvSpPr/>
          <p:nvPr/>
        </p:nvSpPr>
        <p:spPr>
          <a:xfrm>
            <a:off x="815975" y="4062809"/>
            <a:ext cx="10560050" cy="931069"/>
          </a:xfrm>
          <a:prstGeom prst="roundRect">
            <a:avLst>
              <a:gd name="adj" fmla="val 10571"/>
            </a:avLst>
          </a:prstGeom>
          <a:solidFill>
            <a:srgbClr val="0D1420"/>
          </a:solidFill>
          <a:ln w="6350">
            <a:solidFill>
              <a:srgbClr val="223A2F"/>
            </a:solidFill>
            <a:prstDash val="solid"/>
          </a:ln>
        </p:spPr>
        <p:txBody>
          <a:bodyPr/>
          <a:lstStyle/>
          <a:p>
            <a:endParaRPr lang="en-CH"/>
          </a:p>
        </p:txBody>
      </p:sp>
      <p:sp>
        <p:nvSpPr>
          <p:cNvPr id="11" name="Text 9"/>
          <p:cNvSpPr/>
          <p:nvPr/>
        </p:nvSpPr>
        <p:spPr>
          <a:xfrm>
            <a:off x="1071033" y="4377203"/>
            <a:ext cx="1962150" cy="327620"/>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39D98A"/>
                </a:solidFill>
                <a:latin typeface="IBM Plex Mono" pitchFamily="34" charset="0"/>
                <a:ea typeface="IBM Plex Mono" pitchFamily="34" charset="-122"/>
                <a:cs typeface="IBM Plex Mono" pitchFamily="34" charset="-120"/>
              </a:rPr>
              <a:t>200–600 km</a:t>
            </a:r>
            <a:endParaRPr lang="en-US" sz="1700" dirty="0"/>
          </a:p>
        </p:txBody>
      </p:sp>
      <p:sp>
        <p:nvSpPr>
          <p:cNvPr id="12" name="Text 10"/>
          <p:cNvSpPr/>
          <p:nvPr/>
        </p:nvSpPr>
        <p:spPr>
          <a:xfrm>
            <a:off x="3166533" y="4279770"/>
            <a:ext cx="8193067" cy="522552"/>
          </a:xfrm>
          <a:prstGeom prst="rect">
            <a:avLst/>
          </a:prstGeom>
          <a:noFill/>
          <a:ln/>
        </p:spPr>
        <p:txBody>
          <a:bodyPr wrap="square" lIns="0" tIns="0" rIns="0" bIns="0" rtlCol="0" anchor="t">
            <a:normAutofit/>
          </a:bodyPr>
          <a:lstStyle/>
          <a:p>
            <a:pPr marL="0" indent="0" algn="l">
              <a:lnSpc>
                <a:spcPts val="1958"/>
              </a:lnSpc>
              <a:buNone/>
            </a:pPr>
            <a:r>
              <a:rPr lang="en-US" sz="1450" b="1" dirty="0">
                <a:solidFill>
                  <a:srgbClr val="E7EEF8"/>
                </a:solidFill>
                <a:latin typeface="IBM Plex Sans" pitchFamily="34" charset="0"/>
                <a:ea typeface="IBM Plex Sans" pitchFamily="34" charset="-122"/>
                <a:cs typeface="IBM Plex Sans" pitchFamily="34" charset="-120"/>
              </a:rPr>
              <a:t>Self-cleaning. Drag clears fragments in months to a few years and dead satellites in about a decade; a barrel at 550 km loses half its nails in 1.5 years.</a:t>
            </a:r>
            <a:r>
              <a:rPr lang="en-US" sz="1450" dirty="0">
                <a:solidFill>
                  <a:srgbClr val="E7EEF8"/>
                </a:solidFill>
                <a:latin typeface="IBM Plex Sans" pitchFamily="34" charset="0"/>
                <a:ea typeface="IBM Plex Sans" pitchFamily="34" charset="-122"/>
                <a:cs typeface="IBM Plex Sans" pitchFamily="34" charset="-120"/>
              </a:rPr>
              <a:t/>
            </a:r>
            <a:r>
              <a:rPr lang="en-US" sz="1450" dirty="0">
                <a:solidFill>
                  <a:srgbClr val="39D98A"/>
                </a:solidFill>
                <a:latin typeface="IBM Plex Sans" pitchFamily="34" charset="0"/>
                <a:ea typeface="IBM Plex Sans" pitchFamily="34" charset="-122"/>
                <a:cs typeface="IBM Plex Sans" pitchFamily="34" charset="-120"/>
              </a:rPr>
              <a:t/>
            </a:r>
            <a:r>
              <a:rPr lang="en-US" sz="1450" dirty="0">
                <a:solidFill>
                  <a:srgbClr val="E7EEF8"/>
                </a:solidFill>
                <a:latin typeface="IBM Plex Sans" pitchFamily="34" charset="0"/>
                <a:ea typeface="IBM Plex Sans" pitchFamily="34" charset="-122"/>
                <a:cs typeface="IBM Plex Sans" pitchFamily="34" charset="-120"/>
              </a:rPr>
              <a:t/>
            </a:r>
            <a:endParaRPr lang="en-US" sz="1450" dirty="0"/>
          </a:p>
        </p:txBody>
      </p:sp>
      <p:sp>
        <p:nvSpPr>
          <p:cNvPr id="13" name="Text 11"/>
          <p:cNvSpPr/>
          <p:nvPr/>
        </p:nvSpPr>
        <p:spPr>
          <a:xfrm>
            <a:off x="812800" y="5212953"/>
            <a:ext cx="10883392"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9FB2CC"/>
                </a:solidFill>
                <a:latin typeface="IBM Plex Sans" pitchFamily="34" charset="0"/>
                <a:ea typeface="IBM Plex Sans" pitchFamily="34" charset="-122"/>
                <a:cs typeface="IBM Plex Sans" pitchFamily="34" charset="-120"/>
              </a:rPr>
              <a:t>LEO is not one place: </a:t>
            </a:r>
            <a:r>
              <a:rPr lang="en-US" sz="1500" b="1" dirty="0">
                <a:solidFill>
                  <a:srgbClr val="9FB2CC"/>
                </a:solidFill>
                <a:latin typeface="IBM Plex Sans" pitchFamily="34" charset="0"/>
                <a:ea typeface="IBM Plex Sans" pitchFamily="34" charset="-122"/>
                <a:cs typeface="IBM Plex Sans" pitchFamily="34" charset="-120"/>
              </a:rPr>
              <a:t>low orbit self-heals, high orbit is nearly permanent.</a:t>
            </a:r>
            <a:r>
              <a:rPr lang="en-US" sz="1500" dirty="0">
                <a:solidFill>
                  <a:srgbClr val="9FB2CC"/>
                </a:solidFill>
                <a:latin typeface="IBM Plex Sans" pitchFamily="34" charset="0"/>
                <a:ea typeface="IBM Plex Sans" pitchFamily="34" charset="-122"/>
                <a:cs typeface="IBM Plex Sans" pitchFamily="34" charset="-120"/>
              </a:rPr>
              <a:t> Risk scales dramatically with altitude!</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USABILITY BY ALTITUDE</a:t>
            </a:r>
            <a:endParaRPr lang="en-US" sz="1200" dirty="0"/>
          </a:p>
        </p:txBody>
      </p:sp>
      <p:sp>
        <p:nvSpPr>
          <p:cNvPr id="3" name="Text 1"/>
          <p:cNvSpPr/>
          <p:nvPr/>
        </p:nvSpPr>
        <p:spPr>
          <a:xfrm>
            <a:off x="812800" y="975320"/>
            <a:ext cx="10883392" cy="404746"/>
          </a:xfrm>
          <a:prstGeom prst="rect">
            <a:avLst/>
          </a:prstGeom>
          <a:noFill/>
          <a:ln/>
        </p:spPr>
        <p:txBody>
          <a:bodyPr wrap="square" lIns="0" tIns="0" rIns="0" bIns="0" rtlCol="0" anchor="t">
            <a:normAutofit/>
          </a:bodyPr>
          <a:lstStyle/>
          <a:p>
            <a:pPr marL="0" indent="0" algn="l">
              <a:lnSpc>
                <a:spcPts val="2987"/>
              </a:lnSpc>
              <a:buNone/>
            </a:pPr>
            <a:r>
              <a:rPr lang="en-US" sz="2900" b="1" dirty="0">
                <a:solidFill>
                  <a:srgbClr val="E7EEF8"/>
                </a:solidFill>
                <a:latin typeface="IBM Plex Sans" pitchFamily="34" charset="0"/>
                <a:ea typeface="IBM Plex Sans" pitchFamily="34" charset="-122"/>
                <a:cs typeface="IBM Plex Sans" pitchFamily="34" charset="-120"/>
              </a:rPr>
              <a:t>Where the risk is — and how long it stays</a:t>
            </a:r>
            <a:endParaRPr lang="en-US" sz="2900" dirty="0"/>
          </a:p>
        </p:txBody>
      </p:sp>
      <p:sp>
        <p:nvSpPr>
          <p:cNvPr id="5" name="TextBox 4"/>
          <p:cNvSpPr txBox="1"/>
          <p:nvPr/>
        </p:nvSpPr>
        <p:spPr>
          <a:xfrm>
            <a:off x="812800" y="5120640"/>
            <a:ext cx="10566400" cy="1691640"/>
          </a:xfrm>
          <a:prstGeom prst="rect">
            <a:avLst/>
          </a:prstGeom>
          <a:noFill/>
        </p:spPr>
        <p:txBody>
          <a:bodyPr wrap="square" lIns="0" rIns="0" tIns="0" bIns="0">
            <a:spAutoFit/>
          </a:bodyPr>
          <a:lstStyle/>
          <a:p>
            <a:r>
              <a:rPr sz="1500" b="1">
                <a:solidFill>
                  <a:srgbClr val="E7EEF8"/>
                </a:solidFill>
                <a:latin typeface="IBM Plex Sans"/>
              </a:rPr>
              <a:t>Most hazardous — but not unusable.</a:t>
            </a:r>
          </a:p>
          <a:p>
            <a:pPr>
              <a:spcBef>
                <a:spcPts val="400"/>
              </a:spcBef>
            </a:pPr>
            <a:r>
              <a:rPr sz="1300">
                <a:solidFill>
                  <a:srgbClr val="B9C6D8"/>
                </a:solidFill>
                <a:latin typeface="IBM Plex Sans"/>
              </a:rPr>
              <a:t>A satellite in the 700–1,100 km belt runs a ~0.5% a year chance of a lethal hit today — the worst in LEO, but well below the ~2%/yr at which operators abandon a band. Orange is the deeper problem: above ~1,000 km even small fragments stay for centuries, so whatever breaks there doesn't clear. One barrel at 550 km briefly makes its shell the most dangerous in LEO (~1.1%/yr, 5× normal).</a:t>
            </a:r>
          </a:p>
        </p:txBody>
      </p:sp>
      <p:pic>
        <p:nvPicPr>
          <p:cNvPr id="6" name="Picture 5" descr="deck_altitude.png"/>
          <p:cNvPicPr>
            <a:picLocks noChangeAspect="1"/>
          </p:cNvPicPr>
          <p:nvPr/>
        </p:nvPicPr>
        <p:blipFill>
          <a:blip r:embed="rId8"/>
          <a:stretch>
            <a:fillRect/>
          </a:stretch>
        </p:blipFill>
        <p:spPr>
          <a:xfrm>
            <a:off x="812800" y="1507071"/>
            <a:ext cx="10566400" cy="3556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TIPPING POINT</a:t>
            </a:r>
            <a:endParaRPr lang="en-US" sz="1200" dirty="0"/>
          </a:p>
        </p:txBody>
      </p:sp>
      <p:sp>
        <p:nvSpPr>
          <p:cNvPr id="3" name="Text 1"/>
          <p:cNvSpPr/>
          <p:nvPr/>
        </p:nvSpPr>
        <p:spPr>
          <a:xfrm>
            <a:off x="812800" y="975320"/>
            <a:ext cx="10883392" cy="404746"/>
          </a:xfrm>
          <a:prstGeom prst="rect">
            <a:avLst/>
          </a:prstGeom>
          <a:noFill/>
          <a:ln/>
        </p:spPr>
        <p:txBody>
          <a:bodyPr wrap="square" lIns="0" tIns="0" rIns="0" bIns="0" rtlCol="0" anchor="t">
            <a:normAutofit/>
          </a:bodyPr>
          <a:lstStyle/>
          <a:p>
            <a:pPr marL="0" indent="0" algn="l">
              <a:lnSpc>
                <a:spcPts val="2987"/>
              </a:lnSpc>
              <a:buNone/>
            </a:pPr>
            <a:r>
              <a:rPr lang="en-US" sz="2900" b="1" dirty="0">
                <a:solidFill>
                  <a:srgbClr val="E7EEF8"/>
                </a:solidFill>
                <a:latin typeface="IBM Plex Sans" pitchFamily="34" charset="0"/>
                <a:ea typeface="IBM Plex Sans" pitchFamily="34" charset="-122"/>
                <a:cs typeface="IBM Plex Sans" pitchFamily="34" charset="-120"/>
              </a:rPr>
              <a:t>Objects left in the 900 km belt are the real driver</a:t>
            </a:r>
            <a:endParaRPr lang="en-US" sz="2900" dirty="0"/>
          </a:p>
        </p:txBody>
      </p:sp>
      <p:sp>
        <p:nvSpPr>
          <p:cNvPr id="16" name="TextBox 15"/>
          <p:cNvSpPr txBox="1"/>
          <p:nvPr/>
        </p:nvSpPr>
        <p:spPr>
          <a:xfrm>
            <a:off x="813816" y="5120640"/>
            <a:ext cx="10570464" cy="1691640"/>
          </a:xfrm>
          <a:prstGeom prst="rect">
            <a:avLst/>
          </a:prstGeom>
          <a:noFill/>
        </p:spPr>
        <p:txBody>
          <a:bodyPr wrap="square" lIns="0" rIns="0" tIns="0" bIns="0">
            <a:spAutoFit/>
          </a:bodyPr>
          <a:lstStyle/>
          <a:p>
            <a:r>
              <a:rPr sz="1500" b="1">
                <a:solidFill>
                  <a:srgbClr val="FF5A52"/>
                </a:solidFill>
                <a:latin typeface="IBM Plex Sans"/>
              </a:rPr>
              <a:t>Runaway = </a:t>
            </a:r>
            <a:r>
              <a:rPr sz="1500" b="1">
                <a:solidFill>
                  <a:srgbClr val="E7EEF8"/>
                </a:solidFill>
                <a:latin typeface="IBM Plex Sans"/>
              </a:rPr>
              <a:t>the debris population grows without ever settling.</a:t>
            </a:r>
          </a:p>
          <a:p>
            <a:pPr>
              <a:spcBef>
                <a:spcPts val="400"/>
              </a:spcBef>
            </a:pPr>
            <a:r>
              <a:rPr sz="1300">
                <a:solidFill>
                  <a:srgbClr val="B9C6D8"/>
                </a:solidFill>
                <a:latin typeface="IBM Plex Sans"/>
              </a:rPr>
              <a:t>Collisions and explosions breed fragments faster than drag can remove them, so more debris drives more collisions — a self-feeding cascade (Kessler syndrome). The belt is already there: with nothing added, its ≥10 cm population grows ~36% in 50 years. Each object left in it steepens that: 50 a year ×2.8, 200 a year ×16. Every one is a satellite or rocket body that is never manoeuvred or deorbited, all at 900 km — a stress test, not a traffic forecast. Cross-check at 50/yr: discrete ×2.0, cube ×2.2 (8 seeds each) — same story, somewhat milder.</a:t>
            </a:r>
          </a:p>
        </p:txBody>
      </p:sp>
      <p:pic>
        <p:nvPicPr>
          <p:cNvPr id="17" name="Picture 16" descr="deck_tipping.png"/>
          <p:cNvPicPr>
            <a:picLocks noChangeAspect="1"/>
          </p:cNvPicPr>
          <p:nvPr/>
        </p:nvPicPr>
        <p:blipFill>
          <a:blip r:embed="rId8"/>
          <a:stretch>
            <a:fillRect/>
          </a:stretch>
        </p:blipFill>
        <p:spPr>
          <a:xfrm>
            <a:off x="812800" y="1507071"/>
            <a:ext cx="10566400" cy="3556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RATIONAL OPERATORS</a:t>
            </a:r>
            <a:endParaRPr lang="en-US" sz="1200" dirty="0"/>
          </a:p>
        </p:txBody>
      </p:sp>
      <p:sp>
        <p:nvSpPr>
          <p:cNvPr id="3" name="Text 1"/>
          <p:cNvSpPr/>
          <p:nvPr/>
        </p:nvSpPr>
        <p:spPr>
          <a:xfrm>
            <a:off x="812800" y="975320"/>
            <a:ext cx="10883392" cy="417777"/>
          </a:xfrm>
          <a:prstGeom prst="rect">
            <a:avLst/>
          </a:prstGeom>
          <a:noFill/>
          <a:ln/>
        </p:spPr>
        <p:txBody>
          <a:bodyPr wrap="square" lIns="0" tIns="0" rIns="0" bIns="0" rtlCol="0" anchor="t">
            <a:normAutofit/>
          </a:bodyPr>
          <a:lstStyle/>
          <a:p>
            <a:pPr marL="0" indent="0" algn="l">
              <a:lnSpc>
                <a:spcPts val="3090"/>
              </a:lnSpc>
              <a:buNone/>
            </a:pPr>
            <a:r>
              <a:rPr lang="en-US" sz="3000" b="1" dirty="0">
                <a:solidFill>
                  <a:srgbClr val="E7EEF8"/>
                </a:solidFill>
                <a:latin typeface="IBM Plex Sans" pitchFamily="34" charset="0"/>
                <a:ea typeface="IBM Plex Sans" pitchFamily="34" charset="-122"/>
                <a:cs typeface="IBM Plex Sans" pitchFamily="34" charset="-120"/>
              </a:rPr>
              <a:t>Operators quit — the cascade doesn't</a:t>
            </a:r>
            <a:endParaRPr lang="en-US" sz="3000" dirty="0"/>
          </a:p>
        </p:txBody>
      </p:sp>
      <p:sp>
        <p:nvSpPr>
          <p:cNvPr id="12" name="Text 8"/>
          <p:cNvSpPr/>
          <p:nvPr/>
        </p:nvSpPr>
        <p:spPr>
          <a:xfrm>
            <a:off x="812800" y="5494077"/>
            <a:ext cx="10883392" cy="576527"/>
          </a:xfrm>
          <a:prstGeom prst="rect">
            <a:avLst/>
          </a:prstGeom>
          <a:noFill/>
          <a:ln/>
        </p:spPr>
        <p:txBody>
          <a:bodyPr wrap="square" lIns="0" tIns="0" rIns="0" bIns="0" rtlCol="0" anchor="t">
            <a:normAutofit/>
          </a:bodyPr>
          <a:lstStyle/>
          <a:p>
            <a:pPr marL="0" indent="0" algn="l">
              <a:lnSpc>
                <a:spcPts val="2170"/>
              </a:lnSpc>
              <a:buNone/>
            </a:pPr>
            <a:r>
              <a:rPr lang="en-US" sz="1550" dirty="0">
                <a:solidFill>
                  <a:srgbClr val="E7EEF8"/>
                </a:solidFill>
                <a:latin typeface="IBM Plex Sans" pitchFamily="34" charset="0"/>
                <a:ea typeface="IBM Plex Sans" pitchFamily="34" charset="-122"/>
                <a:cs typeface="IBM Plex Sans" pitchFamily="34" charset="-120"/>
              </a:rPr>
              <a:t>With 500 new satellites and rocket bodies a year going into the belt (none ever deorbited), operators throttle back as the risk rises and stop entirely by year ~28 — yet the belt's ≥10 cm population still grows ×2.0 afterwards. Abandoning a band doesn't save it once the cascade runs.</a:t>
            </a:r>
            <a:r>
              <a:rPr lang="en-US" sz="1550" i="1" dirty="0">
                <a:solidFill>
                  <a:srgbClr val="E7EEF8"/>
                </a:solidFill>
                <a:latin typeface="IBM Plex Sans" pitchFamily="34" charset="0"/>
                <a:ea typeface="IBM Plex Sans" pitchFamily="34" charset="-122"/>
                <a:cs typeface="IBM Plex Sans" pitchFamily="34" charset="-120"/>
              </a:rPr>
              <a:t/>
            </a:r>
            <a:r>
              <a:rPr lang="en-US" sz="1550" dirty="0">
                <a:solidFill>
                  <a:srgbClr val="E7EEF8"/>
                </a:solidFill>
                <a:latin typeface="IBM Plex Sans" pitchFamily="34" charset="0"/>
                <a:ea typeface="IBM Plex Sans" pitchFamily="34" charset="-122"/>
                <a:cs typeface="IBM Plex Sans" pitchFamily="34" charset="-120"/>
              </a:rPr>
              <a:t/>
            </a:r>
            <a:r>
              <a:rPr lang="en-US" sz="1550" dirty="0">
                <a:solidFill>
                  <a:srgbClr val="FFCF5C"/>
                </a:solidFill>
                <a:latin typeface="IBM Plex Sans" pitchFamily="34" charset="0"/>
                <a:ea typeface="IBM Plex Sans" pitchFamily="34" charset="-122"/>
                <a:cs typeface="IBM Plex Sans" pitchFamily="34" charset="-120"/>
              </a:rPr>
              <a:t/>
            </a:r>
            <a:r>
              <a:rPr lang="en-US" sz="1550" dirty="0">
                <a:solidFill>
                  <a:srgbClr val="E7EEF8"/>
                </a:solidFill>
                <a:latin typeface="IBM Plex Sans" pitchFamily="34" charset="0"/>
                <a:ea typeface="IBM Plex Sans" pitchFamily="34" charset="-122"/>
                <a:cs typeface="IBM Plex Sans" pitchFamily="34" charset="-120"/>
              </a:rPr>
              <a:t/>
            </a:r>
            <a:endParaRPr lang="en-US" sz="1550" dirty="0"/>
          </a:p>
        </p:txBody>
      </p:sp>
      <p:pic>
        <p:nvPicPr>
          <p:cNvPr id="13" name="Picture 12" descr="deck_responsive.png"/>
          <p:cNvPicPr>
            <a:picLocks noChangeAspect="1"/>
          </p:cNvPicPr>
          <p:nvPr/>
        </p:nvPicPr>
        <p:blipFill>
          <a:blip r:embed="rId9"/>
          <a:stretch>
            <a:fillRect/>
          </a:stretch>
        </p:blipFill>
        <p:spPr>
          <a:xfrm>
            <a:off x="1069848" y="1691640"/>
            <a:ext cx="10058400" cy="3429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0608"/>
        </a:solidFill>
        <a:effectLst/>
      </p:bgPr>
    </p:bg>
    <p:spTree>
      <p:nvGrpSpPr>
        <p:cNvPr id="1" name=""/>
        <p:cNvGrpSpPr/>
        <p:nvPr/>
      </p:nvGrpSpPr>
      <p:grpSpPr>
        <a:xfrm>
          <a:off x="0" y="0"/>
          <a:ext cx="0" cy="0"/>
          <a:chOff x="0" y="0"/>
          <a:chExt cx="0" cy="0"/>
        </a:xfrm>
      </p:grpSpPr>
      <p:sp>
        <p:nvSpPr>
          <p:cNvPr id="2" name="Text 0"/>
          <p:cNvSpPr/>
          <p:nvPr/>
        </p:nvSpPr>
        <p:spPr>
          <a:xfrm>
            <a:off x="812800" y="6350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FF5A52"/>
                </a:solidFill>
                <a:latin typeface="IBM Plex Mono" pitchFamily="34" charset="0"/>
                <a:ea typeface="IBM Plex Mono" pitchFamily="34" charset="-122"/>
                <a:cs typeface="IBM Plex Mono" pitchFamily="34" charset="-120"/>
              </a:rPr>
              <a:t>THE EXTREME CASE</a:t>
            </a:r>
            <a:endParaRPr lang="en-US" sz="1200" dirty="0"/>
          </a:p>
        </p:txBody>
      </p:sp>
      <p:sp>
        <p:nvSpPr>
          <p:cNvPr id="3" name="Text 1"/>
          <p:cNvSpPr/>
          <p:nvPr/>
        </p:nvSpPr>
        <p:spPr>
          <a:xfrm>
            <a:off x="812800" y="911820"/>
            <a:ext cx="10883392" cy="404746"/>
          </a:xfrm>
          <a:prstGeom prst="rect">
            <a:avLst/>
          </a:prstGeom>
          <a:noFill/>
          <a:ln/>
        </p:spPr>
        <p:txBody>
          <a:bodyPr wrap="square" lIns="0" tIns="0" rIns="0" bIns="0" rtlCol="0" anchor="t">
            <a:normAutofit/>
          </a:bodyPr>
          <a:lstStyle/>
          <a:p>
            <a:pPr marL="0" indent="0" algn="l">
              <a:lnSpc>
                <a:spcPts val="2987"/>
              </a:lnSpc>
              <a:buNone/>
            </a:pPr>
            <a:r>
              <a:rPr lang="en-US" sz="2900" b="1" dirty="0">
                <a:solidFill>
                  <a:srgbClr val="E7EEF8"/>
                </a:solidFill>
                <a:latin typeface="IBM Plex Sans" pitchFamily="34" charset="0"/>
                <a:ea typeface="IBM Plex Sans" pitchFamily="34" charset="-122"/>
                <a:cs typeface="IBM Plex Sans" pitchFamily="34" charset="-120"/>
              </a:rPr>
              <a:t>What it would actually take to break LEO</a:t>
            </a:r>
            <a:endParaRPr lang="en-US" sz="2900" dirty="0"/>
          </a:p>
        </p:txBody>
      </p:sp>
      <p:sp>
        <p:nvSpPr>
          <p:cNvPr id="4" name="Shape 2"/>
          <p:cNvSpPr/>
          <p:nvPr/>
        </p:nvSpPr>
        <p:spPr>
          <a:xfrm>
            <a:off x="815975" y="1484846"/>
            <a:ext cx="5727965" cy="2976430"/>
          </a:xfrm>
          <a:prstGeom prst="roundRect">
            <a:avLst>
              <a:gd name="adj" fmla="val 3307"/>
            </a:avLst>
          </a:prstGeom>
          <a:solidFill>
            <a:srgbClr val="160A0C"/>
          </a:solidFill>
          <a:ln w="6350">
            <a:solidFill>
              <a:srgbClr val="4A2530"/>
            </a:solidFill>
            <a:prstDash val="solid"/>
          </a:ln>
        </p:spPr>
        <p:txBody>
          <a:bodyPr/>
          <a:lstStyle/>
          <a:p>
            <a:endParaRPr lang="en-CH"/>
          </a:p>
        </p:txBody>
      </p:sp>
      <p:sp>
        <p:nvSpPr>
          <p:cNvPr id="5" name="Text 3"/>
          <p:cNvSpPr/>
          <p:nvPr/>
        </p:nvSpPr>
        <p:spPr>
          <a:xfrm>
            <a:off x="1032933" y="1676400"/>
            <a:ext cx="5452870" cy="25651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9FB2CC"/>
                </a:solidFill>
                <a:latin typeface="IBM Plex Sans" pitchFamily="34" charset="0"/>
                <a:ea typeface="IBM Plex Sans" pitchFamily="34" charset="-122"/>
                <a:cs typeface="IBM Plex Sans" pitchFamily="34" charset="-120"/>
              </a:rPr>
              <a:t>Objects ≥10 cm in the 700–1,100 km belt, 50 years</a:t>
            </a:r>
            <a:endParaRPr lang="en-US" sz="1300" dirty="0"/>
          </a:p>
        </p:txBody>
      </p:sp>
      <p:sp>
        <p:nvSpPr>
          <p:cNvPr id="11" name="Shape 8"/>
          <p:cNvSpPr/>
          <p:nvPr/>
        </p:nvSpPr>
        <p:spPr>
          <a:xfrm>
            <a:off x="6778890" y="1642802"/>
            <a:ext cx="4597136" cy="875837"/>
          </a:xfrm>
          <a:prstGeom prst="roundRect">
            <a:avLst>
              <a:gd name="adj" fmla="val 9788"/>
            </a:avLst>
          </a:prstGeom>
          <a:solidFill>
            <a:srgbClr val="160A0C"/>
          </a:solidFill>
          <a:ln w="6350">
            <a:solidFill>
              <a:srgbClr val="4A2530"/>
            </a:solidFill>
            <a:prstDash val="solid"/>
          </a:ln>
        </p:spPr>
        <p:txBody>
          <a:bodyPr/>
          <a:lstStyle/>
          <a:p>
            <a:endParaRPr lang="en-CH"/>
          </a:p>
        </p:txBody>
      </p:sp>
      <p:sp>
        <p:nvSpPr>
          <p:cNvPr id="12" name="Text 9"/>
          <p:cNvSpPr/>
          <p:nvPr/>
        </p:nvSpPr>
        <p:spPr>
          <a:xfrm>
            <a:off x="6970448" y="1808956"/>
            <a:ext cx="4340439" cy="355600"/>
          </a:xfrm>
          <a:prstGeom prst="rect">
            <a:avLst/>
          </a:prstGeom>
          <a:noFill/>
          <a:ln/>
        </p:spPr>
        <p:txBody>
          <a:bodyPr wrap="square" lIns="0" tIns="0" rIns="0" bIns="0" rtlCol="0" anchor="t">
            <a:normAutofit/>
          </a:bodyPr>
          <a:lstStyle/>
          <a:p>
            <a:pPr marL="0" indent="0" algn="l">
              <a:lnSpc>
                <a:spcPts val="2600"/>
              </a:lnSpc>
              <a:buNone/>
            </a:pPr>
            <a:r>
              <a:rPr lang="en-US" sz="2600" b="1" dirty="0">
                <a:solidFill>
                  <a:srgbClr val="FF5A52"/>
                </a:solidFill>
                <a:latin typeface="IBM Plex Sans" pitchFamily="34" charset="0"/>
                <a:ea typeface="IBM Plex Sans" pitchFamily="34" charset="-122"/>
                <a:cs typeface="IBM Plex Sans" pitchFamily="34" charset="-120"/>
              </a:rPr>
              <a:t>~1,500–1,700 / yr</a:t>
            </a:r>
            <a:endParaRPr lang="en-US" sz="2600" dirty="0"/>
          </a:p>
        </p:txBody>
      </p:sp>
      <p:sp>
        <p:nvSpPr>
          <p:cNvPr id="13" name="Text 10"/>
          <p:cNvSpPr/>
          <p:nvPr/>
        </p:nvSpPr>
        <p:spPr>
          <a:xfrm>
            <a:off x="6970448" y="2139156"/>
            <a:ext cx="434043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2CC"/>
                </a:solidFill>
                <a:latin typeface="IBM Plex Sans" pitchFamily="34" charset="0"/>
                <a:ea typeface="IBM Plex Sans" pitchFamily="34" charset="-122"/>
                <a:cs typeface="IBM Plex Sans" pitchFamily="34" charset="-120"/>
              </a:rPr>
              <a:t>catastrophic collisions by year 50</a:t>
            </a:r>
            <a:endParaRPr lang="en-US" sz="1200" dirty="0"/>
          </a:p>
        </p:txBody>
      </p:sp>
      <p:sp>
        <p:nvSpPr>
          <p:cNvPr id="14" name="Shape 11"/>
          <p:cNvSpPr/>
          <p:nvPr/>
        </p:nvSpPr>
        <p:spPr>
          <a:xfrm>
            <a:off x="6778890" y="2626593"/>
            <a:ext cx="4597136" cy="875837"/>
          </a:xfrm>
          <a:prstGeom prst="roundRect">
            <a:avLst>
              <a:gd name="adj" fmla="val 9788"/>
            </a:avLst>
          </a:prstGeom>
          <a:solidFill>
            <a:srgbClr val="160A0C"/>
          </a:solidFill>
          <a:ln w="6350">
            <a:solidFill>
              <a:srgbClr val="4A2530"/>
            </a:solidFill>
            <a:prstDash val="solid"/>
          </a:ln>
        </p:spPr>
        <p:txBody>
          <a:bodyPr/>
          <a:lstStyle/>
          <a:p>
            <a:endParaRPr lang="en-CH"/>
          </a:p>
        </p:txBody>
      </p:sp>
      <p:sp>
        <p:nvSpPr>
          <p:cNvPr id="15" name="Text 12"/>
          <p:cNvSpPr/>
          <p:nvPr/>
        </p:nvSpPr>
        <p:spPr>
          <a:xfrm>
            <a:off x="6970448" y="2792747"/>
            <a:ext cx="4340439" cy="355600"/>
          </a:xfrm>
          <a:prstGeom prst="rect">
            <a:avLst/>
          </a:prstGeom>
          <a:noFill/>
          <a:ln/>
        </p:spPr>
        <p:txBody>
          <a:bodyPr wrap="square" lIns="0" tIns="0" rIns="0" bIns="0" rtlCol="0" anchor="t">
            <a:normAutofit/>
          </a:bodyPr>
          <a:lstStyle/>
          <a:p>
            <a:pPr marL="0" indent="0" algn="l">
              <a:lnSpc>
                <a:spcPts val="2600"/>
              </a:lnSpc>
              <a:buNone/>
            </a:pPr>
            <a:r>
              <a:rPr lang="en-US" sz="2600" b="1" dirty="0">
                <a:solidFill>
                  <a:srgbClr val="FFCF5C"/>
                </a:solidFill>
                <a:latin typeface="IBM Plex Sans" pitchFamily="34" charset="0"/>
                <a:ea typeface="IBM Plex Sans" pitchFamily="34" charset="-122"/>
                <a:cs typeface="IBM Plex Sans" pitchFamily="34" charset="-120"/>
              </a:rPr>
              <a:t>×87</a:t>
            </a:r>
            <a:endParaRPr lang="en-US" sz="2600" dirty="0"/>
          </a:p>
        </p:txBody>
      </p:sp>
      <p:sp>
        <p:nvSpPr>
          <p:cNvPr id="16" name="Text 13"/>
          <p:cNvSpPr/>
          <p:nvPr/>
        </p:nvSpPr>
        <p:spPr>
          <a:xfrm>
            <a:off x="6970448" y="3122947"/>
            <a:ext cx="434043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2CC"/>
                </a:solidFill>
                <a:latin typeface="IBM Plex Sans" pitchFamily="34" charset="0"/>
                <a:ea typeface="IBM Plex Sans" pitchFamily="34" charset="-122"/>
                <a:cs typeface="IBM Plex Sans" pitchFamily="34" charset="-120"/>
              </a:rPr>
              <a:t>growth in objects ≥10 cm (8k → 718k)</a:t>
            </a:r>
            <a:endParaRPr lang="en-US" sz="1200" dirty="0"/>
          </a:p>
        </p:txBody>
      </p:sp>
      <p:sp>
        <p:nvSpPr>
          <p:cNvPr id="17" name="Shape 14"/>
          <p:cNvSpPr/>
          <p:nvPr/>
        </p:nvSpPr>
        <p:spPr>
          <a:xfrm>
            <a:off x="6778890" y="3610372"/>
            <a:ext cx="4597136" cy="692944"/>
          </a:xfrm>
          <a:prstGeom prst="roundRect">
            <a:avLst>
              <a:gd name="adj" fmla="val 12371"/>
            </a:avLst>
          </a:prstGeom>
          <a:solidFill>
            <a:srgbClr val="0A1626"/>
          </a:solidFill>
          <a:ln w="6350">
            <a:solidFill>
              <a:srgbClr val="2A3A52"/>
            </a:solidFill>
            <a:prstDash val="solid"/>
          </a:ln>
        </p:spPr>
        <p:txBody>
          <a:bodyPr/>
          <a:lstStyle/>
          <a:p>
            <a:endParaRPr lang="en-CH"/>
          </a:p>
        </p:txBody>
      </p:sp>
      <p:sp>
        <p:nvSpPr>
          <p:cNvPr id="18" name="Text 15"/>
          <p:cNvSpPr/>
          <p:nvPr/>
        </p:nvSpPr>
        <p:spPr>
          <a:xfrm>
            <a:off x="6970448" y="3751138"/>
            <a:ext cx="4340439" cy="436827"/>
          </a:xfrm>
          <a:prstGeom prst="rect">
            <a:avLst/>
          </a:prstGeom>
          <a:noFill/>
          <a:ln/>
        </p:spPr>
        <p:txBody>
          <a:bodyPr wrap="square" lIns="0" tIns="0" rIns="0" bIns="0" rtlCol="0" anchor="t">
            <a:normAutofit/>
          </a:bodyPr>
          <a:lstStyle/>
          <a:p>
            <a:pPr marL="0" indent="0" algn="l">
              <a:lnSpc>
                <a:spcPts val="1620"/>
              </a:lnSpc>
              <a:buNone/>
            </a:pPr>
            <a:r>
              <a:rPr lang="en-US" sz="1200" b="1" dirty="0">
                <a:solidFill>
                  <a:srgbClr val="E7EEF8"/>
                </a:solidFill>
                <a:latin typeface="IBM Plex Sans" pitchFamily="34" charset="0"/>
                <a:ea typeface="IBM Plex Sans" pitchFamily="34" charset="-122"/>
                <a:cs typeface="IBM Plex Sans" pitchFamily="34" charset="-120"/>
              </a:rPr>
              <a:t>Trigger: 500 derelicts a year for 50 years (~425 satellites + 75 rocket bodies). No ASAT.</a:t>
            </a:r>
            <a:r>
              <a:rPr lang="en-US" sz="1200" dirty="0">
                <a:solidFill>
                  <a:srgbClr val="E7EEF8"/>
                </a:solidFill>
                <a:latin typeface="IBM Plex Sans" pitchFamily="34" charset="0"/>
                <a:ea typeface="IBM Plex Sans" pitchFamily="34" charset="-122"/>
                <a:cs typeface="IBM Plex Sans" pitchFamily="34" charset="-120"/>
              </a:rPr>
              <a:t/>
            </a:r>
            <a:r>
              <a:rPr lang="en-US" sz="1200" b="1" dirty="0">
                <a:solidFill>
                  <a:srgbClr val="E7EEF8"/>
                </a:solidFill>
                <a:latin typeface="IBM Plex Sans" pitchFamily="34" charset="0"/>
                <a:ea typeface="IBM Plex Sans" pitchFamily="34" charset="-122"/>
                <a:cs typeface="IBM Plex Sans" pitchFamily="34" charset="-120"/>
              </a:rPr>
              <a:t/>
            </a:r>
            <a:r>
              <a:rPr lang="en-US" sz="1200" dirty="0">
                <a:solidFill>
                  <a:srgbClr val="E7EEF8"/>
                </a:solidFill>
                <a:latin typeface="IBM Plex Sans" pitchFamily="34" charset="0"/>
                <a:ea typeface="IBM Plex Sans" pitchFamily="34" charset="-122"/>
                <a:cs typeface="IBM Plex Sans" pitchFamily="34" charset="-120"/>
              </a:rPr>
              <a:t/>
            </a:r>
            <a:endParaRPr lang="en-US" sz="1200" dirty="0"/>
          </a:p>
        </p:txBody>
      </p:sp>
      <p:sp>
        <p:nvSpPr>
          <p:cNvPr id="19" name="Text 16"/>
          <p:cNvSpPr/>
          <p:nvPr/>
        </p:nvSpPr>
        <p:spPr>
          <a:xfrm>
            <a:off x="812800" y="4654947"/>
            <a:ext cx="10883392" cy="52321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9FB2CC"/>
                </a:solidFill>
                <a:latin typeface="IBM Plex Sans" pitchFamily="34" charset="0"/>
                <a:ea typeface="IBM Plex Sans" pitchFamily="34" charset="-122"/>
                <a:cs typeface="IBM Plex Sans" pitchFamily="34" charset="-120"/>
              </a:rPr>
              <a:t>It takes mass and catastrophic energy — large objects, not nails. One ASAT strike on a 1 t satellite makes ~50,000 fragments ≥1 cm; the extreme is 500 intact objects a year piling into a band that already grows on its own. A nail has neither the mass nor the energy.</a:t>
            </a:r>
            <a:r>
              <a:rPr lang="en-US" sz="1400" b="1" dirty="0">
                <a:solidFill>
                  <a:srgbClr val="9FB2CC"/>
                </a:solidFill>
                <a:latin typeface="IBM Plex Sans" pitchFamily="34" charset="0"/>
                <a:ea typeface="IBM Plex Sans" pitchFamily="34" charset="-122"/>
                <a:cs typeface="IBM Plex Sans" pitchFamily="34" charset="-120"/>
              </a:rPr>
              <a:t/>
            </a:r>
            <a:r>
              <a:rPr lang="en-US" sz="1400" dirty="0">
                <a:solidFill>
                  <a:srgbClr val="9FB2CC"/>
                </a:solidFill>
                <a:latin typeface="IBM Plex Sans" pitchFamily="34" charset="0"/>
                <a:ea typeface="IBM Plex Sans" pitchFamily="34" charset="-122"/>
                <a:cs typeface="IBM Plex Sans" pitchFamily="34" charset="-120"/>
              </a:rPr>
              <a:t/>
            </a:r>
            <a:r>
              <a:rPr lang="en-US" sz="1400" i="1" dirty="0">
                <a:solidFill>
                  <a:srgbClr val="9FB2CC"/>
                </a:solidFill>
                <a:latin typeface="IBM Plex Sans" pitchFamily="34" charset="0"/>
                <a:ea typeface="IBM Plex Sans" pitchFamily="34" charset="-122"/>
                <a:cs typeface="IBM Plex Sans" pitchFamily="34" charset="-120"/>
              </a:rPr>
              <a:t/>
            </a:r>
            <a:r>
              <a:rPr lang="en-US" sz="1400" dirty="0">
                <a:solidFill>
                  <a:srgbClr val="9FB2CC"/>
                </a:solidFill>
                <a:latin typeface="IBM Plex Sans" pitchFamily="34" charset="0"/>
                <a:ea typeface="IBM Plex Sans" pitchFamily="34" charset="-122"/>
                <a:cs typeface="IBM Plex Sans" pitchFamily="34" charset="-120"/>
              </a:rPr>
              <a:t> Adding a barrel on top changes the belt by under 0.1%.</a:t>
            </a:r>
            <a:endParaRPr lang="en-US" sz="1400" dirty="0"/>
          </a:p>
        </p:txBody>
      </p:sp>
      <p:pic>
        <p:nvPicPr>
          <p:cNvPr id="20" name="Picture 19" descr="deck_extreme.png"/>
          <p:cNvPicPr>
            <a:picLocks noChangeAspect="1"/>
          </p:cNvPicPr>
          <p:nvPr/>
        </p:nvPicPr>
        <p:blipFill>
          <a:blip r:embed="rId9"/>
          <a:stretch>
            <a:fillRect/>
          </a:stretch>
        </p:blipFill>
        <p:spPr>
          <a:xfrm>
            <a:off x="1033271" y="1984248"/>
            <a:ext cx="5285232" cy="2286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6080E"/>
        </a:solidFill>
        <a:effectLst/>
      </p:bgPr>
    </p:bg>
    <p:spTree>
      <p:nvGrpSpPr>
        <p:cNvPr id="1" name=""/>
        <p:cNvGrpSpPr/>
        <p:nvPr/>
      </p:nvGrpSpPr>
      <p:grpSpPr>
        <a:xfrm>
          <a:off x="0" y="0"/>
          <a:ext cx="0" cy="0"/>
          <a:chOff x="0" y="0"/>
          <a:chExt cx="0" cy="0"/>
        </a:xfrm>
      </p:grpSpPr>
      <p:sp>
        <p:nvSpPr>
          <p:cNvPr id="2" name="TextBox 1"/>
          <p:cNvSpPr txBox="1"/>
          <p:nvPr/>
        </p:nvSpPr>
        <p:spPr>
          <a:xfrm>
            <a:off x="813816" y="694944"/>
            <a:ext cx="10881360" cy="237744"/>
          </a:xfrm>
          <a:prstGeom prst="rect">
            <a:avLst/>
          </a:prstGeom>
          <a:noFill/>
        </p:spPr>
        <p:txBody>
          <a:bodyPr wrap="square" lIns="0" rIns="0">
            <a:spAutoFit/>
          </a:bodyPr>
          <a:lstStyle/>
          <a:p>
            <a:pPr algn="l"/>
            <a:r>
              <a:rPr sz="1200" b="0" spc="250">
                <a:solidFill>
                  <a:srgbClr val="4DA6FF"/>
                </a:solidFill>
                <a:latin typeface="IBM Plex Mono"/>
              </a:rPr>
              <a:t>ORBIT VISUALIZATION</a:t>
            </a:r>
          </a:p>
        </p:txBody>
      </p:sp>
      <p:sp>
        <p:nvSpPr>
          <p:cNvPr id="3" name="TextBox 2"/>
          <p:cNvSpPr txBox="1"/>
          <p:nvPr/>
        </p:nvSpPr>
        <p:spPr>
          <a:xfrm>
            <a:off x="813816" y="978408"/>
            <a:ext cx="10881360" cy="402336"/>
          </a:xfrm>
          <a:prstGeom prst="rect">
            <a:avLst/>
          </a:prstGeom>
          <a:noFill/>
        </p:spPr>
        <p:txBody>
          <a:bodyPr wrap="square" lIns="0" rIns="0">
            <a:spAutoFit/>
          </a:bodyPr>
          <a:lstStyle/>
          <a:p>
            <a:pPr algn="l"/>
            <a:r>
              <a:rPr sz="2900" b="1">
                <a:solidFill>
                  <a:srgbClr val="E7EEF8"/>
                </a:solidFill>
                <a:latin typeface="IBM Plex Sans"/>
              </a:rPr>
              <a:t>500 derelicts a year fill the belt</a:t>
            </a:r>
          </a:p>
        </p:txBody>
      </p:sp>
      <p:sp>
        <p:nvSpPr>
          <p:cNvPr id="6" name="TextBox 5"/>
          <p:cNvSpPr txBox="1"/>
          <p:nvPr/>
        </p:nvSpPr>
        <p:spPr>
          <a:xfrm>
            <a:off x="813816" y="5989320"/>
            <a:ext cx="10570464" cy="731520"/>
          </a:xfrm>
          <a:prstGeom prst="rect">
            <a:avLst/>
          </a:prstGeom>
          <a:noFill/>
        </p:spPr>
        <p:txBody>
          <a:bodyPr wrap="square" lIns="0" rIns="0">
            <a:spAutoFit/>
          </a:bodyPr>
          <a:lstStyle/>
          <a:p>
            <a:pPr algn="l"/>
            <a:r>
              <a:rPr sz="1400" b="0">
                <a:solidFill>
                  <a:srgbClr val="9FB2CC"/>
                </a:solidFill>
                <a:latin typeface="IBM Plex Sans"/>
              </a:rPr>
              <a:t>Leaving 500 objects a year (satellites and rocket bodies, none deorbited) in the 700–1,100 km belt multiplies its ≥10 cm population ~87× in 50 years — from sparse (left) to a near-opaque hazard band (right). Illustrative; densities not to scale.</a:t>
            </a:r>
          </a:p>
        </p:txBody>
      </p:sp>
      <p:pic>
        <p:nvPicPr>
          <p:cNvPr id="9" name="Picture 8" descr="image.png"/>
          <p:cNvPicPr>
            <a:picLocks noChangeAspect="1"/>
          </p:cNvPicPr>
          <p:nvPr/>
        </p:nvPicPr>
        <p:blipFill>
          <a:blip r:embed="rId10"/>
          <a:stretch>
            <a:fillRect/>
          </a:stretch>
        </p:blipFill>
        <p:spPr>
          <a:xfrm>
            <a:off x="1568195" y="1572768"/>
            <a:ext cx="4297680" cy="4297680"/>
          </a:xfrm>
          <a:prstGeom prst="rect">
            <a:avLst/>
          </a:prstGeom>
        </p:spPr>
      </p:pic>
      <p:pic>
        <p:nvPicPr>
          <p:cNvPr id="10" name="Picture 9" descr="extreme2.png"/>
          <p:cNvPicPr>
            <a:picLocks noChangeAspect="1"/>
          </p:cNvPicPr>
          <p:nvPr/>
        </p:nvPicPr>
        <p:blipFill>
          <a:blip r:embed="rId12"/>
          <a:stretch>
            <a:fillRect/>
          </a:stretch>
        </p:blipFill>
        <p:spPr>
          <a:xfrm>
            <a:off x="6323076" y="1572768"/>
            <a:ext cx="4297680" cy="429768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350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FF8C42"/>
                </a:solidFill>
                <a:latin typeface="IBM Plex Mono" pitchFamily="34" charset="0"/>
                <a:ea typeface="IBM Plex Mono" pitchFamily="34" charset="-122"/>
                <a:cs typeface="IBM Plex Mono" pitchFamily="34" charset="-120"/>
              </a:rPr>
              <a:t>THE RECOVERABLE EXTREME</a:t>
            </a:r>
            <a:endParaRPr lang="en-US" sz="1200" dirty="0"/>
          </a:p>
        </p:txBody>
      </p:sp>
      <p:sp>
        <p:nvSpPr>
          <p:cNvPr id="3" name="Text 1"/>
          <p:cNvSpPr/>
          <p:nvPr/>
        </p:nvSpPr>
        <p:spPr>
          <a:xfrm>
            <a:off x="812800" y="911820"/>
            <a:ext cx="10883392" cy="391649"/>
          </a:xfrm>
          <a:prstGeom prst="rect">
            <a:avLst/>
          </a:prstGeom>
          <a:noFill/>
          <a:ln/>
        </p:spPr>
        <p:txBody>
          <a:bodyPr wrap="square" lIns="0" tIns="0" rIns="0" bIns="0" rtlCol="0" anchor="t">
            <a:normAutofit/>
          </a:bodyPr>
          <a:lstStyle/>
          <a:p>
            <a:pPr marL="0" indent="0" algn="l">
              <a:lnSpc>
                <a:spcPts val="2884"/>
              </a:lnSpc>
              <a:buNone/>
            </a:pPr>
            <a:r>
              <a:rPr lang="en-US" sz="2800" b="1" dirty="0">
                <a:solidFill>
                  <a:srgbClr val="E7EEF8"/>
                </a:solidFill>
                <a:latin typeface="IBM Plex Sans" pitchFamily="34" charset="0"/>
                <a:ea typeface="IBM Plex Sans" pitchFamily="34" charset="-122"/>
                <a:cs typeface="IBM Plex Sans" pitchFamily="34" charset="-120"/>
              </a:rPr>
              <a:t>Low down, even a big breakup clears fast</a:t>
            </a:r>
            <a:endParaRPr lang="en-US" sz="2800" dirty="0"/>
          </a:p>
        </p:txBody>
      </p:sp>
      <p:sp>
        <p:nvSpPr>
          <p:cNvPr id="4" name="Shape 2"/>
          <p:cNvSpPr/>
          <p:nvPr/>
        </p:nvSpPr>
        <p:spPr>
          <a:xfrm>
            <a:off x="815975" y="1459049"/>
            <a:ext cx="5716125" cy="2815167"/>
          </a:xfrm>
          <a:prstGeom prst="roundRect">
            <a:avLst>
              <a:gd name="adj" fmla="val 3496"/>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020233" y="1637903"/>
            <a:ext cx="5466836" cy="2476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9FB2CC"/>
                </a:solidFill>
                <a:latin typeface="IBM Plex Sans" pitchFamily="34" charset="0"/>
                <a:ea typeface="IBM Plex Sans" pitchFamily="34" charset="-122"/>
                <a:cs typeface="IBM Plex Sans" pitchFamily="34" charset="-120"/>
              </a:rPr>
              <a:t>Extra collision risk at 475 km after a 2.2 t breakup (like Cosmos-1408)</a:t>
            </a:r>
            <a:endParaRPr lang="en-US" sz="1250" dirty="0"/>
          </a:p>
        </p:txBody>
      </p:sp>
      <p:sp>
        <p:nvSpPr>
          <p:cNvPr id="14" name="Shape 11"/>
          <p:cNvSpPr/>
          <p:nvPr/>
        </p:nvSpPr>
        <p:spPr>
          <a:xfrm>
            <a:off x="6767050" y="1549078"/>
            <a:ext cx="4608976" cy="863137"/>
          </a:xfrm>
          <a:prstGeom prst="roundRect">
            <a:avLst>
              <a:gd name="adj" fmla="val 9932"/>
            </a:avLst>
          </a:prstGeom>
          <a:solidFill>
            <a:srgbClr val="160A0C"/>
          </a:solidFill>
          <a:ln w="6350">
            <a:solidFill>
              <a:srgbClr val="4A2530"/>
            </a:solidFill>
            <a:prstDash val="solid"/>
          </a:ln>
        </p:spPr>
        <p:txBody>
          <a:bodyPr/>
          <a:lstStyle/>
          <a:p>
            <a:endParaRPr lang="en-CH"/>
          </a:p>
        </p:txBody>
      </p:sp>
      <p:sp>
        <p:nvSpPr>
          <p:cNvPr id="15" name="Text 12"/>
          <p:cNvSpPr/>
          <p:nvPr/>
        </p:nvSpPr>
        <p:spPr>
          <a:xfrm>
            <a:off x="6958608" y="1715232"/>
            <a:ext cx="4352635" cy="342900"/>
          </a:xfrm>
          <a:prstGeom prst="rect">
            <a:avLst/>
          </a:prstGeom>
          <a:noFill/>
          <a:ln/>
        </p:spPr>
        <p:txBody>
          <a:bodyPr wrap="square" lIns="0" tIns="0" rIns="0" bIns="0" rtlCol="0" anchor="t">
            <a:normAutofit/>
          </a:bodyPr>
          <a:lstStyle/>
          <a:p>
            <a:pPr marL="0" indent="0" algn="l">
              <a:lnSpc>
                <a:spcPts val="2500"/>
              </a:lnSpc>
              <a:buNone/>
            </a:pPr>
            <a:r>
              <a:rPr lang="en-US" sz="2500" b="1" dirty="0">
                <a:solidFill>
                  <a:srgbClr val="FF5A52"/>
                </a:solidFill>
                <a:latin typeface="IBM Plex Sans" pitchFamily="34" charset="0"/>
                <a:ea typeface="IBM Plex Sans" pitchFamily="34" charset="-122"/>
                <a:cs typeface="IBM Plex Sans" pitchFamily="34" charset="-120"/>
              </a:rPr>
              <a:t>+21%</a:t>
            </a:r>
            <a:endParaRPr lang="en-US" sz="2500" dirty="0"/>
          </a:p>
        </p:txBody>
      </p:sp>
      <p:sp>
        <p:nvSpPr>
          <p:cNvPr id="16" name="Text 13"/>
          <p:cNvSpPr/>
          <p:nvPr/>
        </p:nvSpPr>
        <p:spPr>
          <a:xfrm>
            <a:off x="6958608" y="2032732"/>
            <a:ext cx="435263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2CC"/>
                </a:solidFill>
                <a:latin typeface="IBM Plex Sans" pitchFamily="34" charset="0"/>
                <a:ea typeface="IBM Plex Sans" pitchFamily="34" charset="-122"/>
                <a:cs typeface="IBM Plex Sans" pitchFamily="34" charset="-120"/>
              </a:rPr>
              <a:t>local collision risk at the peak — not a no-go zone</a:t>
            </a:r>
            <a:endParaRPr lang="en-US" sz="1200" dirty="0"/>
          </a:p>
        </p:txBody>
      </p:sp>
      <p:sp>
        <p:nvSpPr>
          <p:cNvPr id="17" name="Shape 14"/>
          <p:cNvSpPr/>
          <p:nvPr/>
        </p:nvSpPr>
        <p:spPr>
          <a:xfrm>
            <a:off x="6767050" y="2520156"/>
            <a:ext cx="4608976" cy="863137"/>
          </a:xfrm>
          <a:prstGeom prst="roundRect">
            <a:avLst>
              <a:gd name="adj" fmla="val 9932"/>
            </a:avLst>
          </a:prstGeom>
          <a:solidFill>
            <a:srgbClr val="0A1614"/>
          </a:solidFill>
          <a:ln w="6350">
            <a:solidFill>
              <a:srgbClr val="235A3F"/>
            </a:solidFill>
            <a:prstDash val="solid"/>
          </a:ln>
        </p:spPr>
        <p:txBody>
          <a:bodyPr/>
          <a:lstStyle/>
          <a:p>
            <a:endParaRPr lang="en-CH"/>
          </a:p>
        </p:txBody>
      </p:sp>
      <p:sp>
        <p:nvSpPr>
          <p:cNvPr id="18" name="Text 15"/>
          <p:cNvSpPr/>
          <p:nvPr/>
        </p:nvSpPr>
        <p:spPr>
          <a:xfrm>
            <a:off x="6958608" y="2686323"/>
            <a:ext cx="4352635" cy="342900"/>
          </a:xfrm>
          <a:prstGeom prst="rect">
            <a:avLst/>
          </a:prstGeom>
          <a:noFill/>
          <a:ln/>
        </p:spPr>
        <p:txBody>
          <a:bodyPr wrap="square" lIns="0" tIns="0" rIns="0" bIns="0" rtlCol="0" anchor="t">
            <a:normAutofit/>
          </a:bodyPr>
          <a:lstStyle/>
          <a:p>
            <a:pPr marL="0" indent="0" algn="l">
              <a:lnSpc>
                <a:spcPts val="2500"/>
              </a:lnSpc>
              <a:buNone/>
            </a:pPr>
            <a:r>
              <a:rPr lang="en-US" sz="2500" b="1" dirty="0">
                <a:solidFill>
                  <a:srgbClr val="39D98A"/>
                </a:solidFill>
                <a:latin typeface="IBM Plex Sans" pitchFamily="34" charset="0"/>
                <a:ea typeface="IBM Plex Sans" pitchFamily="34" charset="-122"/>
                <a:cs typeface="IBM Plex Sans" pitchFamily="34" charset="-120"/>
              </a:rPr>
              <a:t>~1 yr</a:t>
            </a:r>
            <a:endParaRPr lang="en-US" sz="2500" dirty="0"/>
          </a:p>
        </p:txBody>
      </p:sp>
      <p:sp>
        <p:nvSpPr>
          <p:cNvPr id="19" name="Text 16"/>
          <p:cNvSpPr/>
          <p:nvPr/>
        </p:nvSpPr>
        <p:spPr>
          <a:xfrm>
            <a:off x="6958608" y="3003823"/>
            <a:ext cx="435263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2CC"/>
                </a:solidFill>
                <a:latin typeface="IBM Plex Sans" pitchFamily="34" charset="0"/>
                <a:ea typeface="IBM Plex Sans" pitchFamily="34" charset="-122"/>
                <a:cs typeface="IBM Plex Sans" pitchFamily="34" charset="-120"/>
              </a:rPr>
              <a:t>for drag to sweep it clean</a:t>
            </a:r>
            <a:endParaRPr lang="en-US" sz="1200" dirty="0"/>
          </a:p>
        </p:txBody>
      </p:sp>
      <p:sp>
        <p:nvSpPr>
          <p:cNvPr id="20" name="Shape 17"/>
          <p:cNvSpPr/>
          <p:nvPr/>
        </p:nvSpPr>
        <p:spPr>
          <a:xfrm>
            <a:off x="6767050" y="3491247"/>
            <a:ext cx="4608976" cy="692944"/>
          </a:xfrm>
          <a:prstGeom prst="roundRect">
            <a:avLst>
              <a:gd name="adj" fmla="val 12371"/>
            </a:avLst>
          </a:prstGeom>
          <a:solidFill>
            <a:srgbClr val="0D1420"/>
          </a:solidFill>
          <a:ln w="6350">
            <a:solidFill>
              <a:srgbClr val="2A3A52"/>
            </a:solidFill>
            <a:prstDash val="solid"/>
          </a:ln>
        </p:spPr>
        <p:txBody>
          <a:bodyPr/>
          <a:lstStyle/>
          <a:p>
            <a:endParaRPr lang="en-CH"/>
          </a:p>
        </p:txBody>
      </p:sp>
      <p:sp>
        <p:nvSpPr>
          <p:cNvPr id="21" name="Text 18"/>
          <p:cNvSpPr/>
          <p:nvPr/>
        </p:nvSpPr>
        <p:spPr>
          <a:xfrm>
            <a:off x="6958608" y="3632002"/>
            <a:ext cx="4352635" cy="436827"/>
          </a:xfrm>
          <a:prstGeom prst="rect">
            <a:avLst/>
          </a:prstGeom>
          <a:noFill/>
          <a:ln/>
        </p:spPr>
        <p:txBody>
          <a:bodyPr wrap="square" lIns="0" tIns="0" rIns="0" bIns="0" rtlCol="0" anchor="t">
            <a:normAutofit/>
          </a:bodyPr>
          <a:lstStyle/>
          <a:p>
            <a:pPr marL="0" indent="0" algn="l">
              <a:lnSpc>
                <a:spcPts val="1620"/>
              </a:lnSpc>
              <a:buNone/>
            </a:pPr>
            <a:r>
              <a:rPr lang="en-US" sz="1200" b="1" dirty="0">
                <a:solidFill>
                  <a:srgbClr val="E7EEF8"/>
                </a:solidFill>
                <a:latin typeface="IBM Plex Sans" pitchFamily="34" charset="0"/>
                <a:ea typeface="IBM Plex Sans" pitchFamily="34" charset="-122"/>
                <a:cs typeface="IBM Plex Sans" pitchFamily="34" charset="-120"/>
              </a:rPr>
              <a:t>Trigger:</a:t>
            </a:r>
            <a:r>
              <a:rPr lang="en-US" sz="1200" dirty="0">
                <a:solidFill>
                  <a:srgbClr val="E7EEF8"/>
                </a:solidFill>
                <a:latin typeface="IBM Plex Sans" pitchFamily="34" charset="0"/>
                <a:ea typeface="IBM Plex Sans" pitchFamily="34" charset="-122"/>
                <a:cs typeface="IBM Plex Sans" pitchFamily="34" charset="-120"/>
              </a:rPr>
              <a:t> a large low-altitude fragmentation — an ASAT strike or a big collision.</a:t>
            </a:r>
            <a:endParaRPr lang="en-US" sz="1200" dirty="0"/>
          </a:p>
        </p:txBody>
      </p:sp>
      <p:sp>
        <p:nvSpPr>
          <p:cNvPr id="22" name="Text 19"/>
          <p:cNvSpPr/>
          <p:nvPr/>
        </p:nvSpPr>
        <p:spPr>
          <a:xfrm>
            <a:off x="812800" y="4455195"/>
            <a:ext cx="10883392"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9FB2CC"/>
                </a:solidFill>
                <a:latin typeface="IBM Plex Sans" pitchFamily="34" charset="0"/>
                <a:ea typeface="IBM Plex Sans" pitchFamily="34" charset="-122"/>
                <a:cs typeface="IBM Plex Sans" pitchFamily="34" charset="-120"/>
              </a:rPr>
              <a:t>The same debris at </a:t>
            </a:r>
            <a:r>
              <a:rPr lang="en-US" sz="1400" b="1" dirty="0">
                <a:solidFill>
                  <a:srgbClr val="9FB2CC"/>
                </a:solidFill>
                <a:latin typeface="IBM Plex Sans" pitchFamily="34" charset="0"/>
                <a:ea typeface="IBM Plex Sans" pitchFamily="34" charset="-122"/>
                <a:cs typeface="IBM Plex Sans" pitchFamily="34" charset="-120"/>
              </a:rPr>
              <a:t>900 km would linger for centuries.</a:t>
            </a:r>
            <a:r>
              <a:rPr lang="en-US" sz="1400" dirty="0">
                <a:solidFill>
                  <a:srgbClr val="9FB2CC"/>
                </a:solidFill>
                <a:latin typeface="IBM Plex Sans" pitchFamily="34" charset="0"/>
                <a:ea typeface="IBM Plex Sans" pitchFamily="34" charset="-122"/>
                <a:cs typeface="IBM Plex Sans" pitchFamily="34" charset="-120"/>
              </a:rPr>
              <a:t> Low LEO forgives — the high belt does not.</a:t>
            </a:r>
            <a:endParaRPr lang="en-US" sz="1400" dirty="0"/>
          </a:p>
        </p:txBody>
      </p:sp>
      <p:pic>
        <p:nvPicPr>
          <p:cNvPr id="23" name="Picture 22" descr="deck_lowevent.png"/>
          <p:cNvPicPr>
            <a:picLocks noChangeAspect="1"/>
          </p:cNvPicPr>
          <p:nvPr/>
        </p:nvPicPr>
        <p:blipFill>
          <a:blip r:embed="rId7"/>
          <a:stretch>
            <a:fillRect/>
          </a:stretch>
        </p:blipFill>
        <p:spPr>
          <a:xfrm>
            <a:off x="1024128" y="1938528"/>
            <a:ext cx="5294376" cy="2157984"/>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350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CONGESTION &amp; MEGA-CONSTELLATIONS</a:t>
            </a:r>
            <a:endParaRPr lang="en-US" sz="1200" dirty="0"/>
          </a:p>
        </p:txBody>
      </p:sp>
      <p:sp>
        <p:nvSpPr>
          <p:cNvPr id="3" name="Text 1"/>
          <p:cNvSpPr/>
          <p:nvPr/>
        </p:nvSpPr>
        <p:spPr>
          <a:xfrm>
            <a:off x="812800" y="911820"/>
            <a:ext cx="10883392" cy="404746"/>
          </a:xfrm>
          <a:prstGeom prst="rect">
            <a:avLst/>
          </a:prstGeom>
          <a:noFill/>
          <a:ln/>
        </p:spPr>
        <p:txBody>
          <a:bodyPr wrap="square" lIns="0" tIns="0" rIns="0" bIns="0" rtlCol="0" anchor="t">
            <a:normAutofit/>
          </a:bodyPr>
          <a:lstStyle/>
          <a:p>
            <a:pPr marL="0" indent="0" algn="l">
              <a:lnSpc>
                <a:spcPts val="2987"/>
              </a:lnSpc>
              <a:buNone/>
            </a:pPr>
            <a:r>
              <a:rPr lang="en-US" sz="2900" b="1" dirty="0">
                <a:solidFill>
                  <a:srgbClr val="E7EEF8"/>
                </a:solidFill>
                <a:latin typeface="IBM Plex Sans" pitchFamily="34" charset="0"/>
                <a:ea typeface="IBM Plex Sans" pitchFamily="34" charset="-122"/>
                <a:cs typeface="IBM Plex Sans" pitchFamily="34" charset="-120"/>
              </a:rPr>
              <a:t>A present burden, a future hazard</a:t>
            </a:r>
            <a:endParaRPr lang="en-US" sz="2900" dirty="0"/>
          </a:p>
        </p:txBody>
      </p:sp>
      <p:sp>
        <p:nvSpPr>
          <p:cNvPr id="4" name="Shape 2"/>
          <p:cNvSpPr/>
          <p:nvPr/>
        </p:nvSpPr>
        <p:spPr>
          <a:xfrm>
            <a:off x="815975" y="1484846"/>
            <a:ext cx="5162550" cy="2582730"/>
          </a:xfrm>
          <a:prstGeom prst="roundRect">
            <a:avLst>
              <a:gd name="adj" fmla="val 3811"/>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032933" y="1701800"/>
            <a:ext cx="4870492"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E7EEF8"/>
                </a:solidFill>
                <a:latin typeface="IBM Plex Sans" pitchFamily="34" charset="0"/>
                <a:ea typeface="IBM Plex Sans" pitchFamily="34" charset="-122"/>
                <a:cs typeface="IBM Plex Sans" pitchFamily="34" charset="-120"/>
              </a:rPr>
              <a:t>Now — operational</a:t>
            </a:r>
            <a:endParaRPr lang="en-US" sz="1600" dirty="0"/>
          </a:p>
        </p:txBody>
      </p:sp>
      <p:pic>
        <p:nvPicPr>
          <p:cNvPr id="6" name="Image 0" descr="Rising collision-avoidance maneuver counts"/>
          <p:cNvPicPr>
            <a:picLocks noChangeAspect="1"/>
          </p:cNvPicPr>
          <p:nvPr/>
        </p:nvPicPr>
        <p:blipFill>
          <a:blip r:embed="rId3"/>
          <a:srcRect/>
          <a:stretch/>
        </p:blipFill>
        <p:spPr>
          <a:xfrm>
            <a:off x="1032933" y="2047218"/>
            <a:ext cx="1905000" cy="825500"/>
          </a:xfrm>
          <a:prstGeom prst="rect">
            <a:avLst/>
          </a:prstGeom>
        </p:spPr>
      </p:pic>
      <p:sp>
        <p:nvSpPr>
          <p:cNvPr id="7" name="Text 4"/>
          <p:cNvSpPr/>
          <p:nvPr/>
        </p:nvSpPr>
        <p:spPr>
          <a:xfrm>
            <a:off x="1032933" y="2974318"/>
            <a:ext cx="4870492" cy="901700"/>
          </a:xfrm>
          <a:prstGeom prst="rect">
            <a:avLst/>
          </a:prstGeom>
          <a:noFill/>
          <a:ln/>
        </p:spPr>
        <p:txBody>
          <a:bodyPr wrap="square" lIns="0" tIns="0" rIns="0" bIns="0" rtlCol="0" anchor="t">
            <a:normAutofit/>
          </a:bodyPr>
          <a:lstStyle/>
          <a:p>
            <a:pPr marL="0" indent="0" algn="l">
              <a:lnSpc>
                <a:spcPts val="1725"/>
              </a:lnSpc>
              <a:buNone/>
            </a:pPr>
            <a:r>
              <a:rPr lang="en-US" sz="1350" dirty="0" b="0">
                <a:solidFill>
                  <a:srgbClr val="9FB2CC"/>
                </a:solidFill>
                <a:latin typeface="IBM Plex Sans" pitchFamily="34" charset="0"/>
                <a:ea typeface="IBM Plex Sans" pitchFamily="34" charset="-122"/>
                <a:cs typeface="IBM Plex Sans" pitchFamily="34" charset="-120"/>
              </a:rPr>
              <a:t>~16,800 active satellites (11,100 of them Starlink). Starlink alone made </a:t>
            </a:r>
            <a:r>
              <a:rPr lang="en-US" sz="1350" b="1" dirty="0">
                <a:solidFill>
                  <a:srgbClr val="9FB2CC"/>
                </a:solidFill>
                <a:latin typeface="IBM Plex Sans" pitchFamily="34" charset="0"/>
                <a:ea typeface="IBM Plex Sans" pitchFamily="34" charset="-122"/>
                <a:cs typeface="IBM Plex Sans" pitchFamily="34" charset="-120"/>
              </a:rPr>
              <a:t>~207,000 collision-avoidance manoeuvres</a:t>
            </a:r>
            <a:r>
              <a:rPr lang="en-US" sz="1350" dirty="0" b="0">
                <a:solidFill>
                  <a:srgbClr val="9FB2CC"/>
                </a:solidFill>
                <a:latin typeface="IBM Plex Sans" pitchFamily="34" charset="0"/>
                <a:ea typeface="IBM Plex Sans" pitchFamily="34" charset="-122"/>
                <a:cs typeface="IBM Plex Sans" pitchFamily="34" charset="-120"/>
              </a:rPr>
              <a:t> in six months (Dec 2025 – May 2026) — and there is still no international traffic-management authority.</a:t>
            </a:r>
            <a:endParaRPr lang="en-US" sz="1250" dirty="0"/>
          </a:p>
        </p:txBody>
      </p:sp>
      <p:sp>
        <p:nvSpPr>
          <p:cNvPr id="8" name="Shape 5"/>
          <p:cNvSpPr/>
          <p:nvPr/>
        </p:nvSpPr>
        <p:spPr>
          <a:xfrm>
            <a:off x="6213475" y="1484846"/>
            <a:ext cx="5162550" cy="2582730"/>
          </a:xfrm>
          <a:prstGeom prst="roundRect">
            <a:avLst>
              <a:gd name="adj" fmla="val 3811"/>
            </a:avLst>
          </a:prstGeom>
          <a:solidFill>
            <a:srgbClr val="0D1420"/>
          </a:solidFill>
          <a:ln w="6350">
            <a:solidFill>
              <a:srgbClr val="2A3A52"/>
            </a:solidFill>
            <a:prstDash val="solid"/>
          </a:ln>
        </p:spPr>
        <p:txBody>
          <a:bodyPr/>
          <a:lstStyle/>
          <a:p>
            <a:endParaRPr lang="en-CH"/>
          </a:p>
        </p:txBody>
      </p:sp>
      <p:sp>
        <p:nvSpPr>
          <p:cNvPr id="9" name="Text 6"/>
          <p:cNvSpPr/>
          <p:nvPr/>
        </p:nvSpPr>
        <p:spPr>
          <a:xfrm>
            <a:off x="6430433" y="1701800"/>
            <a:ext cx="4870492"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E7EEF8"/>
                </a:solidFill>
                <a:latin typeface="IBM Plex Sans" pitchFamily="34" charset="0"/>
                <a:ea typeface="IBM Plex Sans" pitchFamily="34" charset="-122"/>
                <a:cs typeface="IBM Plex Sans" pitchFamily="34" charset="-120"/>
              </a:rPr>
              <a:t>Ahead — systemic</a:t>
            </a:r>
            <a:endParaRPr lang="en-US" sz="1600" dirty="0"/>
          </a:p>
        </p:txBody>
      </p:sp>
      <p:sp>
        <p:nvSpPr>
          <p:cNvPr id="10" name="Text 7"/>
          <p:cNvSpPr/>
          <p:nvPr/>
        </p:nvSpPr>
        <p:spPr>
          <a:xfrm>
            <a:off x="6430433" y="2047218"/>
            <a:ext cx="4870492" cy="355600"/>
          </a:xfrm>
          <a:prstGeom prst="rect">
            <a:avLst/>
          </a:prstGeom>
          <a:noFill/>
          <a:ln/>
        </p:spPr>
        <p:txBody>
          <a:bodyPr wrap="square" lIns="0" tIns="0" rIns="0" bIns="0" rtlCol="0" anchor="t">
            <a:normAutofit/>
          </a:bodyPr>
          <a:lstStyle/>
          <a:p>
            <a:pPr marL="0" indent="0" algn="l">
              <a:lnSpc>
                <a:spcPts val="2600"/>
              </a:lnSpc>
              <a:buNone/>
            </a:pPr>
            <a:r>
              <a:rPr lang="en-US" sz="2600" b="1" dirty="0">
                <a:solidFill>
                  <a:srgbClr val="FF5A52"/>
                </a:solidFill>
                <a:latin typeface="IBM Plex Sans" pitchFamily="34" charset="0"/>
                <a:ea typeface="IBM Plex Sans" pitchFamily="34" charset="-122"/>
                <a:cs typeface="IBM Plex Sans" pitchFamily="34" charset="-120"/>
              </a:rPr>
              <a:t>1,000,000+</a:t>
            </a:r>
            <a:endParaRPr lang="en-US" sz="2600" dirty="0"/>
          </a:p>
        </p:txBody>
      </p:sp>
      <p:sp>
        <p:nvSpPr>
          <p:cNvPr id="11" name="Text 8"/>
          <p:cNvSpPr/>
          <p:nvPr/>
        </p:nvSpPr>
        <p:spPr>
          <a:xfrm>
            <a:off x="6430433" y="2479018"/>
            <a:ext cx="4870492" cy="682625"/>
          </a:xfrm>
          <a:prstGeom prst="rect">
            <a:avLst/>
          </a:prstGeom>
          <a:noFill/>
          <a:ln/>
        </p:spPr>
        <p:txBody>
          <a:bodyPr wrap="square" lIns="0" tIns="0" rIns="0" bIns="0" rtlCol="0" anchor="t">
            <a:normAutofit/>
          </a:bodyPr>
          <a:lstStyle/>
          <a:p>
            <a:pPr marL="0" indent="0" algn="l">
              <a:lnSpc>
                <a:spcPts val="1725"/>
              </a:lnSpc>
              <a:buNone/>
            </a:pPr>
            <a:r>
              <a:rPr lang="en-US" sz="1350" dirty="0" b="0">
                <a:solidFill>
                  <a:srgbClr val="9FB2CC"/>
                </a:solidFill>
                <a:latin typeface="IBM Plex Sans" pitchFamily="34" charset="0"/>
                <a:ea typeface="IBM Plex Sans" pitchFamily="34" charset="-122"/>
                <a:cs typeface="IBM Plex Sans" pitchFamily="34" charset="-120"/>
              </a:rPr>
              <a:t>satellites filed with regulators — SpaceX up to 1M, China ~200k, mostly on paper. The Kessler risk = </a:t>
            </a:r>
            <a:r>
              <a:rPr lang="en-US" sz="1350" b="1" dirty="0">
                <a:solidFill>
                  <a:srgbClr val="9FB2CC"/>
                </a:solidFill>
                <a:latin typeface="IBM Plex Sans" pitchFamily="34" charset="0"/>
                <a:ea typeface="IBM Plex Sans" pitchFamily="34" charset="-122"/>
                <a:cs typeface="IBM Plex Sans" pitchFamily="34" charset="-120"/>
              </a:rPr>
              <a:t>scale × altitude × disposal compliance</a:t>
            </a:r>
            <a:r>
              <a:rPr lang="en-US" sz="1350" dirty="0" b="0">
                <a:solidFill>
                  <a:srgbClr val="9FB2CC"/>
                </a:solidFill>
                <a:latin typeface="IBM Plex Sans" pitchFamily="34" charset="0"/>
                <a:ea typeface="IBM Plex Sans" pitchFamily="34" charset="-122"/>
                <a:cs typeface="IBM Plex Sans" pitchFamily="34" charset="-120"/>
              </a:rPr>
              <a:t>.</a:t>
            </a:r>
            <a:endParaRPr lang="en-US" sz="1250" dirty="0"/>
          </a:p>
        </p:txBody>
      </p:sp>
      <p:sp>
        <p:nvSpPr>
          <p:cNvPr id="12" name="Shape 9"/>
          <p:cNvSpPr/>
          <p:nvPr/>
        </p:nvSpPr>
        <p:spPr>
          <a:xfrm>
            <a:off x="815975" y="4264422"/>
            <a:ext cx="10560050" cy="830130"/>
          </a:xfrm>
          <a:prstGeom prst="roundRect">
            <a:avLst>
              <a:gd name="adj" fmla="val 10327"/>
            </a:avLst>
          </a:prstGeom>
          <a:solidFill>
            <a:srgbClr val="0A1626"/>
          </a:solidFill>
          <a:ln w="6350">
            <a:solidFill>
              <a:srgbClr val="2A3A52"/>
            </a:solidFill>
            <a:prstDash val="solid"/>
          </a:ln>
        </p:spPr>
        <p:txBody>
          <a:bodyPr/>
          <a:lstStyle/>
          <a:p>
            <a:endParaRPr lang="en-CH"/>
          </a:p>
        </p:txBody>
      </p:sp>
      <p:sp>
        <p:nvSpPr>
          <p:cNvPr id="13" name="Text 10"/>
          <p:cNvSpPr/>
          <p:nvPr/>
        </p:nvSpPr>
        <p:spPr>
          <a:xfrm>
            <a:off x="1032933" y="4430588"/>
            <a:ext cx="10429918" cy="52321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E7EEF8"/>
                </a:solidFill>
                <a:latin typeface="IBM Plex Sans" pitchFamily="34" charset="0"/>
                <a:ea typeface="IBM Plex Sans" pitchFamily="34" charset="-122"/>
                <a:cs typeface="IBM Plex Sans" pitchFamily="34" charset="-120"/>
              </a:rPr>
              <a:t>Same split as everything else: at </a:t>
            </a:r>
            <a:r>
              <a:rPr lang="en-US" sz="1400" b="1" dirty="0">
                <a:solidFill>
                  <a:srgbClr val="E7EEF8"/>
                </a:solidFill>
                <a:latin typeface="IBM Plex Sans" pitchFamily="34" charset="0"/>
                <a:ea typeface="IBM Plex Sans" pitchFamily="34" charset="-122"/>
                <a:cs typeface="IBM Plex Sans" pitchFamily="34" charset="-120"/>
              </a:rPr>
              <a:t>550 km</a:t>
            </a:r>
            <a:r>
              <a:rPr lang="en-US" sz="1400" dirty="0">
                <a:solidFill>
                  <a:srgbClr val="E7EEF8"/>
                </a:solidFill>
                <a:latin typeface="IBM Plex Sans" pitchFamily="34" charset="0"/>
                <a:ea typeface="IBM Plex Sans" pitchFamily="34" charset="-122"/>
                <a:cs typeface="IBM Plex Sans" pitchFamily="34" charset="-120"/>
              </a:rPr>
              <a:t> the giant fleets self-clean — a burden. At </a:t>
            </a:r>
            <a:r>
              <a:rPr lang="en-US" sz="1400" b="1" dirty="0">
                <a:solidFill>
                  <a:srgbClr val="E7EEF8"/>
                </a:solidFill>
                <a:latin typeface="IBM Plex Sans" pitchFamily="34" charset="0"/>
                <a:ea typeface="IBM Plex Sans" pitchFamily="34" charset="-122"/>
                <a:cs typeface="IBM Plex Sans" pitchFamily="34" charset="-120"/>
              </a:rPr>
              <a:t>1,000–1,200 km</a:t>
            </a:r>
            <a:r>
              <a:rPr lang="en-US" sz="1400" dirty="0">
                <a:solidFill>
                  <a:srgbClr val="E7EEF8"/>
                </a:solidFill>
                <a:latin typeface="IBM Plex Sans" pitchFamily="34" charset="0"/>
                <a:ea typeface="IBM Plex Sans" pitchFamily="34" charset="-122"/>
                <a:cs typeface="IBM Plex Sans" pitchFamily="34" charset="-120"/>
              </a:rPr>
              <a:t> that mass persists for centuries — the real systemic hazard.</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REMEDY</a:t>
            </a:r>
            <a:endParaRPr lang="en-US" sz="1200" dirty="0"/>
          </a:p>
        </p:txBody>
      </p:sp>
      <p:sp>
        <p:nvSpPr>
          <p:cNvPr id="3" name="Text 1"/>
          <p:cNvSpPr/>
          <p:nvPr/>
        </p:nvSpPr>
        <p:spPr>
          <a:xfrm>
            <a:off x="812800" y="975320"/>
            <a:ext cx="10883392" cy="404746"/>
          </a:xfrm>
          <a:prstGeom prst="rect">
            <a:avLst/>
          </a:prstGeom>
          <a:noFill/>
          <a:ln/>
        </p:spPr>
        <p:txBody>
          <a:bodyPr wrap="square" lIns="0" tIns="0" rIns="0" bIns="0" rtlCol="0" anchor="t">
            <a:normAutofit/>
          </a:bodyPr>
          <a:lstStyle/>
          <a:p>
            <a:pPr marL="0" indent="0" algn="l">
              <a:lnSpc>
                <a:spcPts val="2987"/>
              </a:lnSpc>
              <a:buNone/>
            </a:pPr>
            <a:r>
              <a:rPr lang="en-US" sz="2900" b="1" dirty="0">
                <a:solidFill>
                  <a:srgbClr val="E7EEF8"/>
                </a:solidFill>
                <a:latin typeface="IBM Plex Sans" pitchFamily="34" charset="0"/>
                <a:ea typeface="IBM Plex Sans" pitchFamily="34" charset="-122"/>
                <a:cs typeface="IBM Plex Sans" pitchFamily="34" charset="-120"/>
              </a:rPr>
              <a:t>Remove ~10 derelicts a year and the belt holds flat</a:t>
            </a:r>
            <a:endParaRPr lang="en-US" sz="2900" dirty="0"/>
          </a:p>
        </p:txBody>
      </p:sp>
      <p:sp>
        <p:nvSpPr>
          <p:cNvPr id="16" name="TextBox 15"/>
          <p:cNvSpPr txBox="1"/>
          <p:nvPr/>
        </p:nvSpPr>
        <p:spPr>
          <a:xfrm>
            <a:off x="813816" y="5120640"/>
            <a:ext cx="10570464" cy="1691640"/>
          </a:xfrm>
          <a:prstGeom prst="rect">
            <a:avLst/>
          </a:prstGeom>
          <a:noFill/>
        </p:spPr>
        <p:txBody>
          <a:bodyPr wrap="square" lIns="0" rIns="0" tIns="0" bIns="0">
            <a:spAutoFit/>
          </a:bodyPr>
          <a:lstStyle/>
          <a:p>
            <a:r>
              <a:rPr sz="1500" b="1">
                <a:solidFill>
                  <a:srgbClr val="39D98A"/>
                </a:solidFill>
                <a:latin typeface="IBM Plex Sans"/>
              </a:rPr>
              <a:t>Remedy = </a:t>
            </a:r>
            <a:r>
              <a:rPr sz="1500" b="1">
                <a:solidFill>
                  <a:srgbClr val="E7EEF8"/>
                </a:solidFill>
                <a:latin typeface="IBM Plex Sans"/>
              </a:rPr>
              <a:t>remove the riskiest derelicts, and make old stages safe.</a:t>
            </a:r>
          </a:p>
          <a:p>
            <a:pPr>
              <a:spcBef>
                <a:spcPts val="400"/>
              </a:spcBef>
            </a:pPr>
            <a:r>
              <a:rPr sz="1300">
                <a:solidFill>
                  <a:srgbClr val="B9C6D8"/>
                </a:solidFill>
                <a:latin typeface="IBM Plex Sans"/>
              </a:rPr>
              <a:t>Taking out the riskiest large objects each year — the heaviest, in the densest shells (NASA LEGEND's criterion) — bends the belt: ~10 a year holds its ≥10 cm population flat with nothing added, ~6 if old stages are also made safe so they can't explode (LEGEND: ~5). With 50 derelicts a year added it takes ~49. Cross-check at 10/yr: discrete ×1.07, cube ×1.02. The belt isn't doomed; it's a maintenance problem.</a:t>
            </a:r>
          </a:p>
        </p:txBody>
      </p:sp>
      <p:pic>
        <p:nvPicPr>
          <p:cNvPr id="17" name="Picture 16" descr="deck_removal.png"/>
          <p:cNvPicPr>
            <a:picLocks noChangeAspect="1"/>
          </p:cNvPicPr>
          <p:nvPr/>
        </p:nvPicPr>
        <p:blipFill>
          <a:blip r:embed="rId7"/>
          <a:stretch>
            <a:fillRect/>
          </a:stretch>
        </p:blipFill>
        <p:spPr>
          <a:xfrm>
            <a:off x="812800" y="1507071"/>
            <a:ext cx="10566400" cy="3556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0E2A4A"/>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0E2A4A"/>
              </a:gs>
              <a:gs pos="60000">
                <a:srgbClr val="08182B"/>
              </a:gs>
              <a:gs pos="100000">
                <a:srgbClr val="06080E"/>
              </a:gs>
            </a:gsLst>
            <a:lin ang="2700000" scaled="0"/>
          </a:gradFill>
          <a:ln/>
        </p:spPr>
        <p:txBody>
          <a:bodyPr/>
          <a:lstStyle/>
          <a:p>
            <a:endParaRPr lang="en-CH"/>
          </a:p>
        </p:txBody>
      </p:sp>
      <p:sp>
        <p:nvSpPr>
          <p:cNvPr id="3" name="Text 1"/>
          <p:cNvSpPr/>
          <p:nvPr/>
        </p:nvSpPr>
        <p:spPr>
          <a:xfrm>
            <a:off x="812800" y="1606686"/>
            <a:ext cx="10883392" cy="256514"/>
          </a:xfrm>
          <a:prstGeom prst="rect">
            <a:avLst/>
          </a:prstGeom>
          <a:noFill/>
          <a:ln/>
        </p:spPr>
        <p:txBody>
          <a:bodyPr wrap="square" lIns="0" tIns="0" rIns="0" bIns="0" rtlCol="0" anchor="t">
            <a:normAutofit/>
          </a:bodyPr>
          <a:lstStyle/>
          <a:p>
            <a:pPr marL="0" indent="0" algn="l">
              <a:lnSpc>
                <a:spcPts val="1820"/>
              </a:lnSpc>
              <a:buNone/>
            </a:pPr>
            <a:r>
              <a:rPr lang="en-US" sz="1300" kern="0" spc="300" dirty="0">
                <a:solidFill>
                  <a:srgbClr val="4DA6FF"/>
                </a:solidFill>
                <a:latin typeface="IBM Plex Mono" pitchFamily="34" charset="0"/>
                <a:ea typeface="IBM Plex Mono" pitchFamily="34" charset="-122"/>
                <a:cs typeface="IBM Plex Mono" pitchFamily="34" charset="-120"/>
              </a:rPr>
              <a:t>THE VERDICT</a:t>
            </a:r>
            <a:endParaRPr lang="en-US" sz="1300" dirty="0"/>
          </a:p>
        </p:txBody>
      </p:sp>
      <p:sp>
        <p:nvSpPr>
          <p:cNvPr id="4" name="Text 2"/>
          <p:cNvSpPr/>
          <p:nvPr/>
        </p:nvSpPr>
        <p:spPr>
          <a:xfrm>
            <a:off x="812800" y="2117204"/>
            <a:ext cx="10464800" cy="2204508"/>
          </a:xfrm>
          <a:prstGeom prst="rect">
            <a:avLst/>
          </a:prstGeom>
          <a:noFill/>
          <a:ln/>
        </p:spPr>
        <p:txBody>
          <a:bodyPr wrap="square" lIns="0" tIns="0" rIns="0" bIns="0" rtlCol="0" anchor="t">
            <a:normAutofit/>
          </a:bodyPr>
          <a:lstStyle/>
          <a:p>
            <a:pPr marL="0" indent="0" algn="l">
              <a:lnSpc>
                <a:spcPts val="4290"/>
              </a:lnSpc>
              <a:buNone/>
            </a:pPr>
            <a:r>
              <a:rPr lang="en-US" sz="3900" b="1" dirty="0">
                <a:solidFill>
                  <a:srgbClr val="E7EEF8"/>
                </a:solidFill>
                <a:latin typeface="IBM Plex Sans" pitchFamily="34" charset="0"/>
                <a:ea typeface="IBM Plex Sans" pitchFamily="34" charset="-122"/>
                <a:cs typeface="IBM Plex Sans" pitchFamily="34" charset="-120"/>
              </a:rPr>
              <a:t>A barrel of nails is a mission-kill weapon and a decades-long high-altitude nuisance — but it </a:t>
            </a:r>
            <a:r>
              <a:rPr lang="en-US" sz="3900" b="1" dirty="0">
                <a:solidFill>
                  <a:srgbClr val="FFCF5C"/>
                </a:solidFill>
                <a:latin typeface="IBM Plex Sans" pitchFamily="34" charset="0"/>
                <a:ea typeface="IBM Plex Sans" pitchFamily="34" charset="-122"/>
                <a:cs typeface="IBM Plex Sans" pitchFamily="34" charset="-120"/>
              </a:rPr>
              <a:t>neither triggers Kessler nor ends LEO.</a:t>
            </a:r>
            <a:endParaRPr lang="en-US" sz="3900" dirty="0"/>
          </a:p>
        </p:txBody>
      </p:sp>
      <p:sp>
        <p:nvSpPr>
          <p:cNvPr id="5" name="Text 3"/>
          <p:cNvSpPr/>
          <p:nvPr/>
        </p:nvSpPr>
        <p:spPr>
          <a:xfrm>
            <a:off x="812800" y="4575708"/>
            <a:ext cx="9810750" cy="701014"/>
          </a:xfrm>
          <a:prstGeom prst="rect">
            <a:avLst/>
          </a:prstGeom>
          <a:noFill/>
          <a:ln/>
        </p:spPr>
        <p:txBody>
          <a:bodyPr wrap="square" lIns="0" tIns="0" rIns="0" bIns="0" rtlCol="0" anchor="t">
            <a:normAutofit/>
          </a:bodyPr>
          <a:lstStyle/>
          <a:p>
            <a:pPr marL="0" indent="0" algn="l">
              <a:lnSpc>
                <a:spcPts val="2660"/>
              </a:lnSpc>
              <a:buNone/>
            </a:pPr>
            <a:r>
              <a:rPr lang="en-US" sz="1900" dirty="0">
                <a:solidFill>
                  <a:srgbClr val="BFD8D5"/>
                </a:solidFill>
                <a:latin typeface="IBM Plex Sans" pitchFamily="34" charset="0"/>
                <a:ea typeface="IBM Plex Sans" pitchFamily="34" charset="-122"/>
                <a:cs typeface="IBM Plex Sans" pitchFamily="34" charset="-120"/>
              </a:rPr>
              <a:t>The 700–1,100 km belt already grows on its own. Launch and removal policy decide its fate — and against that, a barrel of nails is a rounding error.</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HONEST ABOUT ITSELF</a:t>
            </a:r>
            <a:endParaRPr lang="en-US" sz="1200" dirty="0"/>
          </a:p>
        </p:txBody>
      </p:sp>
      <p:sp>
        <p:nvSpPr>
          <p:cNvPr id="3" name="Text 1"/>
          <p:cNvSpPr/>
          <p:nvPr/>
        </p:nvSpPr>
        <p:spPr>
          <a:xfrm>
            <a:off x="812800" y="975320"/>
            <a:ext cx="10883392" cy="417777"/>
          </a:xfrm>
          <a:prstGeom prst="rect">
            <a:avLst/>
          </a:prstGeom>
          <a:noFill/>
          <a:ln/>
        </p:spPr>
        <p:txBody>
          <a:bodyPr wrap="square" lIns="0" tIns="0" rIns="0" bIns="0" rtlCol="0" anchor="t">
            <a:normAutofit/>
          </a:bodyPr>
          <a:lstStyle/>
          <a:p>
            <a:pPr marL="0" indent="0" algn="l">
              <a:lnSpc>
                <a:spcPts val="3090"/>
              </a:lnSpc>
              <a:buNone/>
            </a:pPr>
            <a:r>
              <a:rPr lang="en-US" sz="3000" b="1" dirty="0">
                <a:solidFill>
                  <a:srgbClr val="E7EEF8"/>
                </a:solidFill>
                <a:latin typeface="IBM Plex Sans" pitchFamily="34" charset="0"/>
                <a:ea typeface="IBM Plex Sans" pitchFamily="34" charset="-122"/>
                <a:cs typeface="IBM Plex Sans" pitchFamily="34" charset="-120"/>
              </a:rPr>
              <a:t>What the model can and can't say</a:t>
            </a:r>
            <a:endParaRPr lang="en-US" sz="3000" dirty="0"/>
          </a:p>
        </p:txBody>
      </p:sp>
      <p:sp>
        <p:nvSpPr>
          <p:cNvPr id="4" name="Shape 2"/>
          <p:cNvSpPr/>
          <p:nvPr/>
        </p:nvSpPr>
        <p:spPr>
          <a:xfrm>
            <a:off x="815975" y="1599481"/>
            <a:ext cx="3380317" cy="2389584"/>
          </a:xfrm>
          <a:prstGeom prst="roundRect">
            <a:avLst>
              <a:gd name="adj" fmla="val 4119"/>
            </a:avLst>
          </a:prstGeom>
          <a:solidFill>
            <a:srgbClr val="06080E"/>
          </a:solidFill>
          <a:ln w="6350">
            <a:solidFill>
              <a:srgbClr val="2A3A52"/>
            </a:solidFill>
            <a:prstDash val="solid"/>
          </a:ln>
        </p:spPr>
        <p:txBody>
          <a:bodyPr/>
          <a:lstStyle/>
          <a:p>
            <a:endParaRPr lang="en-CH"/>
          </a:p>
        </p:txBody>
      </p:sp>
      <p:pic>
        <p:nvPicPr>
          <p:cNvPr id="5" name="Image 0" descr="Check"/>
          <p:cNvPicPr>
            <a:picLocks noChangeAspect="1"/>
          </p:cNvPicPr>
          <p:nvPr/>
        </p:nvPicPr>
        <p:blipFill>
          <a:blip r:embed="rId3"/>
          <a:srcRect/>
          <a:stretch/>
        </p:blipFill>
        <p:spPr>
          <a:xfrm>
            <a:off x="1071033" y="1854535"/>
            <a:ext cx="292100" cy="292100"/>
          </a:xfrm>
          <a:prstGeom prst="rect">
            <a:avLst/>
          </a:prstGeom>
        </p:spPr>
      </p:pic>
      <p:sp>
        <p:nvSpPr>
          <p:cNvPr id="6" name="Text 3"/>
          <p:cNvSpPr/>
          <p:nvPr/>
        </p:nvSpPr>
        <p:spPr>
          <a:xfrm>
            <a:off x="1071033" y="2248235"/>
            <a:ext cx="2956306"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Three engines agree</a:t>
            </a:r>
            <a:endParaRPr lang="en-US" sz="1500" dirty="0"/>
          </a:p>
        </p:txBody>
      </p:sp>
      <p:sp>
        <p:nvSpPr>
          <p:cNvPr id="7" name="Text 4"/>
          <p:cNvSpPr/>
          <p:nvPr/>
        </p:nvSpPr>
        <p:spPr>
          <a:xfrm>
            <a:off x="1071033" y="2578435"/>
            <a:ext cx="2956306" cy="1180968"/>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9FB2CC"/>
                </a:solidFill>
                <a:latin typeface="IBM Plex Sans" pitchFamily="34" charset="0"/>
                <a:ea typeface="IBM Plex Sans" pitchFamily="34" charset="-122"/>
                <a:cs typeface="IBM Plex Sans" pitchFamily="34" charset="-120"/>
              </a:rPr>
              <a:t>With nothing added, the belt's ≥10 cm population grows in all three: box ×1.36, discrete ×1.21, cube ×1.18. On real orbit geometry, box and cube agree on collision rates within ~5%.</a:t>
            </a:r>
            <a:r>
              <a:rPr lang="en-US" sz="1300" b="1" dirty="0">
                <a:solidFill>
                  <a:srgbClr val="9FB2CC"/>
                </a:solidFill>
                <a:latin typeface="IBM Plex Sans" pitchFamily="34" charset="0"/>
                <a:ea typeface="IBM Plex Sans" pitchFamily="34" charset="-122"/>
                <a:cs typeface="IBM Plex Sans" pitchFamily="34" charset="-120"/>
              </a:rPr>
              <a:t/>
            </a:r>
            <a:r>
              <a:rPr lang="en-US" sz="1300" dirty="0">
                <a:solidFill>
                  <a:srgbClr val="9FB2CC"/>
                </a:solidFill>
                <a:latin typeface="IBM Plex Sans" pitchFamily="34" charset="0"/>
                <a:ea typeface="IBM Plex Sans" pitchFamily="34" charset="-122"/>
                <a:cs typeface="IBM Plex Sans" pitchFamily="34" charset="-120"/>
              </a:rPr>
              <a:t/>
            </a:r>
            <a:endParaRPr lang="en-US" sz="1300" dirty="0"/>
          </a:p>
        </p:txBody>
      </p:sp>
      <p:sp>
        <p:nvSpPr>
          <p:cNvPr id="8" name="Shape 5"/>
          <p:cNvSpPr/>
          <p:nvPr/>
        </p:nvSpPr>
        <p:spPr>
          <a:xfrm>
            <a:off x="4405842" y="1599481"/>
            <a:ext cx="3380317" cy="2389584"/>
          </a:xfrm>
          <a:prstGeom prst="roundRect">
            <a:avLst>
              <a:gd name="adj" fmla="val 4119"/>
            </a:avLst>
          </a:prstGeom>
          <a:solidFill>
            <a:srgbClr val="06080E"/>
          </a:solidFill>
          <a:ln w="6350">
            <a:solidFill>
              <a:srgbClr val="2A3A52"/>
            </a:solidFill>
            <a:prstDash val="solid"/>
          </a:ln>
        </p:spPr>
        <p:txBody>
          <a:bodyPr/>
          <a:lstStyle/>
          <a:p>
            <a:endParaRPr lang="en-CH"/>
          </a:p>
        </p:txBody>
      </p:sp>
      <p:pic>
        <p:nvPicPr>
          <p:cNvPr id="9" name="Image 1" descr="Search"/>
          <p:cNvPicPr>
            <a:picLocks noChangeAspect="1"/>
          </p:cNvPicPr>
          <p:nvPr/>
        </p:nvPicPr>
        <p:blipFill>
          <a:blip r:embed="rId4"/>
          <a:srcRect/>
          <a:stretch/>
        </p:blipFill>
        <p:spPr>
          <a:xfrm>
            <a:off x="4660900" y="1854535"/>
            <a:ext cx="292100" cy="292100"/>
          </a:xfrm>
          <a:prstGeom prst="rect">
            <a:avLst/>
          </a:prstGeom>
        </p:spPr>
      </p:pic>
      <p:sp>
        <p:nvSpPr>
          <p:cNvPr id="10" name="Text 6"/>
          <p:cNvSpPr/>
          <p:nvPr/>
        </p:nvSpPr>
        <p:spPr>
          <a:xfrm>
            <a:off x="4660900" y="2248235"/>
            <a:ext cx="2956306"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Main uncertainties</a:t>
            </a:r>
            <a:endParaRPr lang="en-US" sz="1500" dirty="0"/>
          </a:p>
        </p:txBody>
      </p:sp>
      <p:sp>
        <p:nvSpPr>
          <p:cNvPr id="11" name="Text 7"/>
          <p:cNvSpPr/>
          <p:nvPr/>
        </p:nvSpPr>
        <p:spPr>
          <a:xfrm>
            <a:off x="4660900" y="2578435"/>
            <a:ext cx="2956306" cy="94985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9FB2CC"/>
                </a:solidFill>
                <a:latin typeface="IBM Plex Sans" pitchFamily="34" charset="0"/>
                <a:ea typeface="IBM Plex Sans" pitchFamily="34" charset="-122"/>
                <a:cs typeface="IBM Plex Sans" pitchFamily="34" charset="-120"/>
              </a:rPr>
              <a:t>Explosions set the no-launch baseline: belt ×1.15 without them, ×2.1 if all were big stage blasts. Small impacts' cratering changes 1–10 cm results 2–3×, not the ≥10 cm belt.</a:t>
            </a:r>
            <a:r>
              <a:rPr lang="en-US" sz="1300" b="1" dirty="0">
                <a:solidFill>
                  <a:srgbClr val="9FB2CC"/>
                </a:solidFill>
                <a:latin typeface="IBM Plex Sans" pitchFamily="34" charset="0"/>
                <a:ea typeface="IBM Plex Sans" pitchFamily="34" charset="-122"/>
                <a:cs typeface="IBM Plex Sans" pitchFamily="34" charset="-120"/>
              </a:rPr>
              <a:t/>
            </a:r>
            <a:r>
              <a:rPr lang="en-US" sz="1300" dirty="0">
                <a:solidFill>
                  <a:srgbClr val="9FB2CC"/>
                </a:solidFill>
                <a:latin typeface="IBM Plex Sans" pitchFamily="34" charset="0"/>
                <a:ea typeface="IBM Plex Sans" pitchFamily="34" charset="-122"/>
                <a:cs typeface="IBM Plex Sans" pitchFamily="34" charset="-120"/>
              </a:rPr>
              <a:t/>
            </a:r>
            <a:endParaRPr lang="en-US" sz="1300" dirty="0"/>
          </a:p>
        </p:txBody>
      </p:sp>
      <p:sp>
        <p:nvSpPr>
          <p:cNvPr id="12" name="Shape 8"/>
          <p:cNvSpPr/>
          <p:nvPr/>
        </p:nvSpPr>
        <p:spPr>
          <a:xfrm>
            <a:off x="7995709" y="1599481"/>
            <a:ext cx="3380317" cy="2389584"/>
          </a:xfrm>
          <a:prstGeom prst="roundRect">
            <a:avLst>
              <a:gd name="adj" fmla="val 4119"/>
            </a:avLst>
          </a:prstGeom>
          <a:solidFill>
            <a:srgbClr val="06080E"/>
          </a:solidFill>
          <a:ln w="6350">
            <a:solidFill>
              <a:srgbClr val="2A3A52"/>
            </a:solidFill>
            <a:prstDash val="solid"/>
          </a:ln>
        </p:spPr>
        <p:txBody>
          <a:bodyPr/>
          <a:lstStyle/>
          <a:p>
            <a:endParaRPr lang="en-CH"/>
          </a:p>
        </p:txBody>
      </p:sp>
      <p:pic>
        <p:nvPicPr>
          <p:cNvPr id="13" name="Image 2" descr="Verified"/>
          <p:cNvPicPr>
            <a:picLocks noChangeAspect="1"/>
          </p:cNvPicPr>
          <p:nvPr/>
        </p:nvPicPr>
        <p:blipFill>
          <a:blip r:embed="rId5"/>
          <a:srcRect/>
          <a:stretch/>
        </p:blipFill>
        <p:spPr>
          <a:xfrm>
            <a:off x="8250767" y="1854535"/>
            <a:ext cx="292100" cy="292100"/>
          </a:xfrm>
          <a:prstGeom prst="rect">
            <a:avLst/>
          </a:prstGeom>
        </p:spPr>
      </p:pic>
      <p:sp>
        <p:nvSpPr>
          <p:cNvPr id="14" name="Text 9"/>
          <p:cNvSpPr/>
          <p:nvPr/>
        </p:nvSpPr>
        <p:spPr>
          <a:xfrm>
            <a:off x="8250767" y="2248235"/>
            <a:ext cx="2956306"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Not modelled</a:t>
            </a:r>
            <a:endParaRPr lang="en-US" sz="1500" dirty="0"/>
          </a:p>
        </p:txBody>
      </p:sp>
      <p:sp>
        <p:nvSpPr>
          <p:cNvPr id="15" name="Text 10"/>
          <p:cNvSpPr/>
          <p:nvPr/>
        </p:nvSpPr>
        <p:spPr>
          <a:xfrm>
            <a:off x="8250767" y="2578435"/>
            <a:ext cx="2956306" cy="718741"/>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9FB2CC"/>
                </a:solidFill>
                <a:latin typeface="IBM Plex Sans" pitchFamily="34" charset="0"/>
                <a:ea typeface="IBM Plex Sans" pitchFamily="34" charset="-122"/>
                <a:cs typeface="IBM Plex Sans" pitchFamily="34" charset="-120"/>
              </a:rPr>
              <a:t>Degradation debris, the solar cycle, and any manoeuvring or deorbiting by added objects (each stays a derelict). Explosions: ~4 a year assumed. Order-of-magnitude, not forecasts.</a:t>
            </a:r>
            <a:r>
              <a:rPr lang="en-US" sz="1300" b="1" dirty="0">
                <a:solidFill>
                  <a:srgbClr val="9FB2CC"/>
                </a:solidFill>
                <a:latin typeface="IBM Plex Sans" pitchFamily="34" charset="0"/>
                <a:ea typeface="IBM Plex Sans" pitchFamily="34" charset="-122"/>
                <a:cs typeface="IBM Plex Sans" pitchFamily="34" charset="-120"/>
              </a:rPr>
              <a:t/>
            </a:r>
            <a:r>
              <a:rPr lang="en-US" sz="1300" dirty="0">
                <a:solidFill>
                  <a:srgbClr val="9FB2CC"/>
                </a:solidFill>
                <a:latin typeface="IBM Plex Sans" pitchFamily="34" charset="0"/>
                <a:ea typeface="IBM Plex Sans" pitchFamily="34" charset="-122"/>
                <a:cs typeface="IBM Plex Sans" pitchFamily="34" charset="-120"/>
              </a:rPr>
              <a:t/>
            </a:r>
            <a:endParaRPr lang="en-US" sz="1300" dirty="0"/>
          </a:p>
        </p:txBody>
      </p:sp>
      <p:sp>
        <p:nvSpPr>
          <p:cNvPr id="16" name="Text 11"/>
          <p:cNvSpPr/>
          <p:nvPr/>
        </p:nvSpPr>
        <p:spPr>
          <a:xfrm>
            <a:off x="812800" y="6238280"/>
            <a:ext cx="6969585" cy="238720"/>
          </a:xfrm>
          <a:prstGeom prst="rect">
            <a:avLst/>
          </a:prstGeom>
          <a:noFill/>
          <a:ln/>
        </p:spPr>
        <p:txBody>
          <a:bodyPr wrap="square" lIns="0" tIns="0" rIns="0" bIns="0" rtlCol="0" anchor="t">
            <a:normAutofit/>
          </a:bodyPr>
          <a:lstStyle/>
          <a:p>
            <a:pPr marL="0" indent="0" algn="l">
              <a:lnSpc>
                <a:spcPts val="1680"/>
              </a:lnSpc>
              <a:buNone/>
            </a:pPr>
            <a:r>
              <a:rPr lang="en-US" sz="1200" dirty="0" err="1">
                <a:solidFill>
                  <a:srgbClr val="647A99"/>
                </a:solidFill>
                <a:latin typeface="IBM Plex Mono" pitchFamily="34" charset="0"/>
                <a:ea typeface="IBM Plex Mono" pitchFamily="34" charset="-122"/>
                <a:cs typeface="IBM Plex Mono" pitchFamily="34" charset="-120"/>
              </a:rPr>
              <a:t>CelesTrak</a:t>
            </a:r>
            <a:r>
              <a:rPr lang="en-US" sz="1200" dirty="0">
                <a:solidFill>
                  <a:srgbClr val="647A99"/>
                </a:solidFill>
                <a:latin typeface="IBM Plex Mono" pitchFamily="34" charset="0"/>
                <a:ea typeface="IBM Plex Mono" pitchFamily="34" charset="-122"/>
                <a:cs typeface="IBM Plex Mono" pitchFamily="34" charset="-120"/>
              </a:rPr>
              <a:t> + Space-Track · NASA breakup model · RTX 5090 / CUDA</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SOURCES &amp; REFERENCES</a:t>
            </a:r>
            <a:endParaRPr lang="en-US" sz="1200" dirty="0"/>
          </a:p>
        </p:txBody>
      </p:sp>
      <p:sp>
        <p:nvSpPr>
          <p:cNvPr id="3" name="Text 1"/>
          <p:cNvSpPr/>
          <p:nvPr/>
        </p:nvSpPr>
        <p:spPr>
          <a:xfrm>
            <a:off x="812800" y="873720"/>
            <a:ext cx="10883392" cy="375113"/>
          </a:xfrm>
          <a:prstGeom prst="rect">
            <a:avLst/>
          </a:prstGeom>
          <a:noFill/>
          <a:ln/>
        </p:spPr>
        <p:txBody>
          <a:bodyPr wrap="square" lIns="0" tIns="0" rIns="0" bIns="0" rtlCol="0" anchor="t">
            <a:normAutofit/>
          </a:bodyPr>
          <a:lstStyle/>
          <a:p>
            <a:pPr marL="0" indent="0" algn="l">
              <a:lnSpc>
                <a:spcPts val="2754"/>
              </a:lnSpc>
              <a:buNone/>
            </a:pPr>
            <a:r>
              <a:rPr lang="en-US" sz="2700" b="1" dirty="0">
                <a:solidFill>
                  <a:srgbClr val="E7EEF8"/>
                </a:solidFill>
                <a:latin typeface="IBM Plex Sans" pitchFamily="34" charset="0"/>
                <a:ea typeface="IBM Plex Sans" pitchFamily="34" charset="-122"/>
                <a:cs typeface="IBM Plex Sans" pitchFamily="34" charset="-120"/>
              </a:rPr>
              <a:t>Data, models, and literature</a:t>
            </a:r>
            <a:endParaRPr lang="en-US" sz="2700" dirty="0"/>
          </a:p>
        </p:txBody>
      </p:sp>
      <p:sp>
        <p:nvSpPr>
          <p:cNvPr id="4" name="Text 2"/>
          <p:cNvSpPr/>
          <p:nvPr/>
        </p:nvSpPr>
        <p:spPr>
          <a:xfrm>
            <a:off x="812800" y="1388542"/>
            <a:ext cx="5441696" cy="231114"/>
          </a:xfrm>
          <a:prstGeom prst="rect">
            <a:avLst/>
          </a:prstGeom>
          <a:noFill/>
          <a:ln/>
        </p:spPr>
        <p:txBody>
          <a:bodyPr wrap="square" lIns="0" tIns="0" rIns="0" bIns="0" rtlCol="0" anchor="t">
            <a:normAutofit/>
          </a:bodyPr>
          <a:lstStyle/>
          <a:p>
            <a:pPr marL="0" indent="0" algn="l">
              <a:lnSpc>
                <a:spcPts val="1620"/>
              </a:lnSpc>
              <a:buNone/>
            </a:pPr>
            <a:r>
              <a:rPr lang="en-US" sz="1350" b="1" dirty="0">
                <a:solidFill>
                  <a:srgbClr val="4DA6FF"/>
                </a:solidFill>
                <a:latin typeface="IBM Plex Sans" pitchFamily="34" charset="0"/>
                <a:ea typeface="IBM Plex Sans" pitchFamily="34" charset="-122"/>
                <a:cs typeface="IBM Plex Sans" pitchFamily="34" charset="-120"/>
              </a:rPr>
              <a:t>Catalog data</a:t>
            </a:r>
            <a:endParaRPr lang="en-US" sz="1350" dirty="0"/>
          </a:p>
        </p:txBody>
      </p:sp>
      <p:sp>
        <p:nvSpPr>
          <p:cNvPr id="5" name="Text 3"/>
          <p:cNvSpPr/>
          <p:nvPr/>
        </p:nvSpPr>
        <p:spPr>
          <a:xfrm>
            <a:off x="812800" y="1657747"/>
            <a:ext cx="5441696" cy="452041"/>
          </a:xfrm>
          <a:prstGeom prst="rect">
            <a:avLst/>
          </a:prstGeom>
          <a:noFill/>
          <a:ln/>
        </p:spPr>
        <p:txBody>
          <a:bodyPr wrap="square" lIns="0" tIns="0" rIns="0" bIns="0" rtlCol="0" anchor="t">
            <a:normAutofit/>
          </a:bodyPr>
          <a:lstStyle/>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Space-Track.org — full on-orbit GP catalog &amp; SATCAT (RCS)</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CelesTrak — GP / TLE catalog &amp; SATCAT</a:t>
            </a:r>
            <a:endParaRPr lang="en-US" sz="1200" dirty="0"/>
          </a:p>
        </p:txBody>
      </p:sp>
      <p:sp>
        <p:nvSpPr>
          <p:cNvPr id="6" name="Text 4"/>
          <p:cNvSpPr/>
          <p:nvPr/>
        </p:nvSpPr>
        <p:spPr>
          <a:xfrm>
            <a:off x="6096000" y="1388542"/>
            <a:ext cx="5441696" cy="231114"/>
          </a:xfrm>
          <a:prstGeom prst="rect">
            <a:avLst/>
          </a:prstGeom>
          <a:noFill/>
          <a:ln/>
        </p:spPr>
        <p:txBody>
          <a:bodyPr wrap="square" lIns="0" tIns="0" rIns="0" bIns="0" rtlCol="0" anchor="t">
            <a:normAutofit/>
          </a:bodyPr>
          <a:lstStyle/>
          <a:p>
            <a:pPr marL="0" indent="0" algn="l">
              <a:lnSpc>
                <a:spcPts val="1620"/>
              </a:lnSpc>
              <a:buNone/>
            </a:pPr>
            <a:r>
              <a:rPr lang="en-US" sz="1350" b="1" dirty="0">
                <a:solidFill>
                  <a:srgbClr val="FFCF5C"/>
                </a:solidFill>
                <a:latin typeface="IBM Plex Sans" pitchFamily="34" charset="0"/>
                <a:ea typeface="IBM Plex Sans" pitchFamily="34" charset="-122"/>
                <a:cs typeface="IBM Plex Sans" pitchFamily="34" charset="-120"/>
              </a:rPr>
              <a:t>Models &amp; methods</a:t>
            </a:r>
            <a:endParaRPr lang="en-US" sz="1350" dirty="0"/>
          </a:p>
        </p:txBody>
      </p:sp>
      <p:sp>
        <p:nvSpPr>
          <p:cNvPr id="7" name="Text 5"/>
          <p:cNvSpPr/>
          <p:nvPr/>
        </p:nvSpPr>
        <p:spPr>
          <a:xfrm>
            <a:off x="6096000" y="1657747"/>
            <a:ext cx="5441696" cy="665361"/>
          </a:xfrm>
          <a:prstGeom prst="rect">
            <a:avLst/>
          </a:prstGeom>
          <a:noFill/>
          <a:ln/>
        </p:spPr>
        <p:txBody>
          <a:bodyPr wrap="square" lIns="0" tIns="0" rIns="0" bIns="0" rtlCol="0" anchor="t">
            <a:normAutofit/>
          </a:bodyPr>
          <a:lstStyle/>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NASA Standard Breakup Model — Johnson et al. (2001), </a:t>
            </a:r>
            <a:r>
              <a:rPr lang="en-US" sz="1200" i="1" dirty="0">
                <a:solidFill>
                  <a:srgbClr val="9FB2CC"/>
                </a:solidFill>
                <a:latin typeface="IBM Plex Sans" pitchFamily="34" charset="0"/>
                <a:ea typeface="IBM Plex Sans" pitchFamily="34" charset="-122"/>
                <a:cs typeface="IBM Plex Sans" pitchFamily="34" charset="-120"/>
              </a:rPr>
              <a:t>Adv. Space Res.</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Cube method / LEGEND — Liou (2003)</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WGS-72 / J2</a:t>
            </a:r>
            <a:endParaRPr lang="en-US" sz="1200" dirty="0"/>
          </a:p>
        </p:txBody>
      </p:sp>
      <p:sp>
        <p:nvSpPr>
          <p:cNvPr id="8" name="Text 6"/>
          <p:cNvSpPr/>
          <p:nvPr/>
        </p:nvSpPr>
        <p:spPr>
          <a:xfrm>
            <a:off x="812800" y="2297708"/>
            <a:ext cx="5441696" cy="231114"/>
          </a:xfrm>
          <a:prstGeom prst="rect">
            <a:avLst/>
          </a:prstGeom>
          <a:noFill/>
          <a:ln/>
        </p:spPr>
        <p:txBody>
          <a:bodyPr wrap="square" lIns="0" tIns="0" rIns="0" bIns="0" rtlCol="0" anchor="t">
            <a:normAutofit/>
          </a:bodyPr>
          <a:lstStyle/>
          <a:p>
            <a:pPr marL="0" indent="0" algn="l">
              <a:lnSpc>
                <a:spcPts val="1620"/>
              </a:lnSpc>
              <a:buNone/>
            </a:pPr>
            <a:r>
              <a:rPr lang="en-US" sz="1350" b="1" dirty="0">
                <a:solidFill>
                  <a:srgbClr val="39D98A"/>
                </a:solidFill>
                <a:latin typeface="IBM Plex Sans" pitchFamily="34" charset="0"/>
                <a:ea typeface="IBM Plex Sans" pitchFamily="34" charset="-122"/>
                <a:cs typeface="IBM Plex Sans" pitchFamily="34" charset="-120"/>
              </a:rPr>
              <a:t>Foundational literature</a:t>
            </a:r>
            <a:endParaRPr lang="en-US" sz="1350" dirty="0"/>
          </a:p>
        </p:txBody>
      </p:sp>
      <p:sp>
        <p:nvSpPr>
          <p:cNvPr id="9" name="Text 7"/>
          <p:cNvSpPr/>
          <p:nvPr/>
        </p:nvSpPr>
        <p:spPr>
          <a:xfrm>
            <a:off x="812800" y="2566925"/>
            <a:ext cx="5441696" cy="665361"/>
          </a:xfrm>
          <a:prstGeom prst="rect">
            <a:avLst/>
          </a:prstGeom>
          <a:noFill/>
          <a:ln/>
        </p:spPr>
        <p:txBody>
          <a:bodyPr wrap="square" lIns="0" tIns="0" rIns="0" bIns="0" rtlCol="0" anchor="t">
            <a:normAutofit/>
          </a:bodyPr>
          <a:lstStyle/>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Kessler &amp; Cour-Palais (1978), J. Geophys. Res. — the debris belt</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Liou &amp; Johnson (2006), Science — growth without launches</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Liou, Johnson &amp; Hill (2010), Acta Astronautica — active removal</a:t>
            </a:r>
            <a:endParaRPr lang="en-US" sz="1200" dirty="0"/>
          </a:p>
        </p:txBody>
      </p:sp>
      <p:sp>
        <p:nvSpPr>
          <p:cNvPr id="10" name="Text 8"/>
          <p:cNvSpPr/>
          <p:nvPr/>
        </p:nvSpPr>
        <p:spPr>
          <a:xfrm>
            <a:off x="6096000" y="2297708"/>
            <a:ext cx="5441696" cy="231114"/>
          </a:xfrm>
          <a:prstGeom prst="rect">
            <a:avLst/>
          </a:prstGeom>
          <a:noFill/>
          <a:ln/>
        </p:spPr>
        <p:txBody>
          <a:bodyPr wrap="square" lIns="0" tIns="0" rIns="0" bIns="0" rtlCol="0" anchor="t">
            <a:normAutofit/>
          </a:bodyPr>
          <a:lstStyle/>
          <a:p>
            <a:pPr marL="0" indent="0" algn="l">
              <a:lnSpc>
                <a:spcPts val="1620"/>
              </a:lnSpc>
              <a:buNone/>
            </a:pPr>
            <a:r>
              <a:rPr lang="en-US" sz="1350" b="1" dirty="0">
                <a:solidFill>
                  <a:srgbClr val="FF8C42"/>
                </a:solidFill>
                <a:latin typeface="IBM Plex Sans" pitchFamily="34" charset="0"/>
                <a:ea typeface="IBM Plex Sans" pitchFamily="34" charset="-122"/>
                <a:cs typeface="IBM Plex Sans" pitchFamily="34" charset="-120"/>
              </a:rPr>
              <a:t>Events &amp; policy</a:t>
            </a:r>
            <a:endParaRPr lang="en-US" sz="1350" dirty="0"/>
          </a:p>
        </p:txBody>
      </p:sp>
      <p:sp>
        <p:nvSpPr>
          <p:cNvPr id="11" name="Text 9"/>
          <p:cNvSpPr/>
          <p:nvPr/>
        </p:nvSpPr>
        <p:spPr>
          <a:xfrm>
            <a:off x="6096000" y="2566925"/>
            <a:ext cx="5441696" cy="665361"/>
          </a:xfrm>
          <a:prstGeom prst="rect">
            <a:avLst/>
          </a:prstGeom>
          <a:noFill/>
          <a:ln/>
        </p:spPr>
        <p:txBody>
          <a:bodyPr wrap="square" lIns="0" tIns="0" rIns="0" bIns="0" rtlCol="0" anchor="t">
            <a:normAutofit/>
          </a:bodyPr>
          <a:lstStyle/>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Fengyun-1C (2007), Cosmos–Iridium (2009), Cosmos-1408 (2021)</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Outer Space Treaty (1967); PAROS / PPWT</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McDowell, Jonathan's Space Report (active satellites, Sep 2026); SpaceX FCC report (manoeuvres, Jun 2026)</a:t>
            </a:r>
            <a:endParaRPr lang="en-US" sz="1200" dirty="0"/>
          </a:p>
        </p:txBody>
      </p:sp>
      <p:sp>
        <p:nvSpPr>
          <p:cNvPr id="12" name="Text 10"/>
          <p:cNvSpPr/>
          <p:nvPr/>
        </p:nvSpPr>
        <p:spPr>
          <a:xfrm>
            <a:off x="812800" y="6068095"/>
            <a:ext cx="10959605" cy="434314"/>
          </a:xfrm>
          <a:prstGeom prst="rect">
            <a:avLst/>
          </a:prstGeom>
          <a:noFill/>
          <a:ln/>
        </p:spPr>
        <p:txBody>
          <a:bodyPr wrap="square" lIns="0" tIns="0" rIns="0" bIns="0" rtlCol="0" anchor="t">
            <a:normAutofit/>
          </a:bodyPr>
          <a:lstStyle/>
          <a:p>
            <a:pPr marL="0" indent="0" algn="l">
              <a:lnSpc>
                <a:spcPts val="1610"/>
              </a:lnSpc>
              <a:buNone/>
            </a:pPr>
            <a:r>
              <a:rPr lang="en-US" sz="1150" dirty="0">
                <a:solidFill>
                  <a:srgbClr val="647A99"/>
                </a:solidFill>
                <a:latin typeface="IBM Plex Mono" pitchFamily="34" charset="0"/>
                <a:ea typeface="IBM Plex Mono" pitchFamily="34" charset="-122"/>
                <a:cs typeface="IBM Plex Mono" pitchFamily="34" charset="-120"/>
              </a:rPr>
              <a:t>Charts are SpaceWars model outputs (data/deck_numbers.json, CLI --deck) on the live Space-Track catalog; orbit visualizations are illustrative. Values are order-of-magnitude estimates from a stylised model — not operational predictions.</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TotalTime>
  <Words>2213</Words>
  <Application>Microsoft Office PowerPoint</Application>
  <PresentationFormat>Widescreen</PresentationFormat>
  <Paragraphs>291</Paragraphs>
  <Slides>23</Slides>
  <Notes>21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Arial</vt:lpstr>
      <vt:lpstr>Calibri</vt:lpstr>
      <vt:lpstr>Consolas</vt:lpstr>
      <vt:lpstr>IBM Plex Mono</vt:lpstr>
      <vt:lpstr>IBM Plex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Barrel of Nails — Kessler Study</dc:title>
  <dc:subject>PptxGenJS Presentation</dc:subject>
  <dc:creator>TK</dc:creator>
  <cp:lastModifiedBy>- -</cp:lastModifiedBy>
  <cp:revision>4</cp:revision>
  <dcterms:created xsi:type="dcterms:W3CDTF">2026-09-24T11:52:29Z</dcterms:created>
  <dcterms:modified xsi:type="dcterms:W3CDTF">2026-09-24T12:28:06Z</dcterms:modified>
</cp:coreProperties>
</file>