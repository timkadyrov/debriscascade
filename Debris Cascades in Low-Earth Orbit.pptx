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1" r:id="rId7"/>
    <p:sldId id="262" r:id="rId8"/>
    <p:sldId id="266" r:id="rId12"/>
    <p:sldId id="267" r:id="rId14"/>
    <p:sldId id="268" r:id="rId15"/>
    <p:sldId id="269" r:id="rId16"/>
    <p:sldId id="271" r:id="rId18"/>
    <p:sldId id="279" r:id="rId19"/>
    <p:sldId id="282" r:id="rId32"/>
    <p:sldId id="280" r:id="rId30"/>
    <p:sldId id="273" r:id="rId21"/>
    <p:sldId id="260" r:id="rId6"/>
    <p:sldId id="259" r:id="rId5"/>
    <p:sldId id="264" r:id="rId10"/>
    <p:sldId id="265" r:id="rId11"/>
    <p:sldId id="278" r:id="rId13"/>
    <p:sldId id="270" r:id="rId17"/>
    <p:sldId id="281" r:id="rId31"/>
    <p:sldId id="272" r:id="rId20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42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2.xml"/><Relationship Id="rId13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1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14.xml"/><Relationship Id="rId3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94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46.png"/><Relationship Id="rId8" Type="http://schemas.openxmlformats.org/officeDocument/2006/relationships/image" Target="../media/image58.png"/><Relationship Id="rId9" Type="http://schemas.openxmlformats.org/officeDocument/2006/relationships/image" Target="../media/image75.png"/><Relationship Id="rId10" Type="http://schemas.openxmlformats.org/officeDocument/2006/relationships/image" Target="../media/image8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Relationship Id="rId7" Type="http://schemas.openxmlformats.org/officeDocument/2006/relationships/image" Target="../media/image59.png"/><Relationship Id="rId8" Type="http://schemas.openxmlformats.org/officeDocument/2006/relationships/image" Target="../media/image11.png"/><Relationship Id="rId9" Type="http://schemas.openxmlformats.org/officeDocument/2006/relationships/image" Target="../media/image66.png"/><Relationship Id="rId10" Type="http://schemas.openxmlformats.org/officeDocument/2006/relationships/image" Target="../media/image76.png"/><Relationship Id="rId11" Type="http://schemas.openxmlformats.org/officeDocument/2006/relationships/image" Target="../media/image8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Relationship Id="rId7" Type="http://schemas.openxmlformats.org/officeDocument/2006/relationships/image" Target="../media/image59.png"/><Relationship Id="rId8" Type="http://schemas.openxmlformats.org/officeDocument/2006/relationships/image" Target="../media/image11.png"/><Relationship Id="rId9" Type="http://schemas.openxmlformats.org/officeDocument/2006/relationships/image" Target="../media/image66.png"/><Relationship Id="rId10" Type="http://schemas.openxmlformats.org/officeDocument/2006/relationships/image" Target="../media/image77.png"/><Relationship Id="rId11" Type="http://schemas.openxmlformats.org/officeDocument/2006/relationships/image" Target="../media/image8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61.png"/><Relationship Id="rId9" Type="http://schemas.openxmlformats.org/officeDocument/2006/relationships/image" Target="../media/image12.png"/><Relationship Id="rId10" Type="http://schemas.openxmlformats.org/officeDocument/2006/relationships/image" Target="../media/image67.png"/><Relationship Id="rId11" Type="http://schemas.openxmlformats.org/officeDocument/2006/relationships/image" Target="../media/image78.png"/><Relationship Id="rId12" Type="http://schemas.openxmlformats.org/officeDocument/2006/relationships/image" Target="../media/image8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44.png"/><Relationship Id="rId7" Type="http://schemas.openxmlformats.org/officeDocument/2006/relationships/image" Target="../media/image50.png"/><Relationship Id="rId8" Type="http://schemas.openxmlformats.org/officeDocument/2006/relationships/image" Target="../media/image62.png"/><Relationship Id="rId9" Type="http://schemas.openxmlformats.org/officeDocument/2006/relationships/image" Target="../media/image13.png"/><Relationship Id="rId10" Type="http://schemas.openxmlformats.org/officeDocument/2006/relationships/image" Target="../media/image68.png"/><Relationship Id="rId11" Type="http://schemas.openxmlformats.org/officeDocument/2006/relationships/image" Target="../media/image79.png"/><Relationship Id="rId12" Type="http://schemas.openxmlformats.org/officeDocument/2006/relationships/image" Target="../media/image8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5.png"/><Relationship Id="rId9" Type="http://schemas.openxmlformats.org/officeDocument/2006/relationships/image" Target="../media/image51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64.png"/><Relationship Id="rId13" Type="http://schemas.openxmlformats.org/officeDocument/2006/relationships/image" Target="../media/image69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80.png"/><Relationship Id="rId17" Type="http://schemas.openxmlformats.org/officeDocument/2006/relationships/image" Target="../media/image9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52.png"/><Relationship Id="rId7" Type="http://schemas.openxmlformats.org/officeDocument/2006/relationships/image" Target="../media/image63.png"/><Relationship Id="rId8" Type="http://schemas.openxmlformats.org/officeDocument/2006/relationships/image" Target="../media/image81.png"/><Relationship Id="rId9" Type="http://schemas.openxmlformats.org/officeDocument/2006/relationships/image" Target="../media/image9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60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Relationship Id="rId9" Type="http://schemas.openxmlformats.org/officeDocument/2006/relationships/image" Target="../media/image74.png"/><Relationship Id="rId10" Type="http://schemas.openxmlformats.org/officeDocument/2006/relationships/image" Target="../media/image82.png"/><Relationship Id="rId11" Type="http://schemas.openxmlformats.org/officeDocument/2006/relationships/image" Target="../media/image9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60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Relationship Id="rId9" Type="http://schemas.openxmlformats.org/officeDocument/2006/relationships/image" Target="../media/image83.png"/><Relationship Id="rId10" Type="http://schemas.openxmlformats.org/officeDocument/2006/relationships/image" Target="../media/image9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84.png"/><Relationship Id="rId7" Type="http://schemas.openxmlformats.org/officeDocument/2006/relationships/image" Target="../media/image9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space-track.org" TargetMode="External"/><Relationship Id="rId4" Type="http://schemas.openxmlformats.org/officeDocument/2006/relationships/hyperlink" Target="https://celestrak.org" TargetMode="External"/><Relationship Id="rId5" Type="http://schemas.openxmlformats.org/officeDocument/2006/relationships/hyperlink" Target="https://doi.org/10.1016/S0273-1177(01)00423-9" TargetMode="External"/><Relationship Id="rId6" Type="http://schemas.openxmlformats.org/officeDocument/2006/relationships/hyperlink" Target="https://www.lpi.usra.edu/meetings/lpsc2003/pdf/1828.pdf" TargetMode="External"/><Relationship Id="rId7" Type="http://schemas.openxmlformats.org/officeDocument/2006/relationships/hyperlink" Target="https://archive.org/details/kesslercollisionfrequency1978" TargetMode="External"/><Relationship Id="rId8" Type="http://schemas.openxmlformats.org/officeDocument/2006/relationships/hyperlink" Target="https://orbitaldebris.jsc.nasa.gov/library/sciencemag-risks-in-space-from-orbiting.pdf" TargetMode="External"/><Relationship Id="rId9" Type="http://schemas.openxmlformats.org/officeDocument/2006/relationships/hyperlink" Target="https://www.sciencedirect.com/science/article/abs/pii/S0094576509003981" TargetMode="External"/><Relationship Id="rId10" Type="http://schemas.openxmlformats.org/officeDocument/2006/relationships/hyperlink" Target="https://doi.org/10.1016/j.asr.2011.02.003" TargetMode="External"/><Relationship Id="rId11" Type="http://schemas.openxmlformats.org/officeDocument/2006/relationships/hyperlink" Target="https://conference.sdo.esoc.esa.int/proceedings/sdc6/paper/199/sdc6-paper199.pdf" TargetMode="External"/><Relationship Id="rId12" Type="http://schemas.openxmlformats.org/officeDocument/2006/relationships/hyperlink" Target="https://www.unoosa.org/unoosa/en/ourwork/spacelaw/treaties/introouterspacetreaty.html" TargetMode="External"/><Relationship Id="rId13" Type="http://schemas.openxmlformats.org/officeDocument/2006/relationships/hyperlink" Target="https://planet4589.org/space/stats/active.html" TargetMode="External"/><Relationship Id="rId14" Type="http://schemas.openxmlformats.org/officeDocument/2006/relationships/hyperlink" Target="https://www.space.com/space-exploration/satellites/every-spacex-starlink-satellite-has-to-dodge-a-collision-almost-weekly-and-experts-fear-the-worst" TargetMode="External"/><Relationship Id="rId15" Type="http://schemas.openxmlformats.org/officeDocument/2006/relationships/hyperlink" Target="https://www.orbitaldebris.jsc.nasa.gov/newsletter/pdfs/odqnv15i4.pdf" TargetMode="External"/><Relationship Id="rId16" Type="http://schemas.openxmlformats.org/officeDocument/2006/relationships/hyperlink" Target="https://www.unoosa.org/documents/pdf/spacelaw/sd/COPUOS-Guidelines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0203A"/>
              </a:gs>
              <a:gs pos="60000">
                <a:srgbClr val="06080E"/>
              </a:gs>
            </a:gsLst>
            <a:path path="circle">
              <a:fillToRect l="78000" t="82000" r="22000" b="18000"/>
            </a:path>
          </a:gradFill>
          <a:ln/>
        </p:spPr>
        <p:txBody>
          <a:bodyPr/>
          <a:lstStyle/>
          <a:p>
            <a:endParaRPr lang="en-CH"/>
          </a:p>
        </p:txBody>
      </p:sp>
      <p:pic>
        <p:nvPicPr>
          <p:cNvPr id="3" name="Image 0" descr="Earth with orbiting debris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30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ORBITAL DEBRIS STUDY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2070431"/>
            <a:ext cx="8502650" cy="1553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18"/>
              </a:lnSpc>
              <a:buNone/>
            </a:pPr>
            <a:r>
              <a:rPr lang="en-US" sz="5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Debris Cascades</a:t>
            </a:r>
            <a:endParaRPr lang="en-US" sz="5900" dirty="0"/>
          </a:p>
          <a:p>
            <a:pPr marL="0" indent="0" algn="l">
              <a:lnSpc>
                <a:spcPts val="6018"/>
              </a:lnSpc>
              <a:buNone/>
            </a:pPr>
            <a:r>
              <a:rPr lang="en-US" sz="5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Low-Earth Orbit</a:t>
            </a:r>
            <a:endParaRPr lang="en-US" sz="5900" dirty="0"/>
          </a:p>
        </p:txBody>
      </p:sp>
      <p:sp>
        <p:nvSpPr>
          <p:cNvPr id="6" name="Text 3"/>
          <p:cNvSpPr/>
          <p:nvPr/>
        </p:nvSpPr>
        <p:spPr>
          <a:xfrm>
            <a:off x="812800" y="3776729"/>
            <a:ext cx="771779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debris population of low-Earth orbit evolves, what pushes it toward a Kessler cascade, and what holds it back. Traffic, disposal, removal and explosions run on the real catalog; a missile strike and a barrel of nails are added and weighed on the same scale.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catalog  ·  CUDA propagation  ·  NASA breakup model  ·  three cascade engines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 · THE DEBATE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14295"/>
            <a:ext cx="10883392" cy="530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loud claims — both wrong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593975"/>
            <a:ext cx="5149850" cy="2184400"/>
          </a:xfrm>
          <a:prstGeom prst="roundRect">
            <a:avLst>
              <a:gd name="adj" fmla="val 5087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121833" y="2899835"/>
            <a:ext cx="467427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CLAIM A — FALSE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833" y="3222361"/>
            <a:ext cx="467427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“It will do no harm”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21833" y="3670632"/>
            <a:ext cx="467427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nail is a lethal, satellite-killing projectile, and a barrel adds a persistent debris population. Harmless it is not.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6175" y="2593975"/>
            <a:ext cx="5149850" cy="2184400"/>
          </a:xfrm>
          <a:prstGeom prst="roundRect">
            <a:avLst>
              <a:gd name="adj" fmla="val 5087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532034" y="2899835"/>
            <a:ext cx="467427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CLAIM B — FALSE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2034" y="3222361"/>
            <a:ext cx="467427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“It renders LEO unusable”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32034" y="3670632"/>
            <a:ext cx="467427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barrel never triggers a runaway. Low down, drag clears it in a couple of years; at 900 km, no number of barrels doubles the ≥10 cm belt.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5753100"/>
            <a:ext cx="10883392" cy="316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truth is quantitative</a:t>
            </a:r>
            <a:r>
              <a:rPr lang="en-US" sz="17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it depends almost entirely on </a:t>
            </a:r>
            <a:r>
              <a:rPr lang="en-US" sz="17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altitude</a:t>
            </a:r>
            <a:r>
              <a:rPr lang="en-US" sz="17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it only means something when compared with ordinary traffic.</a:t>
            </a:r>
            <a:endParaRPr lang="en-US" sz="1700" dirty="0"/>
          </a:p>
        </p:txBody>
      </p:sp>
      <p:sp>
        <p:nvSpPr>
          <p:cNvPr id="13" name="Text 5"/>
          <p:cNvSpPr/>
          <p:nvPr/>
        </p:nvSpPr>
        <p:spPr>
          <a:xfrm>
            <a:off x="812800" y="1850000"/>
            <a:ext cx="1088339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 b="1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ask: 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barrel is the cheapest way to put a debris weapon in orbit — no guidance, no interceptor, just mass and a dispenser. It deserves a number, not an opinion.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 · A BARREL OF NAILS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barrel of nails,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10573"/>
            <a:ext cx="5162550" cy="2754445"/>
          </a:xfrm>
          <a:prstGeom prst="roundRect">
            <a:avLst>
              <a:gd name="adj" fmla="val 3573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A nai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8333" y="1752932"/>
            <a:ext cx="12700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42633" y="1770724"/>
            <a:ext cx="134315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projectile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8333" y="2146632"/>
          <a:ext cx="4677834" cy="1863330"/>
        </p:xfrm>
        <a:graphic>
          <a:graphicData uri="http://schemas.openxmlformats.org/drawingml/2006/table">
            <a:tbl>
              <a:tblPr/>
              <a:tblGrid>
                <a:gridCol w="2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Steel nail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75 × 3 mm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Mass each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4.16 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Tumbling cross-section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1.8 cm²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 in a barrel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CF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200,000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launched mass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CF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832 kg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3475" y="1510573"/>
            <a:ext cx="5162550" cy="2754445"/>
          </a:xfrm>
          <a:prstGeom prst="roundRect">
            <a:avLst>
              <a:gd name="adj" fmla="val 3573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5"/>
          <p:cNvSpPr/>
          <p:nvPr/>
        </p:nvSpPr>
        <p:spPr>
          <a:xfrm>
            <a:off x="6455833" y="1752932"/>
            <a:ext cx="481816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deployment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55833" y="2111045"/>
            <a:ext cx="4818168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Released as a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dump</a:t>
            </a: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each nail gets a small random Δv, no targeting. The least-hostile way to spread a barrel.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55833" y="2945276"/>
            <a:ext cx="4818168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Placed at a chosen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altitude and inclination</a:t>
            </a: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(default 550 km / 53°), then set loose in the real catalog + a modelled 1–10 cm debris field.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5975" y="4474567"/>
            <a:ext cx="10560050" cy="563761"/>
          </a:xfrm>
          <a:prstGeom prst="roundRect">
            <a:avLst>
              <a:gd name="adj" fmla="val 15206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9"/>
          <p:cNvSpPr/>
          <p:nvPr/>
        </p:nvSpPr>
        <p:spPr>
          <a:xfrm>
            <a:off x="1032933" y="4640726"/>
            <a:ext cx="10429918" cy="25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Measured:</a:t>
            </a:r>
            <a:r>
              <a:rPr lang="en-US" sz="13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single-nail lethality · drag lifetime · collision flux · a 50-year cascade in three engines · usability by altitude.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GROUNDED IN REAL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372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catalog we simulate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35973"/>
            <a:ext cx="2292747" cy="1160330"/>
          </a:xfrm>
          <a:prstGeom prst="roundRect">
            <a:avLst>
              <a:gd name="adj" fmla="val 7388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07533" y="172753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29,779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7533" y="2108531"/>
            <a:ext cx="19669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tracked objects in LEO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2072" y="1535973"/>
            <a:ext cx="2292747" cy="1160330"/>
          </a:xfrm>
          <a:prstGeom prst="roundRect">
            <a:avLst>
              <a:gd name="adj" fmla="val 7388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3433630" y="172753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9,956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33630" y="2108531"/>
            <a:ext cx="1966919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catalogued debris pieces (+1,573 rocket bodies)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2816953"/>
            <a:ext cx="2292747" cy="962223"/>
          </a:xfrm>
          <a:prstGeom prst="roundRect">
            <a:avLst>
              <a:gd name="adj" fmla="val 890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007533" y="300851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511 kg</a:t>
            </a:r>
            <a:r>
              <a:rPr lang="en-US" sz="30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7533" y="3389511"/>
            <a:ext cx="19669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payload mass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2072" y="2816953"/>
            <a:ext cx="2292747" cy="962223"/>
          </a:xfrm>
          <a:prstGeom prst="roundRect">
            <a:avLst>
              <a:gd name="adj" fmla="val 890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433630" y="300851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4.4 m²</a:t>
            </a:r>
            <a:r>
              <a:rPr lang="en-US" sz="30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33630" y="3389511"/>
            <a:ext cx="19669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payload cross-section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95169" y="1535973"/>
            <a:ext cx="5580856" cy="2454672"/>
          </a:xfrm>
          <a:prstGeom prst="roundRect">
            <a:avLst>
              <a:gd name="adj" fmla="val 4010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986727" y="1727531"/>
            <a:ext cx="535367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0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OBJECTS · RADAR CROSS-SECTION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6727" y="1961158"/>
          <a:ext cx="5197739" cy="1863330"/>
        </p:xfrm>
        <a:graphic>
          <a:graphicData uri="http://schemas.openxmlformats.org/drawingml/2006/table">
            <a:tbl>
              <a:tblPr/>
              <a:tblGrid>
                <a:gridCol w="228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RCS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Altitude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 (Zarya)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DA6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399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416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Hubble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DA6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470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Envisat · 8 t, dead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8C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761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SL-16 rocket body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8C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~850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5975" y="4200195"/>
            <a:ext cx="10560050" cy="873257"/>
          </a:xfrm>
          <a:prstGeom prst="roundRect">
            <a:avLst>
              <a:gd name="adj" fmla="val 9817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7"/>
          <p:cNvSpPr/>
          <p:nvPr/>
        </p:nvSpPr>
        <p:spPr>
          <a:xfrm>
            <a:off x="1045633" y="4379053"/>
            <a:ext cx="1040375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environment: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every catalogued object carries its own mass and area, from its radar cross-section where known (97%), alongside a modelled field of ~1,000,000 lethal 1–10 cm fragments too small for radar to track.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73720"/>
            <a:ext cx="10883392" cy="38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56"/>
              </a:lnSpc>
              <a:buNone/>
            </a:pPr>
            <a:r>
              <a:rPr lang="en-US" sz="28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vocabulary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04674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A1626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969433" y="1545431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Kessler syndrome / runaway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9433" y="1786731"/>
            <a:ext cx="3305133" cy="72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chain reaction: each collision makes debris that triggers more collisions, so the debris count keeps climbing on its own — even if every launch stopped today.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8108" y="1404674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4491567" y="1545431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Supercritical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91567" y="1786731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tipping condition behind runaway: in a shell, collisions make fragments faster than drag removes them, so the population grows unaided.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0242" y="1404674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013700" y="1545431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Catastrophic collision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13700" y="1786731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impact carrying ≥ 40 joules per gram of the target's mass — enough to shatter it, not just crater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975" y="2637896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969433" y="2778655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 Standard Breakup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9433" y="3019955"/>
            <a:ext cx="3305133" cy="72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standard empirical formula (Johnson et al., 2001) for how many fragments of each size a collision or explosion makes, from the objects' mass. Fit to real on-orbit events.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8108" y="2637896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4491567" y="2778655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belt (700–1,100 km)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91567" y="3019955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drag is weak and today's debris belt lives. The results track how its population changes over 50 years.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0242" y="2637896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8013700" y="2778655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≥10 cm objects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13700" y="3019955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 enough to track by radar and to shatter a small satellite — the standard metric of debris-evolution studies.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975" y="3871119"/>
            <a:ext cx="3515783" cy="1050859"/>
          </a:xfrm>
          <a:prstGeom prst="roundRect">
            <a:avLst>
              <a:gd name="adj" fmla="val 694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9433" y="4011878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RCS (radar cross-section)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9433" y="4253178"/>
            <a:ext cx="3305133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big an object looks to tracking radar (m²) — used as its collision cross-section and to estimate mass.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8108" y="3871119"/>
            <a:ext cx="3515783" cy="1050859"/>
          </a:xfrm>
          <a:prstGeom prst="roundRect">
            <a:avLst>
              <a:gd name="adj" fmla="val 694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4491567" y="4011878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A/m &amp; drag lifetime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91567" y="4253178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Area-to-mass ratio sets how fast drag lowers an orbit: low orbits self-clean in years, high orbits persist for centuries.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0242" y="3871119"/>
            <a:ext cx="3515783" cy="1050859"/>
          </a:xfrm>
          <a:prstGeom prst="roundRect">
            <a:avLst>
              <a:gd name="adj" fmla="val 694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8013700" y="4011878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Mission-kill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13700" y="4253178"/>
            <a:ext cx="3305133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impact that disables a satellite without shattering it — leaving a dead hulk plus a little cratering debris.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1502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catalog to the cascade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933" y="2979409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2933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catalog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32933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CelesTrak + Space-Track, per-object mass &amp; RCS</a:t>
            </a:r>
            <a:endParaRPr lang="en-US" sz="12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4200" y="3458170"/>
            <a:ext cx="355600" cy="190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09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0" name="Image 2" descr="Light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6933" y="2979409"/>
            <a:ext cx="330200" cy="330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6933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CUDA propagation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826933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J2 orbits on an RTX 5090, 177 M states/s</a:t>
            </a:r>
            <a:endParaRPr lang="en-US" sz="1200" dirty="0"/>
          </a:p>
        </p:txBody>
      </p:sp>
      <p:pic>
        <p:nvPicPr>
          <p:cNvPr id="13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8200" y="3458170"/>
            <a:ext cx="355600" cy="1905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3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5" name="Image 4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0934" y="2979409"/>
            <a:ext cx="330200" cy="330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20934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Breakup model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620934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 Standard Breakup Model, 40 J/g threshold</a:t>
            </a:r>
            <a:endParaRPr lang="en-US" sz="1200" dirty="0"/>
          </a:p>
        </p:txBody>
      </p:sp>
      <p:pic>
        <p:nvPicPr>
          <p:cNvPr id="18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12200" y="3458170"/>
            <a:ext cx="355600" cy="1905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97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0" name="Image 6" descr="Char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14934" y="2979409"/>
            <a:ext cx="330200" cy="330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414934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Cascade engines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9414934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ODE · discrete MC · conjunction geometry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812800" y="55118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independent engines, plus launch traffic, explosions, debris removal and an “operators retreat” feedback. The cube engine draws the scenario charts; the box model resolves the barrel-sized effects; the discrete engine checks both.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ways to model a cascade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23274"/>
            <a:ext cx="3388783" cy="3048463"/>
          </a:xfrm>
          <a:prstGeom prst="roundRect">
            <a:avLst>
              <a:gd name="adj" fmla="val 322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Stacked altitude shells with debris count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933" y="1740232"/>
            <a:ext cx="2032000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2933" y="2794332"/>
            <a:ext cx="3043513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· source–sink ODE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32933" y="3132138"/>
            <a:ext cx="304351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9D9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 · aggregate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32933" y="3420402"/>
            <a:ext cx="30435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Debris </a:t>
            </a:r>
            <a:r>
              <a:rPr lang="en-US" sz="12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counts</a:t>
            </a: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altitude shell and size class, evolved by one equation. Well-mixed, no individuals.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32933" y="4164940"/>
            <a:ext cx="3043513" cy="21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Role: barrel-sized effects; cross-check.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1608" y="1523274"/>
            <a:ext cx="3388783" cy="3048463"/>
          </a:xfrm>
          <a:prstGeom prst="roundRect">
            <a:avLst>
              <a:gd name="adj" fmla="val 322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1" name="Image 1" descr="Individual objects scattered, two collid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8567" y="1740232"/>
            <a:ext cx="2032000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8567" y="2794332"/>
            <a:ext cx="3043513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Discrete · super-particle MC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8567" y="3132138"/>
            <a:ext cx="304351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C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mid · per-object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618567" y="3420402"/>
            <a:ext cx="30435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object is an individual; collisions are drawn statistically, and fragments get </a:t>
            </a:r>
            <a:r>
              <a:rPr lang="en-US" sz="12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orbits</a:t>
            </a: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spread across shells.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18567" y="4164940"/>
            <a:ext cx="3043513" cy="21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Role: cross-check (8-seed ensembles).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87242" y="1523274"/>
            <a:ext cx="3388783" cy="3048463"/>
          </a:xfrm>
          <a:prstGeom prst="roundRect">
            <a:avLst>
              <a:gd name="adj" fmla="val 322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7" name="Image 2" descr="Two orbits crossing at a collision point over a gri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4200" y="1740232"/>
            <a:ext cx="2032000" cy="952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04200" y="2794332"/>
            <a:ext cx="3043513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Conjunction · cube method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04200" y="3132138"/>
            <a:ext cx="304351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· real geometry (GPU)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04200" y="3420402"/>
            <a:ext cx="30435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object propagated on the GPU; a collision happens only where two orbits </a:t>
            </a:r>
            <a:r>
              <a:rPr lang="en-US" sz="12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actually cross</a:t>
            </a: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same small cube.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04200" y="4164940"/>
            <a:ext cx="3043513" cy="21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Role: scenario charts (16-seed ensembles).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 · THE PHYSICS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nail: lethal, but no satellite-destroyer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698869"/>
              </p:ext>
            </p:extLst>
          </p:nvPr>
        </p:nvGraphicFramePr>
        <p:xfrm>
          <a:off x="812800" y="2286664"/>
          <a:ext cx="6236023" cy="2450572"/>
        </p:xfrm>
        <a:graphic>
          <a:graphicData uri="http://schemas.openxmlformats.org/drawingml/2006/table">
            <a:tbl>
              <a:tblPr/>
              <a:tblGrid>
                <a:gridCol w="2120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Impact @ 10 km/s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Energy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Catastrophic?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g nail → 260 kg sat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208 kJ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9D98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· 0.8 J/g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Mission-kill + ~140 frags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g nail → 3 kg cubesat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208 kJ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8C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 · 69 J/g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Shattered · ~600 frags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260 kg → 260 kg sat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 GJ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5A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Yes, deeply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~29,000 frags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1472" y="2289839"/>
            <a:ext cx="4154554" cy="2461154"/>
          </a:xfrm>
          <a:prstGeom prst="roundRect">
            <a:avLst>
              <a:gd name="adj" fmla="val 4515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3"/>
          <p:cNvSpPr/>
          <p:nvPr/>
        </p:nvSpPr>
        <p:spPr>
          <a:xfrm>
            <a:off x="7501930" y="2747702"/>
            <a:ext cx="370144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 </a:t>
            </a:r>
            <a:r>
              <a:rPr lang="en-US" sz="60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J/g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501930" y="3573202"/>
            <a:ext cx="3701446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catastrophic-fragmentation line. A nail against a Starlink lands at </a:t>
            </a:r>
            <a:r>
              <a:rPr lang="en-US" sz="14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 J/g</a:t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50× too low.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55118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nail mission-kills whatever it hits, but to </a:t>
            </a:r>
            <a:r>
              <a:rPr lang="en-US" sz="15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shatter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260 kg satellite you'd need a ~200 g bolt, not a nail. The huge fragment clouds come from </a:t>
            </a:r>
            <a:r>
              <a:rPr lang="en-US" sz="150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large-on-large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collisions.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99481"/>
            <a:ext cx="5180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 · THE CASCADE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77902"/>
            <a:ext cx="5180076" cy="1087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2"/>
              </a:lnSpc>
              <a:buNone/>
            </a:pPr>
            <a:r>
              <a:rPr lang="en-US" sz="41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Accelerant,</a:t>
            </a:r>
            <a:endParaRPr lang="en-US" sz="4100" dirty="0"/>
          </a:p>
          <a:p>
            <a:pPr marL="0" indent="0" algn="l">
              <a:lnSpc>
                <a:spcPts val="4182"/>
              </a:lnSpc>
              <a:buNone/>
            </a:pPr>
            <a:r>
              <a:rPr lang="en-US" sz="41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igniter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12800" y="3805175"/>
            <a:ext cx="518007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barrel can't start Kessler by itself — nails are too light to shatter big objects. What it does is </a:t>
            </a:r>
            <a:r>
              <a:rPr lang="en-US" sz="16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slightly raise the odds</a:t>
            </a:r>
            <a:r>
              <a:rPr lang="en-US" sz="16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the large-on-large collisions that already drive the belt.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3175" y="1565275"/>
            <a:ext cx="5022850" cy="1145117"/>
          </a:xfrm>
          <a:prstGeom prst="roundRect">
            <a:avLst>
              <a:gd name="adj" fmla="val 7486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432468" y="1782235"/>
            <a:ext cx="39550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29570" y="1782235"/>
            <a:ext cx="4356382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Nails mission-kill satellites, leaving </a:t>
            </a: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dead hulks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cratering debris behind.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3175" y="2856446"/>
            <a:ext cx="5022850" cy="1145117"/>
          </a:xfrm>
          <a:prstGeom prst="roundRect">
            <a:avLst>
              <a:gd name="adj" fmla="val 7486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432468" y="3073400"/>
            <a:ext cx="46131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FC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385" y="3073400"/>
            <a:ext cx="4288592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extra mass </a:t>
            </a: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raises the standing density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shell.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3175" y="4147610"/>
            <a:ext cx="5022850" cy="1145117"/>
          </a:xfrm>
          <a:prstGeom prst="roundRect">
            <a:avLst>
              <a:gd name="adj" fmla="val 7486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6460178" y="4364571"/>
            <a:ext cx="35165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13431" y="4364571"/>
            <a:ext cx="4373006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But the push is weak: </a:t>
            </a: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 1,000 barrels add only ~25%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the ≥10 cm belt in 50 years.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694944"/>
            <a:ext cx="1088136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spc="250">
                <a:solidFill>
                  <a:srgbClr val="4DA6FF"/>
                </a:solidFill>
                <a:latin typeface="IBM Plex Mono"/>
              </a:rPr>
              <a:t>ADDED ELEMENT · ORBIT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78408"/>
            <a:ext cx="1088136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900" b="1">
                <a:solidFill>
                  <a:srgbClr val="E7EEF8"/>
                </a:solidFill>
                <a:latin typeface="IBM Plex Sans"/>
              </a:rPr>
              <a:t>The nail cloud spreads, then rains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257800"/>
            <a:ext cx="10570464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FB2CC"/>
                </a:solidFill>
                <a:latin typeface="IBM Plex Sans"/>
              </a:rPr>
              <a:t>Left → right: a tight ring at release, spread into a shell by differential precession, then decaying under atmospheric drag — ~46% remain after ~1.5 years at 550 km. Model output, 200,000 nails, J2 + drag.</a:t>
            </a:r>
          </a:p>
        </p:txBody>
      </p:sp>
      <p:pic>
        <p:nvPicPr>
          <p:cNvPr id="8" name="Picture 7" descr="fram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1600200"/>
            <a:ext cx="3355848" cy="3355848"/>
          </a:xfrm>
          <a:prstGeom prst="rect">
            <a:avLst/>
          </a:prstGeom>
        </p:spPr>
      </p:pic>
      <p:pic>
        <p:nvPicPr>
          <p:cNvPr id="9" name="Picture 8" descr="fram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124" y="1600200"/>
            <a:ext cx="3355848" cy="3355848"/>
          </a:xfrm>
          <a:prstGeom prst="rect">
            <a:avLst/>
          </a:prstGeom>
        </p:spPr>
      </p:pic>
      <p:pic>
        <p:nvPicPr>
          <p:cNvPr id="10" name="Picture 9" descr="fram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1" y="1600200"/>
            <a:ext cx="3355848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 · THE SCALE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30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3"/>
              </a:lnSpc>
              <a:buNone/>
            </a:pPr>
            <a:r>
              <a:rPr lang="en-US" sz="31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barrels to tip a band?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2695972"/>
            <a:ext cx="3363383" cy="1482923"/>
          </a:xfrm>
          <a:prstGeom prst="roundRect">
            <a:avLst>
              <a:gd name="adj" fmla="val 7494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96433" y="2976432"/>
            <a:ext cx="28865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 +25%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6433" y="3649532"/>
            <a:ext cx="288654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 barrels, ≥10 cm belt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4308" y="2695972"/>
            <a:ext cx="3363383" cy="1482923"/>
          </a:xfrm>
          <a:prstGeom prst="roundRect">
            <a:avLst>
              <a:gd name="adj" fmla="val 7494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4694767" y="2976432"/>
            <a:ext cx="28865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8C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90–230</a:t>
            </a:r>
            <a:r>
              <a:rPr lang="en-US" sz="48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94767" y="3649532"/>
            <a:ext cx="288654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barrels double the 1–10 cm field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12642" y="2695972"/>
            <a:ext cx="3363383" cy="1482923"/>
          </a:xfrm>
          <a:prstGeom prst="roundRect">
            <a:avLst>
              <a:gd name="adj" fmla="val 7494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293100" y="2976432"/>
            <a:ext cx="28865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22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93100" y="3649532"/>
            <a:ext cx="288654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barrels ≈ one ASAT, ≥10 cm belt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036877"/>
            <a:ext cx="10883392" cy="57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Barrels dumped at 900 km, over 50 years, compared with the same run without them. Nails flood the lethal-but-untrackable 1–10 cm field but barely feed the ≥10 cm cascade: the belt reaches +21% above the no-barrel run at 300 barrels and +25% at 1,000 — flattening, never doubling. The 90–230 range brackets how much debris small impacts throw off (breakup model as written vs NASA's LEGEND convention).</a:t>
            </a:r>
            <a:r>
              <a:rPr lang="en-US" sz="15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5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99"/>
              </a:lnSpc>
              <a:buNone/>
            </a:pPr>
            <a:r>
              <a:rPr lang="en-US" sz="33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Altitude is the whole story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1626065"/>
            <a:ext cx="10560050" cy="931069"/>
          </a:xfrm>
          <a:prstGeom prst="roundRect">
            <a:avLst>
              <a:gd name="adj" fmla="val 1057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71033" y="1940458"/>
            <a:ext cx="19621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C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1,200–1,500 km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66533" y="1843025"/>
            <a:ext cx="8193067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Secondary persistent zone — even small fragments stay for centuries to millennia, and it is exactly where several proposed mega-constellations intend to operate.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15975" y="2690484"/>
            <a:ext cx="10560050" cy="1498978"/>
          </a:xfrm>
          <a:prstGeom prst="roundRect">
            <a:avLst>
              <a:gd name="adj" fmla="val 7944"/>
            </a:avLst>
          </a:prstGeom>
          <a:solidFill>
            <a:srgbClr val="0D1420"/>
          </a:solidFill>
          <a:ln w="6350">
            <a:solidFill>
              <a:srgbClr val="3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1071033" y="3271067"/>
            <a:ext cx="1962150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700–1,100 km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166533" y="2932844"/>
            <a:ext cx="8193067" cy="103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“bad neighborhood.” Fragments last a decade to two centuries, intact objects centuries: the real debris belt, home to dead giants like Envisat (8 t, 761 km). With no launches at all, its ≥10 cm population still grows ~9% in 50 years. NASA's LEGEND puts ~60% of future catastrophic collisions at 900–1,000 km (Liou &amp; Johnson 2006).</a:t>
            </a:r>
            <a:r>
              <a:rPr lang="en-US" sz="15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4322809"/>
            <a:ext cx="10560050" cy="931069"/>
          </a:xfrm>
          <a:prstGeom prst="roundRect">
            <a:avLst>
              <a:gd name="adj" fmla="val 10571"/>
            </a:avLst>
          </a:prstGeom>
          <a:solidFill>
            <a:srgbClr val="0D1420"/>
          </a:solidFill>
          <a:ln w="6350">
            <a:solidFill>
              <a:srgbClr val="223A2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071033" y="4637203"/>
            <a:ext cx="19621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39D9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200–600 km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66533" y="4539770"/>
            <a:ext cx="8193067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Self-cleaning. Drag clears fragments in months to a few years and dead satellites in about a decade.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50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547295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 is not one place: </a:t>
            </a:r>
            <a:r>
              <a:rPr lang="en-US" sz="15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orbit self-heals, high orbit is nearly permanent.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Risk scales dramatically with altitude.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USABILITY BY ALTITUDE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risk is — and how long it stays</a:t>
            </a:r>
            <a:endParaRPr lang="en-US"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812800" y="5120640"/>
            <a:ext cx="10566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E7EEF8"/>
                </a:solidFill>
                <a:latin typeface="IBM Plex Sans"/>
              </a:rPr>
              <a:t>Most hazardous — but not unusable.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A satellite in the 700–1,100 km belt runs a ~0.5% a year chance of a lethal hit today — the worst in LEO, but well below the ~2%/yr at which operators abandon a band. Orange is the deeper problem: above ~1,000 km even small fragments stay for centuries, so whatever breaks there doesn't clear. Added at 550 km, a barrel of nails briefly makes its shell the most dangerous in LEO (~1.1%/yr, 5× normal).</a:t>
            </a:r>
          </a:p>
        </p:txBody>
      </p:sp>
      <p:pic>
        <p:nvPicPr>
          <p:cNvPr id="6" name="Picture 5" descr="deck_altitu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ELEMENTS · FOR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source on one measure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IBM Plex Sans"/>
              </a:rPr>
              <a:t>Same measure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extra objects in the belt, for every source.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Extra ≥10 cm objects in the 700–1,100 km belt after 50 years, compared with adding nothing. One barrel adds ~17, an ASAT strike ~360, and 1,000 barrels ~2,500. Injecting 50 satellites and rocket bodies a year that are never deorbited adds ~14,000, 5.5× that. Traffic, not the barrel, is what moves the belt.</a:t>
            </a:r>
          </a:p>
        </p:txBody>
      </p:sp>
      <p:pic>
        <p:nvPicPr>
          <p:cNvPr id="17" name="Picture 16" descr="deck_comparis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DRIVER · TRAFFIC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Injected satellites and rocket bodies drive the belt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IBM Plex Sans"/>
              </a:rPr>
              <a:t>Runaway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the debris population grows without ever settling.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Collisions and explosions breed fragments faster than drag can remove them, so more debris drives more collisions — a self-feeding cascade (Kessler syndrome). The belt is already there: with nothing added, its ≥10 cm population grows ~9% in 50 years. Each satellite or rocket body injected or added to it steepens that: 50 a year ×2.8, 200 a year ×19. None is ever manoeuvred or deorbited, and all sit at 900 km — a stress test, not a traffic forecast. Cube engine, mean of 16 seeds; cross-check at 50/yr: box ×2.6, discrete ×2.0 (8 seeds).</a:t>
            </a:r>
          </a:p>
        </p:txBody>
      </p:sp>
      <p:pic>
        <p:nvPicPr>
          <p:cNvPr id="17" name="Picture 16" descr="deck_tipp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DRIVER · RATIONAL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Operators quit — the cascade doesn't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12800" y="5494077"/>
            <a:ext cx="10883392" cy="57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500 satellites and rocket bodies a year injected into the belt (none ever deorbited), operators throttle back as the risk rises: the median run stops launching by year ~26, and launches taper to almost nothing by year ~46. Yet the belt's ≥10 cm population still grows ×2.8 from year 26 on. Abandoning a band doesn't save it once the cascade runs.</a:t>
            </a:r>
            <a:r>
              <a:rPr lang="en-US" sz="1550" i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50" dirty="0"/>
          </a:p>
        </p:txBody>
      </p:sp>
      <p:pic>
        <p:nvPicPr>
          <p:cNvPr id="13" name="Picture 12" descr="deck_responsiv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848" y="1691640"/>
            <a:ext cx="10058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DRIVER · THE EXTREME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would actually take to break LEO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484846"/>
            <a:ext cx="5727965" cy="2976430"/>
          </a:xfrm>
          <a:prstGeom prst="roundRect">
            <a:avLst>
              <a:gd name="adj" fmla="val 3307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32933" y="1676400"/>
            <a:ext cx="545287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Objects ≥10 cm in the 700–1,100 km belt, 50 years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78890" y="1642802"/>
            <a:ext cx="4597136" cy="875837"/>
          </a:xfrm>
          <a:prstGeom prst="roundRect">
            <a:avLst>
              <a:gd name="adj" fmla="val 9788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9"/>
          <p:cNvSpPr/>
          <p:nvPr/>
        </p:nvSpPr>
        <p:spPr>
          <a:xfrm>
            <a:off x="6970448" y="1808956"/>
            <a:ext cx="434043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~280 / yr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70448" y="2139156"/>
            <a:ext cx="4340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catastrophic collisions by year 50, incl. 1–10 cm impactors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78890" y="2626593"/>
            <a:ext cx="4597136" cy="875837"/>
          </a:xfrm>
          <a:prstGeom prst="roundRect">
            <a:avLst>
              <a:gd name="adj" fmla="val 9788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2"/>
          <p:cNvSpPr/>
          <p:nvPr/>
        </p:nvSpPr>
        <p:spPr>
          <a:xfrm>
            <a:off x="6970448" y="2792747"/>
            <a:ext cx="434043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×60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70448" y="3122947"/>
            <a:ext cx="4340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growth in objects ≥10 cm (8k → 479k)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78890" y="3610372"/>
            <a:ext cx="4597136" cy="692944"/>
          </a:xfrm>
          <a:prstGeom prst="roundRect">
            <a:avLst>
              <a:gd name="adj" fmla="val 12371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6970448" y="3751138"/>
            <a:ext cx="4340439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Trigger: ~425 satellites + 75 rocket bodies injected a year for 50 years, never deorbited. No ASAT.</a:t>
            </a:r>
            <a:r>
              <a:rPr lang="en-US" sz="12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2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4654947"/>
            <a:ext cx="108833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takes mass and catastrophic energy — large objects, not nails. One ASAT strike on a 1 t satellite makes ~50,000 fragments ≥1 cm; the extreme is 500 satellites and rocket bodies a year piling into a band that already grows on its own. A nail has neither the mass nor the energy.</a:t>
            </a:r>
            <a:r>
              <a:rPr lang="en-US" sz="14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00" i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Adding a barrel on top changes the belt by under 0.1%. The collision count includes 1–10 cm fragments shattering small objects, which NASA's LEGEND model leaves out: it counts ≥10 cm objects only.</a:t>
            </a:r>
            <a:endParaRPr lang="en-US" sz="1400" dirty="0"/>
          </a:p>
        </p:txBody>
      </p:sp>
      <p:pic>
        <p:nvPicPr>
          <p:cNvPr id="20" name="Picture 19" descr="deck_extrem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271" y="1984248"/>
            <a:ext cx="528523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694944"/>
            <a:ext cx="1088136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spc="250">
                <a:solidFill>
                  <a:srgbClr val="4DA6FF"/>
                </a:solidFill>
                <a:latin typeface="IBM Plex Mono"/>
              </a:rPr>
              <a:t>THE DRIVER · ORBIT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78408"/>
            <a:ext cx="1088136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900" b="1">
                <a:solidFill>
                  <a:srgbClr val="E7EEF8"/>
                </a:solidFill>
                <a:latin typeface="IBM Plex Sans"/>
              </a:rPr>
              <a:t>500 satellites and rocket bodies a year fill the belt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5989320"/>
            <a:ext cx="10570464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FB2CC"/>
                </a:solidFill>
                <a:latin typeface="IBM Plex Sans"/>
              </a:rPr>
              <a:t>Injecting 500 satellites and rocket bodies a year into the 700–1,100 km belt, none ever deorbited, multiplies its ≥10 cm population ~60× in 50 years — from sparse (left) to a near-opaque hazard band (right). Illustrative; densities not to scale.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68195" y="1572768"/>
            <a:ext cx="4297680" cy="4297680"/>
          </a:xfrm>
          <a:prstGeom prst="rect">
            <a:avLst/>
          </a:prstGeom>
        </p:spPr>
      </p:pic>
      <p:pic>
        <p:nvPicPr>
          <p:cNvPr id="18" name="Picture 17" descr="extreme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3076" y="15727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FF8C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ADDED ELEMENT · A LOW BREAKUP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39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4"/>
              </a:lnSpc>
              <a:buNone/>
            </a:pPr>
            <a:r>
              <a:rPr lang="en-US" sz="28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down, even a big breakup clears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59049"/>
            <a:ext cx="5716125" cy="2815167"/>
          </a:xfrm>
          <a:prstGeom prst="roundRect">
            <a:avLst>
              <a:gd name="adj" fmla="val 3496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20233" y="1637903"/>
            <a:ext cx="54668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 collision risk at 475 km after a 2.2 t breakup (like Cosmos-1408)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7050" y="1549078"/>
            <a:ext cx="4608976" cy="863137"/>
          </a:xfrm>
          <a:prstGeom prst="roundRect">
            <a:avLst>
              <a:gd name="adj" fmla="val 9932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2"/>
          <p:cNvSpPr/>
          <p:nvPr/>
        </p:nvSpPr>
        <p:spPr>
          <a:xfrm>
            <a:off x="6958608" y="1715232"/>
            <a:ext cx="43526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+16%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958608" y="2032732"/>
            <a:ext cx="435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collision risk at the peak — not a no-go zone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7050" y="2520156"/>
            <a:ext cx="4608976" cy="863137"/>
          </a:xfrm>
          <a:prstGeom prst="roundRect">
            <a:avLst>
              <a:gd name="adj" fmla="val 9932"/>
            </a:avLst>
          </a:prstGeom>
          <a:solidFill>
            <a:srgbClr val="0A1614"/>
          </a:solidFill>
          <a:ln w="6350">
            <a:solidFill>
              <a:srgbClr val="235A3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6958608" y="2686323"/>
            <a:ext cx="43526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 yr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6958608" y="3003823"/>
            <a:ext cx="435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drag to sweep it clean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7050" y="3491247"/>
            <a:ext cx="4608976" cy="692944"/>
          </a:xfrm>
          <a:prstGeom prst="roundRect">
            <a:avLst>
              <a:gd name="adj" fmla="val 1237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6958608" y="3632002"/>
            <a:ext cx="4352635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Trigger:</a:t>
            </a:r>
            <a:r>
              <a:rPr lang="en-US" sz="12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large low-altitude fragmentation — an ASAT strike or a big collision.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445519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debris at </a:t>
            </a:r>
            <a:r>
              <a:rPr lang="en-US" sz="14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900 km would linger for centuries.</a:t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Low LEO forgives — the high belt does not.</a:t>
            </a:r>
            <a:endParaRPr lang="en-US" sz="1400" dirty="0"/>
          </a:p>
        </p:txBody>
      </p:sp>
      <p:pic>
        <p:nvPicPr>
          <p:cNvPr id="23" name="Picture 22" descr="deck_lowev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1938528"/>
            <a:ext cx="5294376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CONGESTION &amp; MEGA-CONSTELLATIONS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present burden, a future hazard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484846"/>
            <a:ext cx="5162550" cy="2582730"/>
          </a:xfrm>
          <a:prstGeom prst="roundRect">
            <a:avLst>
              <a:gd name="adj" fmla="val 381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32933" y="1701800"/>
            <a:ext cx="487049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— operational</a:t>
            </a:r>
            <a:endParaRPr lang="en-US" sz="1600" dirty="0"/>
          </a:p>
        </p:txBody>
      </p:sp>
      <p:pic>
        <p:nvPicPr>
          <p:cNvPr id="6" name="Image 0" descr="Rising collision-avoidance maneuver count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933" y="2047218"/>
            <a:ext cx="1905000" cy="82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2933" y="2974318"/>
            <a:ext cx="48704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~16,800 active satellites (11,100 of them Starlink). Starlink alone made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~207,000 collision-avoidance manoeuvres</a:t>
            </a: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six months (Dec 2025 – May 2026) — and there is still no international traffic-management authority.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3475" y="1484846"/>
            <a:ext cx="5162550" cy="2582730"/>
          </a:xfrm>
          <a:prstGeom prst="roundRect">
            <a:avLst>
              <a:gd name="adj" fmla="val 381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6"/>
          <p:cNvSpPr/>
          <p:nvPr/>
        </p:nvSpPr>
        <p:spPr>
          <a:xfrm>
            <a:off x="6430433" y="1701800"/>
            <a:ext cx="487049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Ahead — systemic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30433" y="2047218"/>
            <a:ext cx="48704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1,000,000+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30433" y="2479018"/>
            <a:ext cx="4870492" cy="6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satellites filed with regulators — SpaceX up to 1M, China ~200k, mostly on paper. The Kessler risk =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 × altitude × disposal compliance</a:t>
            </a: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5975" y="4264422"/>
            <a:ext cx="10560050" cy="830130"/>
          </a:xfrm>
          <a:prstGeom prst="roundRect">
            <a:avLst>
              <a:gd name="adj" fmla="val 10327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0"/>
          <p:cNvSpPr/>
          <p:nvPr/>
        </p:nvSpPr>
        <p:spPr>
          <a:xfrm>
            <a:off x="1032933" y="4430588"/>
            <a:ext cx="1042991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split as everything else: at </a:t>
            </a:r>
            <a:r>
              <a:rPr lang="en-US" sz="14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550 km</a:t>
            </a:r>
            <a:r>
              <a:rPr lang="en-US" sz="14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giant fleets self-clean — a burden. At </a:t>
            </a:r>
            <a:r>
              <a:rPr lang="en-US" sz="14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1,000–1,200 km</a:t>
            </a:r>
            <a:r>
              <a:rPr lang="en-US" sz="14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mass persists for centuries — the real systemic hazard.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LEVER · WORKING SATELLITES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Satellites that deorbit: ×60 becomes ×4.8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9D98A"/>
                </a:solidFill>
                <a:latin typeface="IBM Plex Sans"/>
              </a:rPr>
              <a:t>Today's practice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most satellites deorbited, most conjunctions dodged.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Same traffic as the extreme case, but each satellite works for 5 years, holding its orbit and dodging tracked (≥10 cm) objects, and is then deorbited. Today's practice: 90% of satellites deorbited (the NASA/FCC/IADC benchmark; SpaceX reports over 99%), 80% of rocket bodies (ESA 2025), 90% of conjunctions avoided by the 89% that can manoeuvre (McDowell 2026). Nothing dodges 1–10 cm debris, and a hit there leaves a dead satellite. What remains comes mostly from failed disposals: at 500 a year, disposal alone gives ×5.3, avoidance alone ×54. Cube engine, 16 seeds (×3.5–×6.1); box model ×4.1.</a:t>
            </a:r>
          </a:p>
        </p:txBody>
      </p:sp>
      <p:pic>
        <p:nvPicPr>
          <p:cNvPr id="17" name="Picture 16" descr="deck_work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REMEDY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~9 large dead objects a year and the belt holds flat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9D98A"/>
                </a:solidFill>
                <a:latin typeface="IBM Plex Sans"/>
              </a:rPr>
              <a:t>Remedy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remove the riskiest large dead objects, and make old stages safe.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Taking out the riskiest large objects each year — the heaviest, in the densest shells (NASA LEGEND's criterion) — bends the belt: ~9 a year holds its ≥10 cm population flat with nothing added. If old stages are also made safe so they can't explode, the belt stays flat without any removals (×1.00 in 50 years; LEGEND: ~5 removals a year). With 50 satellites and rocket bodies a year injected (never deorbited) it takes ~57. Cube engine, 16 seeds; cross-check at 10/yr: box ×0.99, discrete ×1.07. The belt isn't doomed; it's a maintenance problem.</a:t>
            </a:r>
          </a:p>
        </p:txBody>
      </p:sp>
      <p:pic>
        <p:nvPicPr>
          <p:cNvPr id="17" name="Picture 16" descr="deck_remov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2A4A"/>
              </a:gs>
              <a:gs pos="60000">
                <a:srgbClr val="08182B"/>
              </a:gs>
              <a:gs pos="100000">
                <a:srgbClr val="06080E"/>
              </a:gs>
            </a:gsLst>
            <a:lin ang="2700000" scaled="0"/>
          </a:gra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12800" y="1606686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30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117204"/>
            <a:ext cx="10464800" cy="2204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Low-Earth orbit stays usable </a:t>
            </a:r>
            <a:r>
              <a:rPr lang="en-US" sz="39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what goes up comes down.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812800" y="4300000"/>
            <a:ext cx="104648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 b="1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decides it: </a:t>
            </a:r>
            <a:r>
              <a:rPr lang="en-US" sz="19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mass left in the 700–1,100 km belt without disposal. Deorbit 90% of satellites at end of life and even 500 a year grows the belt ×4.8, not ×60; remove about nine large dead objects a year and it holds flat.</a:t>
            </a:r>
            <a:endParaRPr lang="en-US" sz="1900" dirty="0"/>
          </a:p>
          <a:p>
            <a:pPr marL="0" indent="0" algn="l">
              <a:lnSpc>
                <a:spcPts val="2660"/>
              </a:lnSpc>
              <a:spcBef>
                <a:spcPts val="1200"/>
              </a:spcBef>
              <a:buNone/>
            </a:pPr>
            <a:r>
              <a:rPr lang="en-US" sz="1900" dirty="0" b="1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Added elements: </a:t>
            </a:r>
            <a:r>
              <a:rPr lang="en-US" sz="19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missile strike adds ~360 objects ≥10 cm; a barrel of nails kills satellites, but even 1,000 barrels add only ~2,500 (+25%).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HONEST ABOUT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model can and can't say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99481"/>
            <a:ext cx="3380317" cy="2389584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033" y="1854535"/>
            <a:ext cx="292100" cy="292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033" y="224823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engines agree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1033" y="2578435"/>
            <a:ext cx="2956306" cy="118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nothing added, the belt's ≥10 cm population grows in all three: cube ×1.09 (16 seeds), box ×1.21, discrete ×1.21. Single cube runs span ×0.86–×1.40.</a:t>
            </a:r>
            <a:r>
              <a:rPr lang="en-US" sz="12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842" y="1599481"/>
            <a:ext cx="3380317" cy="2389584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9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0900" y="1854535"/>
            <a:ext cx="292100" cy="292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0900" y="224823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uncertainties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0900" y="2578435"/>
            <a:ext cx="2956306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Disposal reliability sets the traffic outcome: at 500 a year, ×1.32 to ×17. Explosions set the no-launch baseline, ×1.00 to ×1.58. Cratering changes 1–10 cm results 2–3×, not the ≥10 cm belt.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709" y="1599481"/>
            <a:ext cx="3380317" cy="2389584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3" name="Image 2" descr="Verifie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0767" y="1854535"/>
            <a:ext cx="292100" cy="2921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0767" y="224823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modelled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50767" y="2578435"/>
            <a:ext cx="2956306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Degradation debris. The solar cycle (tested in the 2006 benchmark, not in the headline runs). Satellites dodge and deorbit only in the working-satellite case; elsewhere added objects stay dead.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6460000"/>
            <a:ext cx="69695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CelesTrak</a:t>
            </a:r>
            <a:r>
              <a:rPr lang="en-US" sz="120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+ Space-Track · NASA breakup model · RTX 5090 / CUDA</a:t>
            </a:r>
            <a:endParaRPr lang="en-US" sz="1200" dirty="0"/>
          </a:p>
        </p:txBody>
      </p:sp>
      <p:sp>
        <p:nvSpPr>
          <p:cNvPr id="17" name="Shape 2"/>
          <p:cNvSpPr/>
          <p:nvPr/>
        </p:nvSpPr>
        <p:spPr>
          <a:xfrm>
            <a:off x="815975" y="4217665"/>
            <a:ext cx="10560051" cy="1990000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3"/>
          <p:cNvSpPr/>
          <p:nvPr/>
        </p:nvSpPr>
        <p:spPr>
          <a:xfrm>
            <a:off x="1071033" y="4408165"/>
            <a:ext cx="62580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Checked against NASA: the 2006 benchmark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1071033" y="4738365"/>
            <a:ext cx="6258006" cy="135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NASA's LEGEND study (Liou &amp; Johnson 2006), rerun from the same 1 Jan 2006 catalog: no launches or explosions, 200 years, ≥10 cm objects only. LEGEND: 10.8 catastrophic collisions, ~60% at 900–1,000 km, LEO flat for ~50 years. Cube engine: 12.8 (7–18 over 16 seeds), ~46% there, +13% at 50 years; box model 9.9 and +15%. Removals: ~9 large objects a year hold the belt flat; with explosions prevented it stays flat on its own (LEGEND: ~5).</a:t>
            </a:r>
            <a:endParaRPr lang="en-US" sz="1300" dirty="0"/>
          </a:p>
        </p:txBody>
      </p:sp>
      <p:pic>
        <p:nvPicPr>
          <p:cNvPr id="20" name="Picture 19" descr="deck_bench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639" y="4382257"/>
            <a:ext cx="3653795" cy="16608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 &amp;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73720"/>
            <a:ext cx="10883392" cy="37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7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Data, models, and literature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2800" y="1388542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2800" y="1657747"/>
            <a:ext cx="54416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Space-Track.org — full on-orbit GP catalog &amp; SATCAT (RCS)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CelesTrak — GP / TLE catalog &amp; SATCAT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1388542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&amp; methods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0" y="1657747"/>
            <a:ext cx="544169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Standard Breakup Model — Johnson et al. (2001), </a:t>
            </a:r>
            <a:r>
              <a:rPr lang="en-US" sz="1200" i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Adv. Space Res.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Cube method / LEGEND — Liou (2003)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WGS-72 / J2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Krisko (2011), NASA ODQN 15(4) — implementing the breakup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97708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Foundational literature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2766925"/>
            <a:ext cx="51000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Kessler &amp; Cour-Palais (1978), J. Geophys. Res. — the debris belt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Liou &amp; Johnson (2006), Science — growth without launches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Liou, Johnson &amp; Hill (2010), Acta Astronautica — active removal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Liou (2011), Adv. Space Res. — removing ~5 objects a year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IADC comparison study (2013) — stability of future LEO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0" y="2727708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8C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 &amp; policy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6000" y="2996925"/>
            <a:ext cx="544169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Fengyun-1C (2007), Cosmos–Iridium (2009), Cosmos-1408 (2021)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Outer Space Treaty (1967)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 Space Debris Mitigation Guidelines (2007)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PAROS / PPWT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McDowell, Jonathan's Space Report (active satellites, Sep 2026)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Pultarova, Space.com (Jul 2026) — Starlink manoeuvres, from SpaceX's FCC filing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068095"/>
            <a:ext cx="10959605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Charts are DebrisCascade model outputs on the live Space-Track catalog; orbit visualizations are illustrative. Values are order-of-magnitude estimates from a stylised model — not operational predictions.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2213</Words>
  <Application>Microsoft Office PowerPoint</Application>
  <PresentationFormat>Widescreen</PresentationFormat>
  <Paragraphs>291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Consolas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Debris Cascades in Low-Earth Orbit</dc:title>
  <dc:subject>Orbital debris study: can a barrel of nails trigger Kessler syndrome?</dc:subject>
  <dc:creator>TK</dc:creator>
  <cp:lastModifiedBy>- -</cp:lastModifiedBy>
  <cp:revision>4</cp:revision>
  <dcterms:created xsi:type="dcterms:W3CDTF">2026-09-24T11:52:29Z</dcterms:created>
  <dcterms:modified xsi:type="dcterms:W3CDTF">2026-09-24T12:28:06Z</dcterms:modified>
</cp:coreProperties>
</file>